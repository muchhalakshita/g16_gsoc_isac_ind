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9D70BC-C174-423C-9DCD-6DB6E39AC047}" type="datetimeFigureOut">
              <a:rPr lang="en-IN" smtClean="0"/>
              <a:t>11-10-2026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2A4495E-CD7E-4788-8416-BFDA64DD8EBE}" type="slidenum">
              <a:rPr lang="en-IN" smtClean="0"/>
              <a:t>‹#›</a:t>
            </a:fld>
            <a:endParaRPr lang="en-IN"/>
          </a:p>
        </p:txBody>
      </p:sp>
    </p:spTree>
    <p:extLst>
      <p:ext uri="{BB962C8B-B14F-4D97-AF65-F5344CB8AC3E}">
        <p14:creationId xmlns:p14="http://schemas.microsoft.com/office/powerpoint/2010/main" val="34386856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Open with who I am and what this report covers. M2 is about the open-source contribution: what I changed in GNU Radio Companion, why it matters, how I tested it, and where the pull request stands.</a:t>
            </a:r>
            <a:endParaRPr lang="en-IN"/>
          </a:p>
        </p:txBody>
      </p:sp>
      <p:sp>
        <p:nvSpPr>
          <p:cNvPr id="4" name="Slide Number Placeholder 3"/>
          <p:cNvSpPr>
            <a:spLocks noGrp="1"/>
          </p:cNvSpPr>
          <p:nvPr>
            <p:ph type="sldNum" sz="quarter" idx="5"/>
          </p:nvPr>
        </p:nvSpPr>
        <p:spPr/>
        <p:txBody>
          <a:bodyPr/>
          <a:lstStyle/>
          <a:p>
            <a:fld id="{B2A4495E-CD7E-4788-8416-BFDA64DD8EBE}" type="slidenum">
              <a:rPr lang="en-IN" smtClean="0"/>
              <a:t>1</a:t>
            </a:fld>
            <a:endParaRPr lang="en-IN"/>
          </a:p>
        </p:txBody>
      </p:sp>
    </p:spTree>
    <p:extLst>
      <p:ext uri="{BB962C8B-B14F-4D97-AF65-F5344CB8AC3E}">
        <p14:creationId xmlns:p14="http://schemas.microsoft.com/office/powerpoint/2010/main" val="21792058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M1 I planned to pick a scoped contribution and start talking to maintainers. The contribution I picked is a block modification, which is one of the three types I listed in M1. It is submitted as pull request 8233 and closes issue 5096.</a:t>
            </a:r>
            <a:endParaRPr lang="en-IN"/>
          </a:p>
        </p:txBody>
      </p:sp>
      <p:sp>
        <p:nvSpPr>
          <p:cNvPr id="4" name="Slide Number Placeholder 3"/>
          <p:cNvSpPr>
            <a:spLocks noGrp="1"/>
          </p:cNvSpPr>
          <p:nvPr>
            <p:ph type="sldNum" sz="quarter" idx="5"/>
          </p:nvPr>
        </p:nvSpPr>
        <p:spPr/>
        <p:txBody>
          <a:bodyPr/>
          <a:lstStyle/>
          <a:p>
            <a:fld id="{B2A4495E-CD7E-4788-8416-BFDA64DD8EBE}" type="slidenum">
              <a:rPr lang="en-IN" smtClean="0"/>
              <a:t>2</a:t>
            </a:fld>
            <a:endParaRPr lang="en-IN"/>
          </a:p>
        </p:txBody>
      </p:sp>
    </p:spTree>
    <p:extLst>
      <p:ext uri="{BB962C8B-B14F-4D97-AF65-F5344CB8AC3E}">
        <p14:creationId xmlns:p14="http://schemas.microsoft.com/office/powerpoint/2010/main" val="42072940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Parameter block turns into a command-line argument in the generated Python script. Before this change the generated argument always carried the configured default, so the user could never be forced to give a value. The new setting lets the flowgraph author choose.</a:t>
            </a:r>
            <a:endParaRPr lang="en-IN"/>
          </a:p>
        </p:txBody>
      </p:sp>
      <p:sp>
        <p:nvSpPr>
          <p:cNvPr id="4" name="Slide Number Placeholder 3"/>
          <p:cNvSpPr>
            <a:spLocks noGrp="1"/>
          </p:cNvSpPr>
          <p:nvPr>
            <p:ph type="sldNum" sz="quarter" idx="5"/>
          </p:nvPr>
        </p:nvSpPr>
        <p:spPr/>
        <p:txBody>
          <a:bodyPr/>
          <a:lstStyle/>
          <a:p>
            <a:fld id="{B2A4495E-CD7E-4788-8416-BFDA64DD8EBE}" type="slidenum">
              <a:rPr lang="en-IN" smtClean="0"/>
              <a:t>3</a:t>
            </a:fld>
            <a:endParaRPr lang="en-IN"/>
          </a:p>
        </p:txBody>
      </p:sp>
    </p:spTree>
    <p:extLst>
      <p:ext uri="{BB962C8B-B14F-4D97-AF65-F5344CB8AC3E}">
        <p14:creationId xmlns:p14="http://schemas.microsoft.com/office/powerpoint/2010/main" val="34312474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Adding a field to the YAML is not enough, because the YAML only describes the properties dialog. The Mako templates decide what Python code is written. That is why the change touches the block definition and three workflow templates.</a:t>
            </a:r>
            <a:endParaRPr lang="en-IN"/>
          </a:p>
        </p:txBody>
      </p:sp>
      <p:sp>
        <p:nvSpPr>
          <p:cNvPr id="4" name="Slide Number Placeholder 3"/>
          <p:cNvSpPr>
            <a:spLocks noGrp="1"/>
          </p:cNvSpPr>
          <p:nvPr>
            <p:ph type="sldNum" sz="quarter" idx="5"/>
          </p:nvPr>
        </p:nvSpPr>
        <p:spPr/>
        <p:txBody>
          <a:bodyPr/>
          <a:lstStyle/>
          <a:p>
            <a:fld id="{B2A4495E-CD7E-4788-8416-BFDA64DD8EBE}" type="slidenum">
              <a:rPr lang="en-IN" smtClean="0"/>
              <a:t>4</a:t>
            </a:fld>
            <a:endParaRPr lang="en-IN"/>
          </a:p>
        </p:txBody>
      </p:sp>
    </p:spTree>
    <p:extLst>
      <p:ext uri="{BB962C8B-B14F-4D97-AF65-F5344CB8AC3E}">
        <p14:creationId xmlns:p14="http://schemas.microsoft.com/office/powerpoint/2010/main" val="14255516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new field in parameter.block.yml, placed right after the existing value parameter. dtype bool, default False, and two option labels so the dialog shows Optional or Required. The documentation section was extended to explain the setting.</a:t>
            </a:r>
            <a:endParaRPr lang="en-IN"/>
          </a:p>
        </p:txBody>
      </p:sp>
      <p:sp>
        <p:nvSpPr>
          <p:cNvPr id="4" name="Slide Number Placeholder 3"/>
          <p:cNvSpPr>
            <a:spLocks noGrp="1"/>
          </p:cNvSpPr>
          <p:nvPr>
            <p:ph type="sldNum" sz="quarter" idx="5"/>
          </p:nvPr>
        </p:nvSpPr>
        <p:spPr/>
        <p:txBody>
          <a:bodyPr/>
          <a:lstStyle/>
          <a:p>
            <a:fld id="{B2A4495E-CD7E-4788-8416-BFDA64DD8EBE}" type="slidenum">
              <a:rPr lang="en-IN" smtClean="0"/>
              <a:t>5</a:t>
            </a:fld>
            <a:endParaRPr lang="en-IN"/>
          </a:p>
        </p:txBody>
      </p:sp>
    </p:spTree>
    <p:extLst>
      <p:ext uri="{BB962C8B-B14F-4D97-AF65-F5344CB8AC3E}">
        <p14:creationId xmlns:p14="http://schemas.microsoft.com/office/powerpoint/2010/main" val="16506519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template reads the new field with get_value. If it equals the string True, it writes an add_argument call with required=True and no default. Otherwise it writes the same call as before, with the default and the default shown in the help text.</a:t>
            </a:r>
            <a:endParaRPr lang="en-IN"/>
          </a:p>
        </p:txBody>
      </p:sp>
      <p:sp>
        <p:nvSpPr>
          <p:cNvPr id="4" name="Slide Number Placeholder 3"/>
          <p:cNvSpPr>
            <a:spLocks noGrp="1"/>
          </p:cNvSpPr>
          <p:nvPr>
            <p:ph type="sldNum" sz="quarter" idx="5"/>
          </p:nvPr>
        </p:nvSpPr>
        <p:spPr/>
        <p:txBody>
          <a:bodyPr/>
          <a:lstStyle/>
          <a:p>
            <a:fld id="{B2A4495E-CD7E-4788-8416-BFDA64DD8EBE}" type="slidenum">
              <a:rPr lang="en-IN" smtClean="0"/>
              <a:t>6</a:t>
            </a:fld>
            <a:endParaRPr lang="en-IN"/>
          </a:p>
        </p:txBody>
      </p:sp>
    </p:spTree>
    <p:extLst>
      <p:ext uri="{BB962C8B-B14F-4D97-AF65-F5344CB8AC3E}">
        <p14:creationId xmlns:p14="http://schemas.microsoft.com/office/powerpoint/2010/main" val="8985082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Four files, 30 insertions, no deletions. The no-GUI template was generated and run. The Qt and Bokeh templates carry the same branch logic, but I have not generated and run them yet. I am saying that plainly so nobody reads this as full coverage.</a:t>
            </a:r>
            <a:endParaRPr lang="en-IN"/>
          </a:p>
        </p:txBody>
      </p:sp>
      <p:sp>
        <p:nvSpPr>
          <p:cNvPr id="4" name="Slide Number Placeholder 3"/>
          <p:cNvSpPr>
            <a:spLocks noGrp="1"/>
          </p:cNvSpPr>
          <p:nvPr>
            <p:ph type="sldNum" sz="quarter" idx="5"/>
          </p:nvPr>
        </p:nvSpPr>
        <p:spPr/>
        <p:txBody>
          <a:bodyPr/>
          <a:lstStyle/>
          <a:p>
            <a:fld id="{B2A4495E-CD7E-4788-8416-BFDA64DD8EBE}" type="slidenum">
              <a:rPr lang="en-IN" smtClean="0"/>
              <a:t>7</a:t>
            </a:fld>
            <a:endParaRPr lang="en-IN"/>
          </a:p>
        </p:txBody>
      </p:sp>
    </p:spTree>
    <p:extLst>
      <p:ext uri="{BB962C8B-B14F-4D97-AF65-F5344CB8AC3E}">
        <p14:creationId xmlns:p14="http://schemas.microsoft.com/office/powerpoint/2010/main" val="16280369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 built a temporary flowgraph with two integer parameters, one required and one optional, so each behaviour could be checked on its own. It was generated from the source-tree workflow and blocks, not the installed GNU Radio 3.10.12.0.</a:t>
            </a:r>
            <a:endParaRPr lang="en-IN"/>
          </a:p>
        </p:txBody>
      </p:sp>
      <p:sp>
        <p:nvSpPr>
          <p:cNvPr id="4" name="Slide Number Placeholder 3"/>
          <p:cNvSpPr>
            <a:spLocks noGrp="1"/>
          </p:cNvSpPr>
          <p:nvPr>
            <p:ph type="sldNum" sz="quarter" idx="5"/>
          </p:nvPr>
        </p:nvSpPr>
        <p:spPr/>
        <p:txBody>
          <a:bodyPr/>
          <a:lstStyle/>
          <a:p>
            <a:fld id="{B2A4495E-CD7E-4788-8416-BFDA64DD8EBE}" type="slidenum">
              <a:rPr lang="en-IN" smtClean="0"/>
              <a:t>8</a:t>
            </a:fld>
            <a:endParaRPr lang="en-IN"/>
          </a:p>
        </p:txBody>
      </p:sp>
    </p:spTree>
    <p:extLst>
      <p:ext uri="{BB962C8B-B14F-4D97-AF65-F5344CB8AC3E}">
        <p14:creationId xmlns:p14="http://schemas.microsoft.com/office/powerpoint/2010/main" val="31260985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generated script has required=True for required_count and default=20 for optional_count. Run without the argument, argparse stops with exit code 2. Run with it, the script gets past parsing and reaches the Press Enter prompt.</a:t>
            </a:r>
            <a:endParaRPr lang="en-IN"/>
          </a:p>
        </p:txBody>
      </p:sp>
      <p:sp>
        <p:nvSpPr>
          <p:cNvPr id="4" name="Slide Number Placeholder 3"/>
          <p:cNvSpPr>
            <a:spLocks noGrp="1"/>
          </p:cNvSpPr>
          <p:nvPr>
            <p:ph type="sldNum" sz="quarter" idx="5"/>
          </p:nvPr>
        </p:nvSpPr>
        <p:spPr/>
        <p:txBody>
          <a:bodyPr/>
          <a:lstStyle/>
          <a:p>
            <a:fld id="{B2A4495E-CD7E-4788-8416-BFDA64DD8EBE}" type="slidenum">
              <a:rPr lang="en-IN" smtClean="0"/>
              <a:t>9</a:t>
            </a:fld>
            <a:endParaRPr lang="en-IN"/>
          </a:p>
        </p:txBody>
      </p:sp>
    </p:spTree>
    <p:extLst>
      <p:ext uri="{BB962C8B-B14F-4D97-AF65-F5344CB8AC3E}">
        <p14:creationId xmlns:p14="http://schemas.microsoft.com/office/powerpoint/2010/main" val="3846338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Everything I ran passed. Two things did not run: the Qt and Bokeh output, and the full test suite, because pytest was not installed in the environment. These are targeted functional checks, not a replacement for the project test suite.</a:t>
            </a:r>
            <a:endParaRPr lang="en-IN"/>
          </a:p>
        </p:txBody>
      </p:sp>
      <p:sp>
        <p:nvSpPr>
          <p:cNvPr id="4" name="Slide Number Placeholder 3"/>
          <p:cNvSpPr>
            <a:spLocks noGrp="1"/>
          </p:cNvSpPr>
          <p:nvPr>
            <p:ph type="sldNum" sz="quarter" idx="5"/>
          </p:nvPr>
        </p:nvSpPr>
        <p:spPr/>
        <p:txBody>
          <a:bodyPr/>
          <a:lstStyle/>
          <a:p>
            <a:fld id="{B2A4495E-CD7E-4788-8416-BFDA64DD8EBE}" type="slidenum">
              <a:rPr lang="en-IN" smtClean="0"/>
              <a:t>10</a:t>
            </a:fld>
            <a:endParaRPr lang="en-IN"/>
          </a:p>
        </p:txBody>
      </p:sp>
    </p:spTree>
    <p:extLst>
      <p:ext uri="{BB962C8B-B14F-4D97-AF65-F5344CB8AC3E}">
        <p14:creationId xmlns:p14="http://schemas.microsoft.com/office/powerpoint/2010/main" val="19603164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 read import_data in block.py. Saved keys that the current block definition does not know are skipped, so an old file without the required key keeps the default False. This comes from reading the code. I did not run a regression test that loads an old flowgraph.</a:t>
            </a:r>
            <a:endParaRPr lang="en-IN"/>
          </a:p>
        </p:txBody>
      </p:sp>
      <p:sp>
        <p:nvSpPr>
          <p:cNvPr id="4" name="Slide Number Placeholder 3"/>
          <p:cNvSpPr>
            <a:spLocks noGrp="1"/>
          </p:cNvSpPr>
          <p:nvPr>
            <p:ph type="sldNum" sz="quarter" idx="5"/>
          </p:nvPr>
        </p:nvSpPr>
        <p:spPr/>
        <p:txBody>
          <a:bodyPr/>
          <a:lstStyle/>
          <a:p>
            <a:fld id="{B2A4495E-CD7E-4788-8416-BFDA64DD8EBE}" type="slidenum">
              <a:rPr lang="en-IN" smtClean="0"/>
              <a:t>11</a:t>
            </a:fld>
            <a:endParaRPr lang="en-IN"/>
          </a:p>
        </p:txBody>
      </p:sp>
    </p:spTree>
    <p:extLst>
      <p:ext uri="{BB962C8B-B14F-4D97-AF65-F5344CB8AC3E}">
        <p14:creationId xmlns:p14="http://schemas.microsoft.com/office/powerpoint/2010/main" val="20403022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workflow matters as much as the code in a project like GNU Radio. Feature branch, a commit, a DCO sign-off by amending the commit, a push to my fork, and a pull request against upstream that references issue 5096.</a:t>
            </a:r>
            <a:endParaRPr lang="en-IN"/>
          </a:p>
        </p:txBody>
      </p:sp>
      <p:sp>
        <p:nvSpPr>
          <p:cNvPr id="4" name="Slide Number Placeholder 3"/>
          <p:cNvSpPr>
            <a:spLocks noGrp="1"/>
          </p:cNvSpPr>
          <p:nvPr>
            <p:ph type="sldNum" sz="quarter" idx="5"/>
          </p:nvPr>
        </p:nvSpPr>
        <p:spPr/>
        <p:txBody>
          <a:bodyPr/>
          <a:lstStyle/>
          <a:p>
            <a:fld id="{B2A4495E-CD7E-4788-8416-BFDA64DD8EBE}" type="slidenum">
              <a:rPr lang="en-IN" smtClean="0"/>
              <a:t>12</a:t>
            </a:fld>
            <a:endParaRPr lang="en-IN"/>
          </a:p>
        </p:txBody>
      </p:sp>
    </p:spTree>
    <p:extLst>
      <p:ext uri="{BB962C8B-B14F-4D97-AF65-F5344CB8AC3E}">
        <p14:creationId xmlns:p14="http://schemas.microsoft.com/office/powerpoint/2010/main" val="6890741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Four practical problems. The first one is the most useful lesson: check that the code you are running is the code you edited.</a:t>
            </a:r>
            <a:endParaRPr lang="en-IN"/>
          </a:p>
        </p:txBody>
      </p:sp>
      <p:sp>
        <p:nvSpPr>
          <p:cNvPr id="4" name="Slide Number Placeholder 3"/>
          <p:cNvSpPr>
            <a:spLocks noGrp="1"/>
          </p:cNvSpPr>
          <p:nvPr>
            <p:ph type="sldNum" sz="quarter" idx="5"/>
          </p:nvPr>
        </p:nvSpPr>
        <p:spPr/>
        <p:txBody>
          <a:bodyPr/>
          <a:lstStyle/>
          <a:p>
            <a:fld id="{B2A4495E-CD7E-4788-8416-BFDA64DD8EBE}" type="slidenum">
              <a:rPr lang="en-IN" smtClean="0"/>
              <a:t>13</a:t>
            </a:fld>
            <a:endParaRPr lang="en-IN"/>
          </a:p>
        </p:txBody>
      </p:sp>
    </p:spTree>
    <p:extLst>
      <p:ext uri="{BB962C8B-B14F-4D97-AF65-F5344CB8AC3E}">
        <p14:creationId xmlns:p14="http://schemas.microsoft.com/office/powerpoint/2010/main" val="30561490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change is in code generation: the templates decide what Python gets written, so a UI field alone would do nothing. For community response, the PR is submitted. I have not yet checked reviewer comments, CI results or merge status, and I will update this slide after looking at the PR page.</a:t>
            </a:r>
            <a:endParaRPr lang="en-IN"/>
          </a:p>
        </p:txBody>
      </p:sp>
      <p:sp>
        <p:nvSpPr>
          <p:cNvPr id="4" name="Slide Number Placeholder 3"/>
          <p:cNvSpPr>
            <a:spLocks noGrp="1"/>
          </p:cNvSpPr>
          <p:nvPr>
            <p:ph type="sldNum" sz="quarter" idx="5"/>
          </p:nvPr>
        </p:nvSpPr>
        <p:spPr/>
        <p:txBody>
          <a:bodyPr/>
          <a:lstStyle/>
          <a:p>
            <a:fld id="{B2A4495E-CD7E-4788-8416-BFDA64DD8EBE}" type="slidenum">
              <a:rPr lang="en-IN" smtClean="0"/>
              <a:t>14</a:t>
            </a:fld>
            <a:endParaRPr lang="en-IN"/>
          </a:p>
        </p:txBody>
      </p:sp>
    </p:spTree>
    <p:extLst>
      <p:ext uri="{BB962C8B-B14F-4D97-AF65-F5344CB8AC3E}">
        <p14:creationId xmlns:p14="http://schemas.microsoft.com/office/powerpoint/2010/main" val="41636908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table is from my M1 report. The gap is joint evaluation of communication and radar performance on one shared sync and channel estimate in GNU Radio. The GRC change is not that contribution. It gave me the contribution workflow I will use in M3.</a:t>
            </a:r>
            <a:endParaRPr lang="en-IN"/>
          </a:p>
        </p:txBody>
      </p:sp>
      <p:sp>
        <p:nvSpPr>
          <p:cNvPr id="4" name="Slide Number Placeholder 3"/>
          <p:cNvSpPr>
            <a:spLocks noGrp="1"/>
          </p:cNvSpPr>
          <p:nvPr>
            <p:ph type="sldNum" sz="quarter" idx="5"/>
          </p:nvPr>
        </p:nvSpPr>
        <p:spPr/>
        <p:txBody>
          <a:bodyPr/>
          <a:lstStyle/>
          <a:p>
            <a:fld id="{B2A4495E-CD7E-4788-8416-BFDA64DD8EBE}" type="slidenum">
              <a:rPr lang="en-IN" smtClean="0"/>
              <a:t>15</a:t>
            </a:fld>
            <a:endParaRPr lang="en-IN"/>
          </a:p>
        </p:txBody>
      </p:sp>
    </p:spTree>
    <p:extLst>
      <p:ext uri="{BB962C8B-B14F-4D97-AF65-F5344CB8AC3E}">
        <p14:creationId xmlns:p14="http://schemas.microsoft.com/office/powerpoint/2010/main" val="1232409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Before M3 I finish the housekeeping on the existing pull request. Then M3 to M5 follow the plan from my M1 timeline: implement the ISAC contribution, evaluate it, and finalize.</a:t>
            </a:r>
            <a:endParaRPr lang="en-IN"/>
          </a:p>
        </p:txBody>
      </p:sp>
      <p:sp>
        <p:nvSpPr>
          <p:cNvPr id="4" name="Slide Number Placeholder 3"/>
          <p:cNvSpPr>
            <a:spLocks noGrp="1"/>
          </p:cNvSpPr>
          <p:nvPr>
            <p:ph type="sldNum" sz="quarter" idx="5"/>
          </p:nvPr>
        </p:nvSpPr>
        <p:spPr/>
        <p:txBody>
          <a:bodyPr/>
          <a:lstStyle/>
          <a:p>
            <a:fld id="{B2A4495E-CD7E-4788-8416-BFDA64DD8EBE}" type="slidenum">
              <a:rPr lang="en-IN" smtClean="0"/>
              <a:t>16</a:t>
            </a:fld>
            <a:endParaRPr lang="en-IN"/>
          </a:p>
        </p:txBody>
      </p:sp>
    </p:spTree>
    <p:extLst>
      <p:ext uri="{BB962C8B-B14F-4D97-AF65-F5344CB8AC3E}">
        <p14:creationId xmlns:p14="http://schemas.microsoft.com/office/powerpoint/2010/main" val="34014204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Close with the links. The pull request page is where the review status lives, so check it before recording the video.</a:t>
            </a:r>
            <a:endParaRPr lang="en-IN"/>
          </a:p>
        </p:txBody>
      </p:sp>
      <p:sp>
        <p:nvSpPr>
          <p:cNvPr id="4" name="Slide Number Placeholder 3"/>
          <p:cNvSpPr>
            <a:spLocks noGrp="1"/>
          </p:cNvSpPr>
          <p:nvPr>
            <p:ph type="sldNum" sz="quarter" idx="5"/>
          </p:nvPr>
        </p:nvSpPr>
        <p:spPr/>
        <p:txBody>
          <a:bodyPr/>
          <a:lstStyle/>
          <a:p>
            <a:fld id="{B2A4495E-CD7E-4788-8416-BFDA64DD8EBE}" type="slidenum">
              <a:rPr lang="en-IN" smtClean="0"/>
              <a:t>17</a:t>
            </a:fld>
            <a:endParaRPr lang="en-IN"/>
          </a:p>
        </p:txBody>
      </p:sp>
    </p:spTree>
    <p:extLst>
      <p:ext uri="{BB962C8B-B14F-4D97-AF65-F5344CB8AC3E}">
        <p14:creationId xmlns:p14="http://schemas.microsoft.com/office/powerpoint/2010/main" val="11223360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7BC20-1467-7D9E-B27E-A96C937EF1B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IN"/>
          </a:p>
        </p:txBody>
      </p:sp>
      <p:sp>
        <p:nvSpPr>
          <p:cNvPr id="3" name="Subtitle 2">
            <a:extLst>
              <a:ext uri="{FF2B5EF4-FFF2-40B4-BE49-F238E27FC236}">
                <a16:creationId xmlns:a16="http://schemas.microsoft.com/office/drawing/2014/main" id="{B32AD685-AC1B-5EB3-30CB-982D42165DF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IN"/>
          </a:p>
        </p:txBody>
      </p:sp>
      <p:sp>
        <p:nvSpPr>
          <p:cNvPr id="4" name="Date Placeholder 3">
            <a:extLst>
              <a:ext uri="{FF2B5EF4-FFF2-40B4-BE49-F238E27FC236}">
                <a16:creationId xmlns:a16="http://schemas.microsoft.com/office/drawing/2014/main" id="{1D0FC44C-3AF0-040D-74D0-F07C5E0C71AF}"/>
              </a:ext>
            </a:extLst>
          </p:cNvPr>
          <p:cNvSpPr>
            <a:spLocks noGrp="1"/>
          </p:cNvSpPr>
          <p:nvPr>
            <p:ph type="dt" sz="half" idx="10"/>
          </p:nvPr>
        </p:nvSpPr>
        <p:spPr/>
        <p:txBody>
          <a:bodyPr/>
          <a:lstStyle/>
          <a:p>
            <a:fld id="{28CB56D5-4F5D-48E4-A0FE-5254565152E9}" type="datetimeFigureOut">
              <a:rPr lang="en-IN" smtClean="0"/>
              <a:t>11-10-2026</a:t>
            </a:fld>
            <a:endParaRPr lang="en-IN"/>
          </a:p>
        </p:txBody>
      </p:sp>
      <p:sp>
        <p:nvSpPr>
          <p:cNvPr id="5" name="Footer Placeholder 4">
            <a:extLst>
              <a:ext uri="{FF2B5EF4-FFF2-40B4-BE49-F238E27FC236}">
                <a16:creationId xmlns:a16="http://schemas.microsoft.com/office/drawing/2014/main" id="{D2DE9409-5CAD-80D7-AC61-ABA0EF6F0C0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2A5AF22-3C25-629D-C81C-986C831855D3}"/>
              </a:ext>
            </a:extLst>
          </p:cNvPr>
          <p:cNvSpPr>
            <a:spLocks noGrp="1"/>
          </p:cNvSpPr>
          <p:nvPr>
            <p:ph type="sldNum" sz="quarter" idx="12"/>
          </p:nvPr>
        </p:nvSpPr>
        <p:spPr/>
        <p:txBody>
          <a:bodyPr/>
          <a:lstStyle/>
          <a:p>
            <a:fld id="{8B7BE34D-7B83-4DD4-A32B-10FAE8E18495}" type="slidenum">
              <a:rPr lang="en-IN" smtClean="0"/>
              <a:t>‹#›</a:t>
            </a:fld>
            <a:endParaRPr lang="en-IN"/>
          </a:p>
        </p:txBody>
      </p:sp>
    </p:spTree>
    <p:extLst>
      <p:ext uri="{BB962C8B-B14F-4D97-AF65-F5344CB8AC3E}">
        <p14:creationId xmlns:p14="http://schemas.microsoft.com/office/powerpoint/2010/main" val="11969291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5FEE9-120E-4DF1-0693-C5794B9EA3DB}"/>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2D47B7D5-08CD-682D-9B12-660B3C2053D2}"/>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0F6BE4FD-4396-1E88-38B8-1956EB10C8CF}"/>
              </a:ext>
            </a:extLst>
          </p:cNvPr>
          <p:cNvSpPr>
            <a:spLocks noGrp="1"/>
          </p:cNvSpPr>
          <p:nvPr>
            <p:ph type="dt" sz="half" idx="10"/>
          </p:nvPr>
        </p:nvSpPr>
        <p:spPr/>
        <p:txBody>
          <a:bodyPr/>
          <a:lstStyle/>
          <a:p>
            <a:fld id="{28CB56D5-4F5D-48E4-A0FE-5254565152E9}" type="datetimeFigureOut">
              <a:rPr lang="en-IN" smtClean="0"/>
              <a:t>11-10-2026</a:t>
            </a:fld>
            <a:endParaRPr lang="en-IN"/>
          </a:p>
        </p:txBody>
      </p:sp>
      <p:sp>
        <p:nvSpPr>
          <p:cNvPr id="5" name="Footer Placeholder 4">
            <a:extLst>
              <a:ext uri="{FF2B5EF4-FFF2-40B4-BE49-F238E27FC236}">
                <a16:creationId xmlns:a16="http://schemas.microsoft.com/office/drawing/2014/main" id="{7A192498-1A16-C2BC-A58A-9CE6F7C27B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DB3CA72-E8DF-351E-E5D7-3C6833BE83DB}"/>
              </a:ext>
            </a:extLst>
          </p:cNvPr>
          <p:cNvSpPr>
            <a:spLocks noGrp="1"/>
          </p:cNvSpPr>
          <p:nvPr>
            <p:ph type="sldNum" sz="quarter" idx="12"/>
          </p:nvPr>
        </p:nvSpPr>
        <p:spPr/>
        <p:txBody>
          <a:bodyPr/>
          <a:lstStyle/>
          <a:p>
            <a:fld id="{8B7BE34D-7B83-4DD4-A32B-10FAE8E18495}" type="slidenum">
              <a:rPr lang="en-IN" smtClean="0"/>
              <a:t>‹#›</a:t>
            </a:fld>
            <a:endParaRPr lang="en-IN"/>
          </a:p>
        </p:txBody>
      </p:sp>
    </p:spTree>
    <p:extLst>
      <p:ext uri="{BB962C8B-B14F-4D97-AF65-F5344CB8AC3E}">
        <p14:creationId xmlns:p14="http://schemas.microsoft.com/office/powerpoint/2010/main" val="12076230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28DB8-B4ED-C0A6-C537-7B276B26348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IN"/>
          </a:p>
        </p:txBody>
      </p:sp>
      <p:sp>
        <p:nvSpPr>
          <p:cNvPr id="3" name="Text Placeholder 2">
            <a:extLst>
              <a:ext uri="{FF2B5EF4-FFF2-40B4-BE49-F238E27FC236}">
                <a16:creationId xmlns:a16="http://schemas.microsoft.com/office/drawing/2014/main" id="{1B32A536-9D79-8136-5860-B8DAE3A4CB7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30E07D7D-8F5D-CA02-D150-A9E8346B54A0}"/>
              </a:ext>
            </a:extLst>
          </p:cNvPr>
          <p:cNvSpPr>
            <a:spLocks noGrp="1"/>
          </p:cNvSpPr>
          <p:nvPr>
            <p:ph type="dt" sz="half" idx="10"/>
          </p:nvPr>
        </p:nvSpPr>
        <p:spPr/>
        <p:txBody>
          <a:bodyPr/>
          <a:lstStyle/>
          <a:p>
            <a:fld id="{28CB56D5-4F5D-48E4-A0FE-5254565152E9}" type="datetimeFigureOut">
              <a:rPr lang="en-IN" smtClean="0"/>
              <a:t>11-10-2026</a:t>
            </a:fld>
            <a:endParaRPr lang="en-IN"/>
          </a:p>
        </p:txBody>
      </p:sp>
      <p:sp>
        <p:nvSpPr>
          <p:cNvPr id="5" name="Footer Placeholder 4">
            <a:extLst>
              <a:ext uri="{FF2B5EF4-FFF2-40B4-BE49-F238E27FC236}">
                <a16:creationId xmlns:a16="http://schemas.microsoft.com/office/drawing/2014/main" id="{DAC8BD55-BA99-3E4C-3EB7-5FD4D21898C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70AD9BD-5F91-62EF-6B09-B349A7201F43}"/>
              </a:ext>
            </a:extLst>
          </p:cNvPr>
          <p:cNvSpPr>
            <a:spLocks noGrp="1"/>
          </p:cNvSpPr>
          <p:nvPr>
            <p:ph type="sldNum" sz="quarter" idx="12"/>
          </p:nvPr>
        </p:nvSpPr>
        <p:spPr/>
        <p:txBody>
          <a:bodyPr/>
          <a:lstStyle/>
          <a:p>
            <a:fld id="{8B7BE34D-7B83-4DD4-A32B-10FAE8E18495}" type="slidenum">
              <a:rPr lang="en-IN" smtClean="0"/>
              <a:t>‹#›</a:t>
            </a:fld>
            <a:endParaRPr lang="en-IN"/>
          </a:p>
        </p:txBody>
      </p:sp>
    </p:spTree>
    <p:extLst>
      <p:ext uri="{BB962C8B-B14F-4D97-AF65-F5344CB8AC3E}">
        <p14:creationId xmlns:p14="http://schemas.microsoft.com/office/powerpoint/2010/main" val="30390598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131F0-C1A9-23F9-06BC-EBB4007C3B1C}"/>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CA648980-4863-851D-D199-04B1680C19D4}"/>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Content Placeholder 3">
            <a:extLst>
              <a:ext uri="{FF2B5EF4-FFF2-40B4-BE49-F238E27FC236}">
                <a16:creationId xmlns:a16="http://schemas.microsoft.com/office/drawing/2014/main" id="{1ECDCB94-FF58-FC3C-92A9-2C1842B22609}"/>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Date Placeholder 4">
            <a:extLst>
              <a:ext uri="{FF2B5EF4-FFF2-40B4-BE49-F238E27FC236}">
                <a16:creationId xmlns:a16="http://schemas.microsoft.com/office/drawing/2014/main" id="{E7E9375D-4E52-AB0F-9CCA-277D2DF9029E}"/>
              </a:ext>
            </a:extLst>
          </p:cNvPr>
          <p:cNvSpPr>
            <a:spLocks noGrp="1"/>
          </p:cNvSpPr>
          <p:nvPr>
            <p:ph type="dt" sz="half" idx="10"/>
          </p:nvPr>
        </p:nvSpPr>
        <p:spPr/>
        <p:txBody>
          <a:bodyPr/>
          <a:lstStyle/>
          <a:p>
            <a:fld id="{28CB56D5-4F5D-48E4-A0FE-5254565152E9}" type="datetimeFigureOut">
              <a:rPr lang="en-IN" smtClean="0"/>
              <a:t>11-10-2026</a:t>
            </a:fld>
            <a:endParaRPr lang="en-IN"/>
          </a:p>
        </p:txBody>
      </p:sp>
      <p:sp>
        <p:nvSpPr>
          <p:cNvPr id="6" name="Footer Placeholder 5">
            <a:extLst>
              <a:ext uri="{FF2B5EF4-FFF2-40B4-BE49-F238E27FC236}">
                <a16:creationId xmlns:a16="http://schemas.microsoft.com/office/drawing/2014/main" id="{3D1C2A12-FA82-9F04-3456-3708AEF4DEF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CD376C4-4295-A24A-EFCA-936909C1FC33}"/>
              </a:ext>
            </a:extLst>
          </p:cNvPr>
          <p:cNvSpPr>
            <a:spLocks noGrp="1"/>
          </p:cNvSpPr>
          <p:nvPr>
            <p:ph type="sldNum" sz="quarter" idx="12"/>
          </p:nvPr>
        </p:nvSpPr>
        <p:spPr/>
        <p:txBody>
          <a:bodyPr/>
          <a:lstStyle/>
          <a:p>
            <a:fld id="{8B7BE34D-7B83-4DD4-A32B-10FAE8E18495}" type="slidenum">
              <a:rPr lang="en-IN" smtClean="0"/>
              <a:t>‹#›</a:t>
            </a:fld>
            <a:endParaRPr lang="en-IN"/>
          </a:p>
        </p:txBody>
      </p:sp>
    </p:spTree>
    <p:extLst>
      <p:ext uri="{BB962C8B-B14F-4D97-AF65-F5344CB8AC3E}">
        <p14:creationId xmlns:p14="http://schemas.microsoft.com/office/powerpoint/2010/main" val="40374237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554D5-7A1D-CB34-5B2F-A6D237272DF0}"/>
              </a:ext>
            </a:extLst>
          </p:cNvPr>
          <p:cNvSpPr>
            <a:spLocks noGrp="1"/>
          </p:cNvSpPr>
          <p:nvPr>
            <p:ph type="title"/>
          </p:nvPr>
        </p:nvSpPr>
        <p:spPr>
          <a:xfrm>
            <a:off x="839788" y="365125"/>
            <a:ext cx="10515600" cy="1325563"/>
          </a:xfrm>
        </p:spPr>
        <p:txBody>
          <a:bodyPr/>
          <a:lstStyle/>
          <a:p>
            <a:r>
              <a:rPr lang="en-GB"/>
              <a:t>Click to edit Master title style</a:t>
            </a:r>
            <a:endParaRPr lang="en-IN"/>
          </a:p>
        </p:txBody>
      </p:sp>
      <p:sp>
        <p:nvSpPr>
          <p:cNvPr id="3" name="Text Placeholder 2">
            <a:extLst>
              <a:ext uri="{FF2B5EF4-FFF2-40B4-BE49-F238E27FC236}">
                <a16:creationId xmlns:a16="http://schemas.microsoft.com/office/drawing/2014/main" id="{3E3ACC4C-ADAC-E86C-8FF4-DF65837E3F4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03F28443-5C32-1523-1620-65A87BAEC7D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Text Placeholder 4">
            <a:extLst>
              <a:ext uri="{FF2B5EF4-FFF2-40B4-BE49-F238E27FC236}">
                <a16:creationId xmlns:a16="http://schemas.microsoft.com/office/drawing/2014/main" id="{811B27E9-2851-C7C1-E216-3B9494BB3AC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75E97662-8E8D-E281-9A37-D40BFEDFFAA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7" name="Date Placeholder 6">
            <a:extLst>
              <a:ext uri="{FF2B5EF4-FFF2-40B4-BE49-F238E27FC236}">
                <a16:creationId xmlns:a16="http://schemas.microsoft.com/office/drawing/2014/main" id="{10B236DA-E823-8774-6204-8CB23CD1A445}"/>
              </a:ext>
            </a:extLst>
          </p:cNvPr>
          <p:cNvSpPr>
            <a:spLocks noGrp="1"/>
          </p:cNvSpPr>
          <p:nvPr>
            <p:ph type="dt" sz="half" idx="10"/>
          </p:nvPr>
        </p:nvSpPr>
        <p:spPr/>
        <p:txBody>
          <a:bodyPr/>
          <a:lstStyle/>
          <a:p>
            <a:fld id="{28CB56D5-4F5D-48E4-A0FE-5254565152E9}" type="datetimeFigureOut">
              <a:rPr lang="en-IN" smtClean="0"/>
              <a:t>11-10-2026</a:t>
            </a:fld>
            <a:endParaRPr lang="en-IN"/>
          </a:p>
        </p:txBody>
      </p:sp>
      <p:sp>
        <p:nvSpPr>
          <p:cNvPr id="8" name="Footer Placeholder 7">
            <a:extLst>
              <a:ext uri="{FF2B5EF4-FFF2-40B4-BE49-F238E27FC236}">
                <a16:creationId xmlns:a16="http://schemas.microsoft.com/office/drawing/2014/main" id="{89E0F736-53D5-CEB6-579A-D75414CEF5D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E948113-07DA-347B-1106-E0C586FDCD96}"/>
              </a:ext>
            </a:extLst>
          </p:cNvPr>
          <p:cNvSpPr>
            <a:spLocks noGrp="1"/>
          </p:cNvSpPr>
          <p:nvPr>
            <p:ph type="sldNum" sz="quarter" idx="12"/>
          </p:nvPr>
        </p:nvSpPr>
        <p:spPr/>
        <p:txBody>
          <a:bodyPr/>
          <a:lstStyle/>
          <a:p>
            <a:fld id="{8B7BE34D-7B83-4DD4-A32B-10FAE8E18495}" type="slidenum">
              <a:rPr lang="en-IN" smtClean="0"/>
              <a:t>‹#›</a:t>
            </a:fld>
            <a:endParaRPr lang="en-IN"/>
          </a:p>
        </p:txBody>
      </p:sp>
    </p:spTree>
    <p:extLst>
      <p:ext uri="{BB962C8B-B14F-4D97-AF65-F5344CB8AC3E}">
        <p14:creationId xmlns:p14="http://schemas.microsoft.com/office/powerpoint/2010/main" val="33492455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4FD36-C291-216E-4F02-BE0E18DED343}"/>
              </a:ext>
            </a:extLst>
          </p:cNvPr>
          <p:cNvSpPr>
            <a:spLocks noGrp="1"/>
          </p:cNvSpPr>
          <p:nvPr>
            <p:ph type="title"/>
          </p:nvPr>
        </p:nvSpPr>
        <p:spPr/>
        <p:txBody>
          <a:bodyPr/>
          <a:lstStyle/>
          <a:p>
            <a:r>
              <a:rPr lang="en-GB"/>
              <a:t>Click to edit Master title style</a:t>
            </a:r>
            <a:endParaRPr lang="en-IN"/>
          </a:p>
        </p:txBody>
      </p:sp>
      <p:sp>
        <p:nvSpPr>
          <p:cNvPr id="3" name="Date Placeholder 2">
            <a:extLst>
              <a:ext uri="{FF2B5EF4-FFF2-40B4-BE49-F238E27FC236}">
                <a16:creationId xmlns:a16="http://schemas.microsoft.com/office/drawing/2014/main" id="{587622DB-6091-8DEC-D734-8A08415AB146}"/>
              </a:ext>
            </a:extLst>
          </p:cNvPr>
          <p:cNvSpPr>
            <a:spLocks noGrp="1"/>
          </p:cNvSpPr>
          <p:nvPr>
            <p:ph type="dt" sz="half" idx="10"/>
          </p:nvPr>
        </p:nvSpPr>
        <p:spPr/>
        <p:txBody>
          <a:bodyPr/>
          <a:lstStyle/>
          <a:p>
            <a:fld id="{28CB56D5-4F5D-48E4-A0FE-5254565152E9}" type="datetimeFigureOut">
              <a:rPr lang="en-IN" smtClean="0"/>
              <a:t>11-10-2026</a:t>
            </a:fld>
            <a:endParaRPr lang="en-IN"/>
          </a:p>
        </p:txBody>
      </p:sp>
      <p:sp>
        <p:nvSpPr>
          <p:cNvPr id="4" name="Footer Placeholder 3">
            <a:extLst>
              <a:ext uri="{FF2B5EF4-FFF2-40B4-BE49-F238E27FC236}">
                <a16:creationId xmlns:a16="http://schemas.microsoft.com/office/drawing/2014/main" id="{5B87A37A-09A4-C4EB-CF89-F9BF075C374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09155A6-C477-E910-FEA7-2ABD69CD2555}"/>
              </a:ext>
            </a:extLst>
          </p:cNvPr>
          <p:cNvSpPr>
            <a:spLocks noGrp="1"/>
          </p:cNvSpPr>
          <p:nvPr>
            <p:ph type="sldNum" sz="quarter" idx="12"/>
          </p:nvPr>
        </p:nvSpPr>
        <p:spPr/>
        <p:txBody>
          <a:bodyPr/>
          <a:lstStyle/>
          <a:p>
            <a:fld id="{8B7BE34D-7B83-4DD4-A32B-10FAE8E18495}" type="slidenum">
              <a:rPr lang="en-IN" smtClean="0"/>
              <a:t>‹#›</a:t>
            </a:fld>
            <a:endParaRPr lang="en-IN"/>
          </a:p>
        </p:txBody>
      </p:sp>
    </p:spTree>
    <p:extLst>
      <p:ext uri="{BB962C8B-B14F-4D97-AF65-F5344CB8AC3E}">
        <p14:creationId xmlns:p14="http://schemas.microsoft.com/office/powerpoint/2010/main" val="3112533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429AE82-EA82-C3C1-D7C6-A64D7A6B1FDD}"/>
              </a:ext>
            </a:extLst>
          </p:cNvPr>
          <p:cNvSpPr>
            <a:spLocks noGrp="1"/>
          </p:cNvSpPr>
          <p:nvPr>
            <p:ph type="dt" sz="half" idx="10"/>
          </p:nvPr>
        </p:nvSpPr>
        <p:spPr/>
        <p:txBody>
          <a:bodyPr/>
          <a:lstStyle/>
          <a:p>
            <a:fld id="{28CB56D5-4F5D-48E4-A0FE-5254565152E9}" type="datetimeFigureOut">
              <a:rPr lang="en-IN" smtClean="0"/>
              <a:t>11-10-2026</a:t>
            </a:fld>
            <a:endParaRPr lang="en-IN"/>
          </a:p>
        </p:txBody>
      </p:sp>
      <p:sp>
        <p:nvSpPr>
          <p:cNvPr id="3" name="Footer Placeholder 2">
            <a:extLst>
              <a:ext uri="{FF2B5EF4-FFF2-40B4-BE49-F238E27FC236}">
                <a16:creationId xmlns:a16="http://schemas.microsoft.com/office/drawing/2014/main" id="{5B6C3D2D-739C-8781-0D19-646988CF83D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C022FC0-1ED7-B92C-E787-DEB1B36FA993}"/>
              </a:ext>
            </a:extLst>
          </p:cNvPr>
          <p:cNvSpPr>
            <a:spLocks noGrp="1"/>
          </p:cNvSpPr>
          <p:nvPr>
            <p:ph type="sldNum" sz="quarter" idx="12"/>
          </p:nvPr>
        </p:nvSpPr>
        <p:spPr/>
        <p:txBody>
          <a:bodyPr/>
          <a:lstStyle/>
          <a:p>
            <a:fld id="{8B7BE34D-7B83-4DD4-A32B-10FAE8E18495}" type="slidenum">
              <a:rPr lang="en-IN" smtClean="0"/>
              <a:t>‹#›</a:t>
            </a:fld>
            <a:endParaRPr lang="en-IN"/>
          </a:p>
        </p:txBody>
      </p:sp>
    </p:spTree>
    <p:extLst>
      <p:ext uri="{BB962C8B-B14F-4D97-AF65-F5344CB8AC3E}">
        <p14:creationId xmlns:p14="http://schemas.microsoft.com/office/powerpoint/2010/main" val="35318938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2A8BD-2E73-0BA8-810A-9EDCC402570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Content Placeholder 2">
            <a:extLst>
              <a:ext uri="{FF2B5EF4-FFF2-40B4-BE49-F238E27FC236}">
                <a16:creationId xmlns:a16="http://schemas.microsoft.com/office/drawing/2014/main" id="{841061AC-8118-B51A-C224-A49613DC21B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Text Placeholder 3">
            <a:extLst>
              <a:ext uri="{FF2B5EF4-FFF2-40B4-BE49-F238E27FC236}">
                <a16:creationId xmlns:a16="http://schemas.microsoft.com/office/drawing/2014/main" id="{FF3E0D92-E65E-D2CC-6CF9-823CB37E7A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ED0C4EB-653D-C408-2060-A52D185537EA}"/>
              </a:ext>
            </a:extLst>
          </p:cNvPr>
          <p:cNvSpPr>
            <a:spLocks noGrp="1"/>
          </p:cNvSpPr>
          <p:nvPr>
            <p:ph type="dt" sz="half" idx="10"/>
          </p:nvPr>
        </p:nvSpPr>
        <p:spPr/>
        <p:txBody>
          <a:bodyPr/>
          <a:lstStyle/>
          <a:p>
            <a:fld id="{28CB56D5-4F5D-48E4-A0FE-5254565152E9}" type="datetimeFigureOut">
              <a:rPr lang="en-IN" smtClean="0"/>
              <a:t>11-10-2026</a:t>
            </a:fld>
            <a:endParaRPr lang="en-IN"/>
          </a:p>
        </p:txBody>
      </p:sp>
      <p:sp>
        <p:nvSpPr>
          <p:cNvPr id="6" name="Footer Placeholder 5">
            <a:extLst>
              <a:ext uri="{FF2B5EF4-FFF2-40B4-BE49-F238E27FC236}">
                <a16:creationId xmlns:a16="http://schemas.microsoft.com/office/drawing/2014/main" id="{2B1EF521-6D90-59D0-E77A-8703E9D3C51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E98EEE5-BE38-02D2-BEEC-32D648EB2977}"/>
              </a:ext>
            </a:extLst>
          </p:cNvPr>
          <p:cNvSpPr>
            <a:spLocks noGrp="1"/>
          </p:cNvSpPr>
          <p:nvPr>
            <p:ph type="sldNum" sz="quarter" idx="12"/>
          </p:nvPr>
        </p:nvSpPr>
        <p:spPr/>
        <p:txBody>
          <a:bodyPr/>
          <a:lstStyle/>
          <a:p>
            <a:fld id="{8B7BE34D-7B83-4DD4-A32B-10FAE8E18495}" type="slidenum">
              <a:rPr lang="en-IN" smtClean="0"/>
              <a:t>‹#›</a:t>
            </a:fld>
            <a:endParaRPr lang="en-IN"/>
          </a:p>
        </p:txBody>
      </p:sp>
    </p:spTree>
    <p:extLst>
      <p:ext uri="{BB962C8B-B14F-4D97-AF65-F5344CB8AC3E}">
        <p14:creationId xmlns:p14="http://schemas.microsoft.com/office/powerpoint/2010/main" val="26824502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6E38E-5D81-9E5F-5771-59A72646F44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Picture Placeholder 2">
            <a:extLst>
              <a:ext uri="{FF2B5EF4-FFF2-40B4-BE49-F238E27FC236}">
                <a16:creationId xmlns:a16="http://schemas.microsoft.com/office/drawing/2014/main" id="{8C62626C-9005-90AC-B01F-376B0170A93D}"/>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B9D1715-FE06-2DAC-66BD-22F21E4AE2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EE9224A-0DA5-F188-181A-D887D1FA2923}"/>
              </a:ext>
            </a:extLst>
          </p:cNvPr>
          <p:cNvSpPr>
            <a:spLocks noGrp="1"/>
          </p:cNvSpPr>
          <p:nvPr>
            <p:ph type="dt" sz="half" idx="10"/>
          </p:nvPr>
        </p:nvSpPr>
        <p:spPr/>
        <p:txBody>
          <a:bodyPr/>
          <a:lstStyle/>
          <a:p>
            <a:fld id="{28CB56D5-4F5D-48E4-A0FE-5254565152E9}" type="datetimeFigureOut">
              <a:rPr lang="en-IN" smtClean="0"/>
              <a:t>11-10-2026</a:t>
            </a:fld>
            <a:endParaRPr lang="en-IN"/>
          </a:p>
        </p:txBody>
      </p:sp>
      <p:sp>
        <p:nvSpPr>
          <p:cNvPr id="6" name="Footer Placeholder 5">
            <a:extLst>
              <a:ext uri="{FF2B5EF4-FFF2-40B4-BE49-F238E27FC236}">
                <a16:creationId xmlns:a16="http://schemas.microsoft.com/office/drawing/2014/main" id="{45E8C858-1A56-B969-77AD-720BAC23001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4B174D8-3E8F-E77F-342E-30FDC6B1E7C2}"/>
              </a:ext>
            </a:extLst>
          </p:cNvPr>
          <p:cNvSpPr>
            <a:spLocks noGrp="1"/>
          </p:cNvSpPr>
          <p:nvPr>
            <p:ph type="sldNum" sz="quarter" idx="12"/>
          </p:nvPr>
        </p:nvSpPr>
        <p:spPr/>
        <p:txBody>
          <a:bodyPr/>
          <a:lstStyle/>
          <a:p>
            <a:fld id="{8B7BE34D-7B83-4DD4-A32B-10FAE8E18495}" type="slidenum">
              <a:rPr lang="en-IN" smtClean="0"/>
              <a:t>‹#›</a:t>
            </a:fld>
            <a:endParaRPr lang="en-IN"/>
          </a:p>
        </p:txBody>
      </p:sp>
    </p:spTree>
    <p:extLst>
      <p:ext uri="{BB962C8B-B14F-4D97-AF65-F5344CB8AC3E}">
        <p14:creationId xmlns:p14="http://schemas.microsoft.com/office/powerpoint/2010/main" val="6445453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2B553-467B-9200-3698-4FDF34787677}"/>
              </a:ext>
            </a:extLst>
          </p:cNvPr>
          <p:cNvSpPr>
            <a:spLocks noGrp="1"/>
          </p:cNvSpPr>
          <p:nvPr>
            <p:ph type="title"/>
          </p:nvPr>
        </p:nvSpPr>
        <p:spPr/>
        <p:txBody>
          <a:bodyPr/>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04F332B7-E40F-9508-4D43-C53B7B3F6BDC}"/>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11A06EA5-E7B8-A1CB-A0AD-9D88320645D4}"/>
              </a:ext>
            </a:extLst>
          </p:cNvPr>
          <p:cNvSpPr>
            <a:spLocks noGrp="1"/>
          </p:cNvSpPr>
          <p:nvPr>
            <p:ph type="dt" sz="half" idx="10"/>
          </p:nvPr>
        </p:nvSpPr>
        <p:spPr/>
        <p:txBody>
          <a:bodyPr/>
          <a:lstStyle/>
          <a:p>
            <a:fld id="{28CB56D5-4F5D-48E4-A0FE-5254565152E9}" type="datetimeFigureOut">
              <a:rPr lang="en-IN" smtClean="0"/>
              <a:t>11-10-2026</a:t>
            </a:fld>
            <a:endParaRPr lang="en-IN"/>
          </a:p>
        </p:txBody>
      </p:sp>
      <p:sp>
        <p:nvSpPr>
          <p:cNvPr id="5" name="Footer Placeholder 4">
            <a:extLst>
              <a:ext uri="{FF2B5EF4-FFF2-40B4-BE49-F238E27FC236}">
                <a16:creationId xmlns:a16="http://schemas.microsoft.com/office/drawing/2014/main" id="{B3E586F9-C8B1-6F38-80B8-7B205C285A1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843DB02-9280-1516-8993-34B0C1180EEE}"/>
              </a:ext>
            </a:extLst>
          </p:cNvPr>
          <p:cNvSpPr>
            <a:spLocks noGrp="1"/>
          </p:cNvSpPr>
          <p:nvPr>
            <p:ph type="sldNum" sz="quarter" idx="12"/>
          </p:nvPr>
        </p:nvSpPr>
        <p:spPr/>
        <p:txBody>
          <a:bodyPr/>
          <a:lstStyle/>
          <a:p>
            <a:fld id="{8B7BE34D-7B83-4DD4-A32B-10FAE8E18495}" type="slidenum">
              <a:rPr lang="en-IN" smtClean="0"/>
              <a:t>‹#›</a:t>
            </a:fld>
            <a:endParaRPr lang="en-IN"/>
          </a:p>
        </p:txBody>
      </p:sp>
    </p:spTree>
    <p:extLst>
      <p:ext uri="{BB962C8B-B14F-4D97-AF65-F5344CB8AC3E}">
        <p14:creationId xmlns:p14="http://schemas.microsoft.com/office/powerpoint/2010/main" val="28162776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45DABA-1DA0-F8DC-17A6-8372A37456EB}"/>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40FF0BBD-A8E0-1608-26A5-BCAB448BE436}"/>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735874B2-AFE7-5BE4-00C3-52071EEE540D}"/>
              </a:ext>
            </a:extLst>
          </p:cNvPr>
          <p:cNvSpPr>
            <a:spLocks noGrp="1"/>
          </p:cNvSpPr>
          <p:nvPr>
            <p:ph type="dt" sz="half" idx="10"/>
          </p:nvPr>
        </p:nvSpPr>
        <p:spPr/>
        <p:txBody>
          <a:bodyPr/>
          <a:lstStyle/>
          <a:p>
            <a:fld id="{28CB56D5-4F5D-48E4-A0FE-5254565152E9}" type="datetimeFigureOut">
              <a:rPr lang="en-IN" smtClean="0"/>
              <a:t>11-10-2026</a:t>
            </a:fld>
            <a:endParaRPr lang="en-IN"/>
          </a:p>
        </p:txBody>
      </p:sp>
      <p:sp>
        <p:nvSpPr>
          <p:cNvPr id="5" name="Footer Placeholder 4">
            <a:extLst>
              <a:ext uri="{FF2B5EF4-FFF2-40B4-BE49-F238E27FC236}">
                <a16:creationId xmlns:a16="http://schemas.microsoft.com/office/drawing/2014/main" id="{A5A2C5BB-67AD-B142-EA8D-7E89B798F8C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74A114F-7B7A-EFCE-D2D3-4DA1CC42418B}"/>
              </a:ext>
            </a:extLst>
          </p:cNvPr>
          <p:cNvSpPr>
            <a:spLocks noGrp="1"/>
          </p:cNvSpPr>
          <p:nvPr>
            <p:ph type="sldNum" sz="quarter" idx="12"/>
          </p:nvPr>
        </p:nvSpPr>
        <p:spPr/>
        <p:txBody>
          <a:bodyPr/>
          <a:lstStyle/>
          <a:p>
            <a:fld id="{8B7BE34D-7B83-4DD4-A32B-10FAE8E18495}" type="slidenum">
              <a:rPr lang="en-IN" smtClean="0"/>
              <a:t>‹#›</a:t>
            </a:fld>
            <a:endParaRPr lang="en-IN"/>
          </a:p>
        </p:txBody>
      </p:sp>
    </p:spTree>
    <p:extLst>
      <p:ext uri="{BB962C8B-B14F-4D97-AF65-F5344CB8AC3E}">
        <p14:creationId xmlns:p14="http://schemas.microsoft.com/office/powerpoint/2010/main" val="403264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78DFAC9-E900-CAF8-F17F-A7E8CD3D6B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IN"/>
          </a:p>
        </p:txBody>
      </p:sp>
      <p:sp>
        <p:nvSpPr>
          <p:cNvPr id="3" name="Text Placeholder 2">
            <a:extLst>
              <a:ext uri="{FF2B5EF4-FFF2-40B4-BE49-F238E27FC236}">
                <a16:creationId xmlns:a16="http://schemas.microsoft.com/office/drawing/2014/main" id="{9B0B19AB-FE3A-341A-0C49-D308FD2D6B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FA94852D-C96E-22F5-5C52-39C8922C67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8CB56D5-4F5D-48E4-A0FE-5254565152E9}" type="datetimeFigureOut">
              <a:rPr lang="en-IN" smtClean="0"/>
              <a:t>11-10-2026</a:t>
            </a:fld>
            <a:endParaRPr lang="en-IN"/>
          </a:p>
        </p:txBody>
      </p:sp>
      <p:sp>
        <p:nvSpPr>
          <p:cNvPr id="5" name="Footer Placeholder 4">
            <a:extLst>
              <a:ext uri="{FF2B5EF4-FFF2-40B4-BE49-F238E27FC236}">
                <a16:creationId xmlns:a16="http://schemas.microsoft.com/office/drawing/2014/main" id="{B9EB89FA-08DE-062F-90A1-86BFECB095A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D717B6F0-B84C-57CF-800E-11337216103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B7BE34D-7B83-4DD4-A32B-10FAE8E18495}" type="slidenum">
              <a:rPr lang="en-IN" smtClean="0"/>
              <a:t>‹#›</a:t>
            </a:fld>
            <a:endParaRPr lang="en-IN"/>
          </a:p>
        </p:txBody>
      </p:sp>
    </p:spTree>
    <p:extLst>
      <p:ext uri="{BB962C8B-B14F-4D97-AF65-F5344CB8AC3E}">
        <p14:creationId xmlns:p14="http://schemas.microsoft.com/office/powerpoint/2010/main" val="42143796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F3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D1D9F1-907C-8B86-4EC3-1AF088F8447D}"/>
              </a:ext>
            </a:extLst>
          </p:cNvPr>
          <p:cNvSpPr>
            <a:spLocks noGrp="1"/>
          </p:cNvSpPr>
          <p:nvPr>
            <p:ph type="title"/>
          </p:nvPr>
        </p:nvSpPr>
        <p:spPr>
          <a:xfrm>
            <a:off x="609600" y="1905000"/>
            <a:ext cx="6604000" cy="1905000"/>
          </a:xfrm>
        </p:spPr>
        <p:txBody>
          <a:bodyPr lIns="0" anchor="t">
            <a:normAutofit/>
          </a:bodyPr>
          <a:lstStyle/>
          <a:p>
            <a:r>
              <a:rPr lang="en-US" sz="4000" b="1">
                <a:solidFill>
                  <a:srgbClr val="FFFFFF"/>
                </a:solidFill>
                <a:latin typeface="Cambria" panose="02040503050406030204" pitchFamily="18" charset="0"/>
              </a:rPr>
              <a:t>A required option for the GRC Parameter block</a:t>
            </a:r>
            <a:endParaRPr lang="en-IN" sz="4000" b="1">
              <a:solidFill>
                <a:srgbClr val="FFFFFF"/>
              </a:solidFill>
              <a:latin typeface="Cambria" panose="02040503050406030204" pitchFamily="18" charset="0"/>
            </a:endParaRPr>
          </a:p>
        </p:txBody>
      </p:sp>
      <p:sp>
        <p:nvSpPr>
          <p:cNvPr id="3" name="Rectangle: Rounded Corners 2">
            <a:extLst>
              <a:ext uri="{FF2B5EF4-FFF2-40B4-BE49-F238E27FC236}">
                <a16:creationId xmlns:a16="http://schemas.microsoft.com/office/drawing/2014/main" id="{06A48DDE-5603-27F5-BB30-F407C69B959D}"/>
              </a:ext>
            </a:extLst>
          </p:cNvPr>
          <p:cNvSpPr/>
          <p:nvPr/>
        </p:nvSpPr>
        <p:spPr>
          <a:xfrm>
            <a:off x="609600" y="1270000"/>
            <a:ext cx="1651000" cy="355600"/>
          </a:xfrm>
          <a:prstGeom prst="roundRect">
            <a:avLst>
              <a:gd name="adj" fmla="val 50000"/>
            </a:avLst>
          </a:prstGeom>
          <a:solidFill>
            <a:srgbClr val="14B8A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0" rIns="50800" bIns="0" rtlCol="0" anchor="ctr"/>
          <a:lstStyle/>
          <a:p>
            <a:pPr algn="ctr"/>
            <a:r>
              <a:rPr lang="en-IN" sz="1300" b="1">
                <a:solidFill>
                  <a:srgbClr val="0B1F33"/>
                </a:solidFill>
                <a:latin typeface="Calibri" panose="020F0502020204030204" pitchFamily="34" charset="0"/>
              </a:rPr>
              <a:t>M2 REPORT</a:t>
            </a:r>
          </a:p>
        </p:txBody>
      </p:sp>
      <p:sp>
        <p:nvSpPr>
          <p:cNvPr id="4" name="TextBox 3">
            <a:extLst>
              <a:ext uri="{FF2B5EF4-FFF2-40B4-BE49-F238E27FC236}">
                <a16:creationId xmlns:a16="http://schemas.microsoft.com/office/drawing/2014/main" id="{EC0718E0-B03C-38AA-7EDD-502DF96AA1DC}"/>
              </a:ext>
            </a:extLst>
          </p:cNvPr>
          <p:cNvSpPr txBox="1"/>
          <p:nvPr/>
        </p:nvSpPr>
        <p:spPr>
          <a:xfrm>
            <a:off x="609600" y="3175000"/>
            <a:ext cx="6604000" cy="355600"/>
          </a:xfrm>
          <a:prstGeom prst="rect">
            <a:avLst/>
          </a:prstGeom>
          <a:noFill/>
        </p:spPr>
        <p:txBody>
          <a:bodyPr vert="horz" wrap="square" lIns="0" tIns="0" rIns="0" bIns="0" rtlCol="0" anchor="t">
            <a:noAutofit/>
          </a:bodyPr>
          <a:lstStyle/>
          <a:p>
            <a:r>
              <a:rPr lang="en-IN" sz="2000">
                <a:solidFill>
                  <a:srgbClr val="CADCFC"/>
                </a:solidFill>
                <a:latin typeface="Calibri" panose="020F0502020204030204" pitchFamily="34" charset="0"/>
              </a:rPr>
              <a:t>GNU Radio contribution: pull request #8233</a:t>
            </a:r>
          </a:p>
        </p:txBody>
      </p:sp>
      <p:sp>
        <p:nvSpPr>
          <p:cNvPr id="5" name="TextBox 4">
            <a:extLst>
              <a:ext uri="{FF2B5EF4-FFF2-40B4-BE49-F238E27FC236}">
                <a16:creationId xmlns:a16="http://schemas.microsoft.com/office/drawing/2014/main" id="{1AA872FC-CF69-2099-0F72-C563A246A679}"/>
              </a:ext>
            </a:extLst>
          </p:cNvPr>
          <p:cNvSpPr txBox="1"/>
          <p:nvPr/>
        </p:nvSpPr>
        <p:spPr>
          <a:xfrm>
            <a:off x="609600" y="3810000"/>
            <a:ext cx="6604000" cy="1016000"/>
          </a:xfrm>
          <a:prstGeom prst="rect">
            <a:avLst/>
          </a:prstGeom>
          <a:noFill/>
        </p:spPr>
        <p:txBody>
          <a:bodyPr vert="horz" wrap="square" lIns="0" tIns="0" rIns="0" bIns="0" rtlCol="0" anchor="t">
            <a:noAutofit/>
          </a:bodyPr>
          <a:lstStyle/>
          <a:p>
            <a:r>
              <a:rPr lang="en-IN" sz="1500">
                <a:solidFill>
                  <a:srgbClr val="E2E8F0"/>
                </a:solidFill>
                <a:latin typeface="Calibri" panose="020F0502020204030204" pitchFamily="34" charset="0"/>
              </a:rPr>
              <a:t>Akshita Muchhal</a:t>
            </a:r>
          </a:p>
          <a:p>
            <a:r>
              <a:rPr lang="en-IN" sz="1500">
                <a:solidFill>
                  <a:srgbClr val="E2E8F0"/>
                </a:solidFill>
                <a:latin typeface="Calibri" panose="020F0502020204030204" pitchFamily="34" charset="0"/>
              </a:rPr>
              <a:t>Project g16, GSoC ISAC (individual project)</a:t>
            </a:r>
          </a:p>
          <a:p>
            <a:r>
              <a:rPr lang="en-IN" sz="1500">
                <a:solidFill>
                  <a:srgbClr val="E2E8F0"/>
                </a:solidFill>
                <a:latin typeface="Calibri" panose="020F0502020204030204" pitchFamily="34" charset="0"/>
              </a:rPr>
              <a:t>Ahmedabad University  |  October 11, 2026</a:t>
            </a:r>
          </a:p>
        </p:txBody>
      </p:sp>
      <p:sp>
        <p:nvSpPr>
          <p:cNvPr id="6" name="Rectangle: Rounded Corners 5">
            <a:extLst>
              <a:ext uri="{FF2B5EF4-FFF2-40B4-BE49-F238E27FC236}">
                <a16:creationId xmlns:a16="http://schemas.microsoft.com/office/drawing/2014/main" id="{D4FBB005-59F3-785F-7734-DB5486A8D7F0}"/>
              </a:ext>
            </a:extLst>
          </p:cNvPr>
          <p:cNvSpPr/>
          <p:nvPr/>
        </p:nvSpPr>
        <p:spPr>
          <a:xfrm>
            <a:off x="7620000" y="1651000"/>
            <a:ext cx="3962400" cy="3175000"/>
          </a:xfrm>
          <a:prstGeom prst="roundRect">
            <a:avLst>
              <a:gd name="adj" fmla="val 4000"/>
            </a:avLst>
          </a:prstGeom>
          <a:solidFill>
            <a:srgbClr val="0F223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D5E7B8CB-7BCD-5279-1FCB-B9B469DE3ADD}"/>
              </a:ext>
            </a:extLst>
          </p:cNvPr>
          <p:cNvSpPr txBox="1"/>
          <p:nvPr/>
        </p:nvSpPr>
        <p:spPr>
          <a:xfrm>
            <a:off x="7874000" y="1854200"/>
            <a:ext cx="3429000" cy="203200"/>
          </a:xfrm>
          <a:prstGeom prst="rect">
            <a:avLst/>
          </a:prstGeom>
          <a:noFill/>
        </p:spPr>
        <p:txBody>
          <a:bodyPr vert="horz" wrap="square" lIns="0" tIns="0" rIns="0" bIns="0" rtlCol="0" anchor="t">
            <a:noAutofit/>
          </a:bodyPr>
          <a:lstStyle/>
          <a:p>
            <a:r>
              <a:rPr lang="en-IN" sz="1100">
                <a:solidFill>
                  <a:srgbClr val="7DD3C8"/>
                </a:solidFill>
                <a:latin typeface="Calibri" panose="020F0502020204030204" pitchFamily="34" charset="0"/>
              </a:rPr>
              <a:t>generated flowgraph script</a:t>
            </a:r>
          </a:p>
        </p:txBody>
      </p:sp>
      <p:sp>
        <p:nvSpPr>
          <p:cNvPr id="8" name="TextBox 7">
            <a:extLst>
              <a:ext uri="{FF2B5EF4-FFF2-40B4-BE49-F238E27FC236}">
                <a16:creationId xmlns:a16="http://schemas.microsoft.com/office/drawing/2014/main" id="{869B373A-EF88-E5EE-5E5B-9E1D350D7032}"/>
              </a:ext>
            </a:extLst>
          </p:cNvPr>
          <p:cNvSpPr txBox="1"/>
          <p:nvPr/>
        </p:nvSpPr>
        <p:spPr>
          <a:xfrm>
            <a:off x="7874000" y="2184400"/>
            <a:ext cx="3556000" cy="2413000"/>
          </a:xfrm>
          <a:prstGeom prst="rect">
            <a:avLst/>
          </a:prstGeom>
          <a:noFill/>
        </p:spPr>
        <p:txBody>
          <a:bodyPr vert="horz" wrap="square" lIns="0" tIns="0" rIns="0" bIns="0" rtlCol="0" anchor="t">
            <a:noAutofit/>
          </a:bodyPr>
          <a:lstStyle/>
          <a:p>
            <a:r>
              <a:rPr lang="en-US" sz="1500">
                <a:solidFill>
                  <a:srgbClr val="CBD5E1"/>
                </a:solidFill>
                <a:latin typeface="Consolas" panose="020B0609020204030204" pitchFamily="49" charset="0"/>
              </a:rPr>
              <a:t>parser.add_argument(</a:t>
            </a:r>
          </a:p>
          <a:p>
            <a:r>
              <a:rPr lang="en-US" sz="1500">
                <a:solidFill>
                  <a:srgbClr val="CBD5E1"/>
                </a:solidFill>
                <a:latin typeface="Consolas" panose="020B0609020204030204" pitchFamily="49" charset="0"/>
              </a:rPr>
              <a:t>    "--count",</a:t>
            </a:r>
          </a:p>
          <a:p>
            <a:r>
              <a:rPr lang="en-US" sz="1500">
                <a:solidFill>
                  <a:srgbClr val="CBD5E1"/>
                </a:solidFill>
                <a:latin typeface="Consolas" panose="020B0609020204030204" pitchFamily="49" charset="0"/>
              </a:rPr>
              <a:t>    type=int,</a:t>
            </a:r>
          </a:p>
          <a:p>
            <a:r>
              <a:rPr lang="en-US" sz="1500">
                <a:solidFill>
                  <a:srgbClr val="CBD5E1"/>
                </a:solidFill>
                <a:latin typeface="Consolas" panose="020B0609020204030204" pitchFamily="49" charset="0"/>
              </a:rPr>
              <a:t>    </a:t>
            </a:r>
            <a:r>
              <a:rPr lang="en-US" sz="1500" b="1">
                <a:solidFill>
                  <a:srgbClr val="F5A524"/>
                </a:solidFill>
                <a:latin typeface="Consolas" panose="020B0609020204030204" pitchFamily="49" charset="0"/>
              </a:rPr>
              <a:t>required=True</a:t>
            </a:r>
            <a:r>
              <a:rPr lang="en-US" sz="1500">
                <a:solidFill>
                  <a:srgbClr val="CBD5E1"/>
                </a:solidFill>
                <a:latin typeface="Consolas" panose="020B0609020204030204" pitchFamily="49" charset="0"/>
              </a:rPr>
              <a:t>)</a:t>
            </a:r>
          </a:p>
          <a:p>
            <a:endParaRPr lang="en-US" sz="1500">
              <a:solidFill>
                <a:srgbClr val="CBD5E1"/>
              </a:solidFill>
              <a:latin typeface="Consolas" panose="020B0609020204030204" pitchFamily="49" charset="0"/>
            </a:endParaRPr>
          </a:p>
          <a:p>
            <a:r>
              <a:rPr lang="en-US" sz="1500">
                <a:solidFill>
                  <a:srgbClr val="CBD5E1"/>
                </a:solidFill>
                <a:latin typeface="Consolas" panose="020B0609020204030204" pitchFamily="49" charset="0"/>
              </a:rPr>
              <a:t># before:</a:t>
            </a:r>
          </a:p>
          <a:p>
            <a:r>
              <a:rPr lang="en-US" sz="1500">
                <a:solidFill>
                  <a:srgbClr val="CBD5E1"/>
                </a:solidFill>
                <a:latin typeface="Consolas" panose="020B0609020204030204" pitchFamily="49" charset="0"/>
              </a:rPr>
              <a:t>#   default=10</a:t>
            </a:r>
            <a:endParaRPr lang="en-IN" sz="1500">
              <a:solidFill>
                <a:srgbClr val="CBD5E1"/>
              </a:solidFill>
              <a:latin typeface="Consolas" panose="020B0609020204030204" pitchFamily="49" charset="0"/>
            </a:endParaRPr>
          </a:p>
        </p:txBody>
      </p:sp>
    </p:spTree>
    <p:extLst>
      <p:ext uri="{BB962C8B-B14F-4D97-AF65-F5344CB8AC3E}">
        <p14:creationId xmlns:p14="http://schemas.microsoft.com/office/powerpoint/2010/main" val="30816157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19E7B-6AF8-6C41-519D-413C717F0CEC}"/>
              </a:ext>
            </a:extLst>
          </p:cNvPr>
          <p:cNvSpPr>
            <a:spLocks noGrp="1"/>
          </p:cNvSpPr>
          <p:nvPr>
            <p:ph type="title"/>
          </p:nvPr>
        </p:nvSpPr>
        <p:spPr>
          <a:xfrm>
            <a:off x="609600" y="330200"/>
            <a:ext cx="10972800" cy="787400"/>
          </a:xfrm>
        </p:spPr>
        <p:txBody>
          <a:bodyPr lIns="0" anchor="ctr">
            <a:normAutofit/>
          </a:bodyPr>
          <a:lstStyle/>
          <a:p>
            <a:r>
              <a:rPr lang="en-IN" sz="3400" b="1">
                <a:solidFill>
                  <a:srgbClr val="0B1F33"/>
                </a:solidFill>
                <a:latin typeface="Cambria" panose="02040503050406030204" pitchFamily="18" charset="0"/>
              </a:rPr>
              <a:t>Where M2 stands</a:t>
            </a:r>
          </a:p>
        </p:txBody>
      </p:sp>
      <p:sp>
        <p:nvSpPr>
          <p:cNvPr id="3" name="Rectangle: Rounded Corners 2">
            <a:extLst>
              <a:ext uri="{FF2B5EF4-FFF2-40B4-BE49-F238E27FC236}">
                <a16:creationId xmlns:a16="http://schemas.microsoft.com/office/drawing/2014/main" id="{9F34610F-3068-E95F-5472-7B4D0D288B5C}"/>
              </a:ext>
            </a:extLst>
          </p:cNvPr>
          <p:cNvSpPr/>
          <p:nvPr/>
        </p:nvSpPr>
        <p:spPr>
          <a:xfrm>
            <a:off x="609600" y="1320800"/>
            <a:ext cx="3454400" cy="1498600"/>
          </a:xfrm>
          <a:prstGeom prst="roundRect">
            <a:avLst>
              <a:gd name="adj" fmla="val 6000"/>
            </a:avLst>
          </a:prstGeom>
          <a:solidFill>
            <a:srgbClr val="F4F7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1A2EE190-6234-E318-B07C-E8B9A53C50ED}"/>
              </a:ext>
            </a:extLst>
          </p:cNvPr>
          <p:cNvSpPr txBox="1"/>
          <p:nvPr/>
        </p:nvSpPr>
        <p:spPr>
          <a:xfrm>
            <a:off x="863600" y="1447800"/>
            <a:ext cx="2946400" cy="838200"/>
          </a:xfrm>
          <a:prstGeom prst="rect">
            <a:avLst/>
          </a:prstGeom>
          <a:noFill/>
        </p:spPr>
        <p:txBody>
          <a:bodyPr vert="horz" wrap="square" lIns="0" tIns="0" rIns="0" bIns="0" rtlCol="0" anchor="t">
            <a:noAutofit/>
          </a:bodyPr>
          <a:lstStyle/>
          <a:p>
            <a:r>
              <a:rPr lang="en-IN" sz="4800" b="1">
                <a:solidFill>
                  <a:srgbClr val="0E7C70"/>
                </a:solidFill>
                <a:latin typeface="Cambria" panose="02040503050406030204" pitchFamily="18" charset="0"/>
              </a:rPr>
              <a:t>4</a:t>
            </a:r>
          </a:p>
        </p:txBody>
      </p:sp>
      <p:sp>
        <p:nvSpPr>
          <p:cNvPr id="5" name="TextBox 4">
            <a:extLst>
              <a:ext uri="{FF2B5EF4-FFF2-40B4-BE49-F238E27FC236}">
                <a16:creationId xmlns:a16="http://schemas.microsoft.com/office/drawing/2014/main" id="{219E0EA0-997B-4F7C-50E1-08C7A45DC96C}"/>
              </a:ext>
            </a:extLst>
          </p:cNvPr>
          <p:cNvSpPr txBox="1"/>
          <p:nvPr/>
        </p:nvSpPr>
        <p:spPr>
          <a:xfrm>
            <a:off x="863600" y="2336800"/>
            <a:ext cx="2946400" cy="355600"/>
          </a:xfrm>
          <a:prstGeom prst="rect">
            <a:avLst/>
          </a:prstGeom>
          <a:noFill/>
        </p:spPr>
        <p:txBody>
          <a:bodyPr vert="horz" wrap="square" lIns="0" tIns="0" rIns="0" bIns="0" rtlCol="0" anchor="t">
            <a:noAutofit/>
          </a:bodyPr>
          <a:lstStyle/>
          <a:p>
            <a:r>
              <a:rPr lang="en-IN" sz="1500">
                <a:solidFill>
                  <a:srgbClr val="5B6B7B"/>
                </a:solidFill>
                <a:latin typeface="Calibri" panose="020F0502020204030204" pitchFamily="34" charset="0"/>
              </a:rPr>
              <a:t>files changed</a:t>
            </a:r>
          </a:p>
        </p:txBody>
      </p:sp>
      <p:sp>
        <p:nvSpPr>
          <p:cNvPr id="6" name="Rectangle: Rounded Corners 5">
            <a:extLst>
              <a:ext uri="{FF2B5EF4-FFF2-40B4-BE49-F238E27FC236}">
                <a16:creationId xmlns:a16="http://schemas.microsoft.com/office/drawing/2014/main" id="{E76C3045-F5AC-E771-633C-C8848BB26441}"/>
              </a:ext>
            </a:extLst>
          </p:cNvPr>
          <p:cNvSpPr/>
          <p:nvPr/>
        </p:nvSpPr>
        <p:spPr>
          <a:xfrm>
            <a:off x="4368800" y="1320800"/>
            <a:ext cx="3454400" cy="1498600"/>
          </a:xfrm>
          <a:prstGeom prst="roundRect">
            <a:avLst>
              <a:gd name="adj" fmla="val 6000"/>
            </a:avLst>
          </a:prstGeom>
          <a:solidFill>
            <a:srgbClr val="F4F7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CFDD6E32-5CF5-7135-0FF2-85159E153BA4}"/>
              </a:ext>
            </a:extLst>
          </p:cNvPr>
          <p:cNvSpPr txBox="1"/>
          <p:nvPr/>
        </p:nvSpPr>
        <p:spPr>
          <a:xfrm>
            <a:off x="4622800" y="1447800"/>
            <a:ext cx="2946400" cy="838200"/>
          </a:xfrm>
          <a:prstGeom prst="rect">
            <a:avLst/>
          </a:prstGeom>
          <a:noFill/>
        </p:spPr>
        <p:txBody>
          <a:bodyPr vert="horz" wrap="square" lIns="0" tIns="0" rIns="0" bIns="0" rtlCol="0" anchor="t">
            <a:noAutofit/>
          </a:bodyPr>
          <a:lstStyle/>
          <a:p>
            <a:r>
              <a:rPr lang="en-IN" sz="4800" b="1">
                <a:solidFill>
                  <a:srgbClr val="0E7C70"/>
                </a:solidFill>
                <a:latin typeface="Cambria" panose="02040503050406030204" pitchFamily="18" charset="0"/>
              </a:rPr>
              <a:t>+30</a:t>
            </a:r>
          </a:p>
        </p:txBody>
      </p:sp>
      <p:sp>
        <p:nvSpPr>
          <p:cNvPr id="8" name="TextBox 7">
            <a:extLst>
              <a:ext uri="{FF2B5EF4-FFF2-40B4-BE49-F238E27FC236}">
                <a16:creationId xmlns:a16="http://schemas.microsoft.com/office/drawing/2014/main" id="{E371295E-CD5F-EB98-618C-F53A12F8C093}"/>
              </a:ext>
            </a:extLst>
          </p:cNvPr>
          <p:cNvSpPr txBox="1"/>
          <p:nvPr/>
        </p:nvSpPr>
        <p:spPr>
          <a:xfrm>
            <a:off x="4622800" y="2336800"/>
            <a:ext cx="2946400" cy="355600"/>
          </a:xfrm>
          <a:prstGeom prst="rect">
            <a:avLst/>
          </a:prstGeom>
          <a:noFill/>
        </p:spPr>
        <p:txBody>
          <a:bodyPr vert="horz" wrap="square" lIns="0" tIns="0" rIns="0" bIns="0" rtlCol="0" anchor="t">
            <a:noAutofit/>
          </a:bodyPr>
          <a:lstStyle/>
          <a:p>
            <a:r>
              <a:rPr lang="en-IN" sz="1500">
                <a:solidFill>
                  <a:srgbClr val="5B6B7B"/>
                </a:solidFill>
                <a:latin typeface="Calibri" panose="020F0502020204030204" pitchFamily="34" charset="0"/>
              </a:rPr>
              <a:t>lines added, none removed</a:t>
            </a:r>
          </a:p>
        </p:txBody>
      </p:sp>
      <p:sp>
        <p:nvSpPr>
          <p:cNvPr id="9" name="Rectangle: Rounded Corners 8">
            <a:extLst>
              <a:ext uri="{FF2B5EF4-FFF2-40B4-BE49-F238E27FC236}">
                <a16:creationId xmlns:a16="http://schemas.microsoft.com/office/drawing/2014/main" id="{D2D3D09A-5C2A-2D71-CE62-A06D2BAA1813}"/>
              </a:ext>
            </a:extLst>
          </p:cNvPr>
          <p:cNvSpPr/>
          <p:nvPr/>
        </p:nvSpPr>
        <p:spPr>
          <a:xfrm>
            <a:off x="8128000" y="1320800"/>
            <a:ext cx="3454400" cy="1498600"/>
          </a:xfrm>
          <a:prstGeom prst="roundRect">
            <a:avLst>
              <a:gd name="adj" fmla="val 6000"/>
            </a:avLst>
          </a:prstGeom>
          <a:solidFill>
            <a:srgbClr val="F4F7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B612284B-2D32-D04C-36F4-CA9C0F47A426}"/>
              </a:ext>
            </a:extLst>
          </p:cNvPr>
          <p:cNvSpPr txBox="1"/>
          <p:nvPr/>
        </p:nvSpPr>
        <p:spPr>
          <a:xfrm>
            <a:off x="8382000" y="1447800"/>
            <a:ext cx="2946400" cy="838200"/>
          </a:xfrm>
          <a:prstGeom prst="rect">
            <a:avLst/>
          </a:prstGeom>
          <a:noFill/>
        </p:spPr>
        <p:txBody>
          <a:bodyPr vert="horz" wrap="square" lIns="0" tIns="0" rIns="0" bIns="0" rtlCol="0" anchor="t">
            <a:noAutofit/>
          </a:bodyPr>
          <a:lstStyle/>
          <a:p>
            <a:r>
              <a:rPr lang="en-IN" sz="4800" b="1">
                <a:solidFill>
                  <a:srgbClr val="0E7C70"/>
                </a:solidFill>
                <a:latin typeface="Cambria" panose="02040503050406030204" pitchFamily="18" charset="0"/>
              </a:rPr>
              <a:t>#8233</a:t>
            </a:r>
          </a:p>
        </p:txBody>
      </p:sp>
      <p:sp>
        <p:nvSpPr>
          <p:cNvPr id="11" name="TextBox 10">
            <a:extLst>
              <a:ext uri="{FF2B5EF4-FFF2-40B4-BE49-F238E27FC236}">
                <a16:creationId xmlns:a16="http://schemas.microsoft.com/office/drawing/2014/main" id="{A9915895-9972-427E-6F15-B3DB90AEB840}"/>
              </a:ext>
            </a:extLst>
          </p:cNvPr>
          <p:cNvSpPr txBox="1"/>
          <p:nvPr/>
        </p:nvSpPr>
        <p:spPr>
          <a:xfrm>
            <a:off x="8382000" y="2336800"/>
            <a:ext cx="2946400" cy="355600"/>
          </a:xfrm>
          <a:prstGeom prst="rect">
            <a:avLst/>
          </a:prstGeom>
          <a:noFill/>
        </p:spPr>
        <p:txBody>
          <a:bodyPr vert="horz" wrap="square" lIns="0" tIns="0" rIns="0" bIns="0" rtlCol="0" anchor="t">
            <a:noAutofit/>
          </a:bodyPr>
          <a:lstStyle/>
          <a:p>
            <a:r>
              <a:rPr lang="en-US" sz="1500">
                <a:solidFill>
                  <a:srgbClr val="5B6B7B"/>
                </a:solidFill>
                <a:latin typeface="Calibri" panose="020F0502020204030204" pitchFamily="34" charset="0"/>
              </a:rPr>
              <a:t>pull request to gnuradio/gnuradio</a:t>
            </a:r>
            <a:endParaRPr lang="en-IN" sz="1500">
              <a:solidFill>
                <a:srgbClr val="5B6B7B"/>
              </a:solidFill>
              <a:latin typeface="Calibri" panose="020F0502020204030204" pitchFamily="34" charset="0"/>
            </a:endParaRPr>
          </a:p>
        </p:txBody>
      </p:sp>
      <p:sp>
        <p:nvSpPr>
          <p:cNvPr id="12" name="Rectangle: Rounded Corners 11">
            <a:extLst>
              <a:ext uri="{FF2B5EF4-FFF2-40B4-BE49-F238E27FC236}">
                <a16:creationId xmlns:a16="http://schemas.microsoft.com/office/drawing/2014/main" id="{2C4E6D11-6C65-BCA8-5E0B-CF6696F02B55}"/>
              </a:ext>
            </a:extLst>
          </p:cNvPr>
          <p:cNvSpPr/>
          <p:nvPr/>
        </p:nvSpPr>
        <p:spPr>
          <a:xfrm>
            <a:off x="609600" y="3149600"/>
            <a:ext cx="5384800" cy="2946400"/>
          </a:xfrm>
          <a:prstGeom prst="roundRect">
            <a:avLst>
              <a:gd name="adj" fmla="val 6000"/>
            </a:avLst>
          </a:prstGeom>
          <a:solidFill>
            <a:srgbClr val="F4F7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C62873B7-4EAA-F8AA-EFDE-A7B1D99BA805}"/>
              </a:ext>
            </a:extLst>
          </p:cNvPr>
          <p:cNvSpPr txBox="1"/>
          <p:nvPr/>
        </p:nvSpPr>
        <p:spPr>
          <a:xfrm>
            <a:off x="889000" y="3352800"/>
            <a:ext cx="4826000" cy="330200"/>
          </a:xfrm>
          <a:prstGeom prst="rect">
            <a:avLst/>
          </a:prstGeom>
          <a:noFill/>
        </p:spPr>
        <p:txBody>
          <a:bodyPr vert="horz" wrap="square" lIns="0" tIns="0" rIns="0" bIns="0" rtlCol="0" anchor="t">
            <a:noAutofit/>
          </a:bodyPr>
          <a:lstStyle/>
          <a:p>
            <a:r>
              <a:rPr lang="en-IN" sz="2000" b="1">
                <a:solidFill>
                  <a:srgbClr val="0B1F33"/>
                </a:solidFill>
                <a:latin typeface="Cambria" panose="02040503050406030204" pitchFamily="18" charset="0"/>
              </a:rPr>
              <a:t>Planned in M1</a:t>
            </a:r>
          </a:p>
        </p:txBody>
      </p:sp>
      <p:sp>
        <p:nvSpPr>
          <p:cNvPr id="14" name="TextBox 13">
            <a:extLst>
              <a:ext uri="{FF2B5EF4-FFF2-40B4-BE49-F238E27FC236}">
                <a16:creationId xmlns:a16="http://schemas.microsoft.com/office/drawing/2014/main" id="{112A6B1C-2E5D-CD3E-3F3D-23FB84897B77}"/>
              </a:ext>
            </a:extLst>
          </p:cNvPr>
          <p:cNvSpPr txBox="1"/>
          <p:nvPr/>
        </p:nvSpPr>
        <p:spPr>
          <a:xfrm>
            <a:off x="889000" y="3835400"/>
            <a:ext cx="4826000" cy="2159000"/>
          </a:xfrm>
          <a:prstGeom prst="rect">
            <a:avLst/>
          </a:prstGeom>
          <a:noFill/>
        </p:spPr>
        <p:txBody>
          <a:bodyPr vert="horz" wrap="square" lIns="0" tIns="0" rIns="0" bIns="0" rtlCol="0" anchor="t">
            <a:noAutofit/>
          </a:bodyPr>
          <a:lstStyle/>
          <a:p>
            <a:pPr marL="203200" indent="-203200">
              <a:spcAft>
                <a:spcPts val="800"/>
              </a:spcAft>
              <a:buClr>
                <a:srgbClr val="0E7C70"/>
              </a:buClr>
              <a:buFont typeface="+mj-lt"/>
              <a:buChar char="•"/>
            </a:pPr>
            <a:r>
              <a:rPr lang="en-US" sz="1500">
                <a:solidFill>
                  <a:srgbClr val="0B1F33"/>
                </a:solidFill>
                <a:latin typeface="Calibri" panose="020F0502020204030204" pitchFamily="34" charset="0"/>
              </a:rPr>
              <a:t>Study the source code and issue tracker</a:t>
            </a:r>
          </a:p>
          <a:p>
            <a:pPr marL="203200" indent="-203200">
              <a:spcAft>
                <a:spcPts val="800"/>
              </a:spcAft>
              <a:buClr>
                <a:srgbClr val="0E7C70"/>
              </a:buClr>
              <a:buFont typeface="+mj-lt"/>
              <a:buChar char="•"/>
            </a:pPr>
            <a:r>
              <a:rPr lang="en-US" sz="1500">
                <a:solidFill>
                  <a:srgbClr val="0B1F33"/>
                </a:solidFill>
                <a:latin typeface="Calibri" panose="020F0502020204030204" pitchFamily="34" charset="0"/>
              </a:rPr>
              <a:t>Pick one scoped contribution: a bug fix, a test-suite extension or a block modification</a:t>
            </a:r>
          </a:p>
          <a:p>
            <a:pPr marL="203200" indent="-203200">
              <a:spcAft>
                <a:spcPts val="800"/>
              </a:spcAft>
              <a:buClr>
                <a:srgbClr val="0E7C70"/>
              </a:buClr>
              <a:buFont typeface="+mj-lt"/>
              <a:buChar char="•"/>
            </a:pPr>
            <a:r>
              <a:rPr lang="en-US" sz="1500">
                <a:solidFill>
                  <a:srgbClr val="0B1F33"/>
                </a:solidFill>
                <a:latin typeface="Calibri" panose="020F0502020204030204" pitchFamily="34" charset="0"/>
              </a:rPr>
              <a:t>Start a discussion with maintainers</a:t>
            </a:r>
            <a:endParaRPr lang="en-IN" sz="1500">
              <a:solidFill>
                <a:srgbClr val="0B1F33"/>
              </a:solidFill>
              <a:latin typeface="Calibri" panose="020F0502020204030204" pitchFamily="34" charset="0"/>
            </a:endParaRPr>
          </a:p>
        </p:txBody>
      </p:sp>
      <p:sp>
        <p:nvSpPr>
          <p:cNvPr id="15" name="Rectangle: Rounded Corners 14">
            <a:extLst>
              <a:ext uri="{FF2B5EF4-FFF2-40B4-BE49-F238E27FC236}">
                <a16:creationId xmlns:a16="http://schemas.microsoft.com/office/drawing/2014/main" id="{D0E3A817-9F6E-77F5-41C3-C1E2ED82F128}"/>
              </a:ext>
            </a:extLst>
          </p:cNvPr>
          <p:cNvSpPr/>
          <p:nvPr/>
        </p:nvSpPr>
        <p:spPr>
          <a:xfrm>
            <a:off x="6197600" y="3149600"/>
            <a:ext cx="5384800" cy="2946400"/>
          </a:xfrm>
          <a:prstGeom prst="roundRect">
            <a:avLst>
              <a:gd name="adj" fmla="val 6000"/>
            </a:avLst>
          </a:prstGeom>
          <a:solidFill>
            <a:srgbClr val="12304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EBD6C18B-0978-043D-B5C2-5DCE53145F0D}"/>
              </a:ext>
            </a:extLst>
          </p:cNvPr>
          <p:cNvSpPr txBox="1"/>
          <p:nvPr/>
        </p:nvSpPr>
        <p:spPr>
          <a:xfrm>
            <a:off x="6477000" y="3352800"/>
            <a:ext cx="4826000" cy="330200"/>
          </a:xfrm>
          <a:prstGeom prst="rect">
            <a:avLst/>
          </a:prstGeom>
          <a:noFill/>
        </p:spPr>
        <p:txBody>
          <a:bodyPr vert="horz" wrap="square" lIns="0" tIns="0" rIns="0" bIns="0" rtlCol="0" anchor="t">
            <a:noAutofit/>
          </a:bodyPr>
          <a:lstStyle/>
          <a:p>
            <a:r>
              <a:rPr lang="en-IN" sz="2000" b="1">
                <a:solidFill>
                  <a:srgbClr val="FFFFFF"/>
                </a:solidFill>
                <a:latin typeface="Cambria" panose="02040503050406030204" pitchFamily="18" charset="0"/>
              </a:rPr>
              <a:t>Delivered in M2</a:t>
            </a:r>
          </a:p>
        </p:txBody>
      </p:sp>
      <p:sp>
        <p:nvSpPr>
          <p:cNvPr id="17" name="TextBox 16">
            <a:extLst>
              <a:ext uri="{FF2B5EF4-FFF2-40B4-BE49-F238E27FC236}">
                <a16:creationId xmlns:a16="http://schemas.microsoft.com/office/drawing/2014/main" id="{727CE979-80B2-5667-7F79-D964306C6882}"/>
              </a:ext>
            </a:extLst>
          </p:cNvPr>
          <p:cNvSpPr txBox="1"/>
          <p:nvPr/>
        </p:nvSpPr>
        <p:spPr>
          <a:xfrm>
            <a:off x="6477000" y="3835400"/>
            <a:ext cx="4826000" cy="2159000"/>
          </a:xfrm>
          <a:prstGeom prst="rect">
            <a:avLst/>
          </a:prstGeom>
          <a:noFill/>
        </p:spPr>
        <p:txBody>
          <a:bodyPr vert="horz" wrap="square" lIns="0" tIns="0" rIns="0" bIns="0" rtlCol="0" anchor="t">
            <a:noAutofit/>
          </a:bodyPr>
          <a:lstStyle/>
          <a:p>
            <a:pPr marL="203200" indent="-203200">
              <a:spcAft>
                <a:spcPts val="800"/>
              </a:spcAft>
              <a:buClr>
                <a:srgbClr val="0E7C70"/>
              </a:buClr>
              <a:buFont typeface="+mj-lt"/>
              <a:buChar char="•"/>
            </a:pPr>
            <a:r>
              <a:rPr lang="en-US" sz="1500">
                <a:solidFill>
                  <a:srgbClr val="E2E8F0"/>
                </a:solidFill>
                <a:latin typeface="Calibri" panose="020F0502020204030204" pitchFamily="34" charset="0"/>
              </a:rPr>
              <a:t>A block modification: a Required option on the GRC Parameter block (issue #5096)</a:t>
            </a:r>
          </a:p>
          <a:p>
            <a:pPr marL="203200" indent="-203200">
              <a:spcAft>
                <a:spcPts val="800"/>
              </a:spcAft>
              <a:buClr>
                <a:srgbClr val="0E7C70"/>
              </a:buClr>
              <a:buFont typeface="+mj-lt"/>
              <a:buChar char="•"/>
            </a:pPr>
            <a:r>
              <a:rPr lang="en-US" sz="1500">
                <a:solidFill>
                  <a:srgbClr val="E2E8F0"/>
                </a:solidFill>
                <a:latin typeface="Calibri" panose="020F0502020204030204" pitchFamily="34" charset="0"/>
              </a:rPr>
              <a:t>Tested by hand, signed off under the DCO and pushed to my fork</a:t>
            </a:r>
          </a:p>
          <a:p>
            <a:pPr marL="203200" indent="-203200">
              <a:spcAft>
                <a:spcPts val="800"/>
              </a:spcAft>
              <a:buClr>
                <a:srgbClr val="0E7C70"/>
              </a:buClr>
              <a:buFont typeface="+mj-lt"/>
              <a:buChar char="•"/>
            </a:pPr>
            <a:r>
              <a:rPr lang="en-US" sz="1500">
                <a:solidFill>
                  <a:srgbClr val="E2E8F0"/>
                </a:solidFill>
                <a:latin typeface="Calibri" panose="020F0502020204030204" pitchFamily="34" charset="0"/>
              </a:rPr>
              <a:t>Submitted as PR #8233. Review and CI status are not yet checked</a:t>
            </a:r>
            <a:endParaRPr lang="en-IN" sz="1500">
              <a:solidFill>
                <a:srgbClr val="E2E8F0"/>
              </a:solidFill>
              <a:latin typeface="Calibri" panose="020F0502020204030204" pitchFamily="34" charset="0"/>
            </a:endParaRPr>
          </a:p>
        </p:txBody>
      </p:sp>
      <p:sp>
        <p:nvSpPr>
          <p:cNvPr id="18" name="TextBox 17">
            <a:extLst>
              <a:ext uri="{FF2B5EF4-FFF2-40B4-BE49-F238E27FC236}">
                <a16:creationId xmlns:a16="http://schemas.microsoft.com/office/drawing/2014/main" id="{D3C975F8-F7DA-D6AD-6FC6-6C37A0E73AB5}"/>
              </a:ext>
            </a:extLst>
          </p:cNvPr>
          <p:cNvSpPr txBox="1"/>
          <p:nvPr/>
        </p:nvSpPr>
        <p:spPr>
          <a:xfrm>
            <a:off x="609600" y="6451600"/>
            <a:ext cx="7620000" cy="203200"/>
          </a:xfrm>
          <a:prstGeom prst="rect">
            <a:avLst/>
          </a:prstGeom>
          <a:noFill/>
        </p:spPr>
        <p:txBody>
          <a:bodyPr vert="horz" wrap="square" lIns="0" tIns="0" rIns="0" bIns="0" rtlCol="0" anchor="t">
            <a:noAutofit/>
          </a:bodyPr>
          <a:lstStyle/>
          <a:p>
            <a:r>
              <a:rPr lang="en-IN" sz="1100">
                <a:solidFill>
                  <a:srgbClr val="5B6B7B"/>
                </a:solidFill>
                <a:latin typeface="Calibri" panose="020F0502020204030204" pitchFamily="34" charset="0"/>
              </a:rPr>
              <a:t>Project g16  |  M2 report  |  GNU Radio Companion contribution</a:t>
            </a:r>
          </a:p>
        </p:txBody>
      </p:sp>
      <p:sp>
        <p:nvSpPr>
          <p:cNvPr id="19" name="TextBox 18">
            <a:extLst>
              <a:ext uri="{FF2B5EF4-FFF2-40B4-BE49-F238E27FC236}">
                <a16:creationId xmlns:a16="http://schemas.microsoft.com/office/drawing/2014/main" id="{2CD68490-96BD-74E1-1878-DF16FB9803E6}"/>
              </a:ext>
            </a:extLst>
          </p:cNvPr>
          <p:cNvSpPr txBox="1"/>
          <p:nvPr/>
        </p:nvSpPr>
        <p:spPr>
          <a:xfrm>
            <a:off x="10820400" y="6451600"/>
            <a:ext cx="762000" cy="203200"/>
          </a:xfrm>
          <a:prstGeom prst="rect">
            <a:avLst/>
          </a:prstGeom>
          <a:noFill/>
        </p:spPr>
        <p:txBody>
          <a:bodyPr vert="horz" wrap="square" lIns="0" tIns="0" rIns="0" bIns="0" rtlCol="0" anchor="t">
            <a:noAutofit/>
          </a:bodyPr>
          <a:lstStyle/>
          <a:p>
            <a:pPr algn="r"/>
            <a:r>
              <a:rPr lang="en-IN" sz="1100">
                <a:solidFill>
                  <a:srgbClr val="5B6B7B"/>
                </a:solidFill>
                <a:latin typeface="Calibri" panose="020F0502020204030204" pitchFamily="34" charset="0"/>
              </a:rPr>
              <a:t>2</a:t>
            </a:r>
          </a:p>
        </p:txBody>
      </p:sp>
    </p:spTree>
    <p:extLst>
      <p:ext uri="{BB962C8B-B14F-4D97-AF65-F5344CB8AC3E}">
        <p14:creationId xmlns:p14="http://schemas.microsoft.com/office/powerpoint/2010/main" val="32560531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F7015-8FE7-0671-52F2-AF6DADDD7646}"/>
              </a:ext>
            </a:extLst>
          </p:cNvPr>
          <p:cNvSpPr>
            <a:spLocks noGrp="1"/>
          </p:cNvSpPr>
          <p:nvPr>
            <p:ph type="title"/>
          </p:nvPr>
        </p:nvSpPr>
        <p:spPr>
          <a:xfrm>
            <a:off x="609600" y="330200"/>
            <a:ext cx="10972800" cy="787400"/>
          </a:xfrm>
        </p:spPr>
        <p:txBody>
          <a:bodyPr lIns="0" anchor="ctr">
            <a:normAutofit/>
          </a:bodyPr>
          <a:lstStyle/>
          <a:p>
            <a:r>
              <a:rPr lang="en-US" sz="3400" b="1">
                <a:solidFill>
                  <a:srgbClr val="0B1F33"/>
                </a:solidFill>
                <a:latin typeface="Cambria" panose="02040503050406030204" pitchFamily="18" charset="0"/>
              </a:rPr>
              <a:t>The problem: every parameter was optional</a:t>
            </a:r>
            <a:endParaRPr lang="en-IN" sz="3400" b="1">
              <a:solidFill>
                <a:srgbClr val="0B1F33"/>
              </a:solidFill>
              <a:latin typeface="Cambria" panose="02040503050406030204" pitchFamily="18" charset="0"/>
            </a:endParaRPr>
          </a:p>
        </p:txBody>
      </p:sp>
      <p:sp>
        <p:nvSpPr>
          <p:cNvPr id="3" name="TextBox 2">
            <a:extLst>
              <a:ext uri="{FF2B5EF4-FFF2-40B4-BE49-F238E27FC236}">
                <a16:creationId xmlns:a16="http://schemas.microsoft.com/office/drawing/2014/main" id="{D550CDF4-8CCE-727E-5B61-5460D0111AE9}"/>
              </a:ext>
            </a:extLst>
          </p:cNvPr>
          <p:cNvSpPr txBox="1"/>
          <p:nvPr/>
        </p:nvSpPr>
        <p:spPr>
          <a:xfrm>
            <a:off x="609600" y="1270000"/>
            <a:ext cx="10972800" cy="635000"/>
          </a:xfrm>
          <a:prstGeom prst="rect">
            <a:avLst/>
          </a:prstGeom>
          <a:noFill/>
        </p:spPr>
        <p:txBody>
          <a:bodyPr vert="horz" wrap="square" lIns="0" tIns="0" rIns="0" bIns="0" rtlCol="0" anchor="t">
            <a:noAutofit/>
          </a:bodyPr>
          <a:lstStyle/>
          <a:p>
            <a:r>
              <a:rPr lang="en-US" sz="1600">
                <a:solidFill>
                  <a:srgbClr val="0B1F33"/>
                </a:solidFill>
                <a:latin typeface="Calibri" panose="020F0502020204030204" pitchFamily="34" charset="0"/>
              </a:rPr>
              <a:t>A Parameter block becomes an argparse argument in the generated script. With a default in the definition, the user can leave the argument out and the script silently uses it.</a:t>
            </a:r>
            <a:endParaRPr lang="en-IN" sz="1600">
              <a:solidFill>
                <a:srgbClr val="0B1F33"/>
              </a:solidFill>
              <a:latin typeface="Calibri" panose="020F0502020204030204" pitchFamily="34" charset="0"/>
            </a:endParaRPr>
          </a:p>
        </p:txBody>
      </p:sp>
      <p:sp>
        <p:nvSpPr>
          <p:cNvPr id="4" name="Rectangle: Rounded Corners 3">
            <a:extLst>
              <a:ext uri="{FF2B5EF4-FFF2-40B4-BE49-F238E27FC236}">
                <a16:creationId xmlns:a16="http://schemas.microsoft.com/office/drawing/2014/main" id="{AC66E61B-4D09-B19E-8563-0C9861CFD6B0}"/>
              </a:ext>
            </a:extLst>
          </p:cNvPr>
          <p:cNvSpPr/>
          <p:nvPr/>
        </p:nvSpPr>
        <p:spPr>
          <a:xfrm>
            <a:off x="609600" y="2133600"/>
            <a:ext cx="5384800" cy="2413000"/>
          </a:xfrm>
          <a:prstGeom prst="roundRect">
            <a:avLst>
              <a:gd name="adj" fmla="val 3000"/>
            </a:avLst>
          </a:prstGeom>
          <a:solidFill>
            <a:srgbClr val="0F223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5FC4DA1C-C34D-97D5-93D3-78232AC2F05B}"/>
              </a:ext>
            </a:extLst>
          </p:cNvPr>
          <p:cNvSpPr txBox="1"/>
          <p:nvPr/>
        </p:nvSpPr>
        <p:spPr>
          <a:xfrm>
            <a:off x="812800" y="2260600"/>
            <a:ext cx="4978400" cy="228600"/>
          </a:xfrm>
          <a:prstGeom prst="rect">
            <a:avLst/>
          </a:prstGeom>
          <a:noFill/>
        </p:spPr>
        <p:txBody>
          <a:bodyPr vert="horz" wrap="square" lIns="0" tIns="0" rIns="0" bIns="0" rtlCol="0" anchor="t">
            <a:noAutofit/>
          </a:bodyPr>
          <a:lstStyle/>
          <a:p>
            <a:r>
              <a:rPr lang="en-US" sz="1100">
                <a:solidFill>
                  <a:srgbClr val="7DD3C8"/>
                </a:solidFill>
                <a:latin typeface="Calibri" panose="020F0502020204030204" pitchFamily="34" charset="0"/>
              </a:rPr>
              <a:t>Before: argument always has a default</a:t>
            </a:r>
            <a:endParaRPr lang="en-IN" sz="1100">
              <a:solidFill>
                <a:srgbClr val="7DD3C8"/>
              </a:solidFill>
              <a:latin typeface="Calibri" panose="020F0502020204030204" pitchFamily="34" charset="0"/>
            </a:endParaRPr>
          </a:p>
        </p:txBody>
      </p:sp>
      <p:sp>
        <p:nvSpPr>
          <p:cNvPr id="6" name="TextBox 5">
            <a:extLst>
              <a:ext uri="{FF2B5EF4-FFF2-40B4-BE49-F238E27FC236}">
                <a16:creationId xmlns:a16="http://schemas.microsoft.com/office/drawing/2014/main" id="{756881F0-92AE-104E-B856-9025450E9D59}"/>
              </a:ext>
            </a:extLst>
          </p:cNvPr>
          <p:cNvSpPr txBox="1"/>
          <p:nvPr/>
        </p:nvSpPr>
        <p:spPr>
          <a:xfrm>
            <a:off x="812800" y="2540000"/>
            <a:ext cx="4978400" cy="1905000"/>
          </a:xfrm>
          <a:prstGeom prst="rect">
            <a:avLst/>
          </a:prstGeom>
          <a:noFill/>
        </p:spPr>
        <p:txBody>
          <a:bodyPr vert="horz" wrap="square" lIns="0" tIns="0" rIns="0" bIns="0" rtlCol="0" anchor="t">
            <a:noAutofit/>
          </a:bodyPr>
          <a:lstStyle/>
          <a:p>
            <a:r>
              <a:rPr lang="en-IN" sz="1500">
                <a:solidFill>
                  <a:srgbClr val="CBD5E1"/>
                </a:solidFill>
                <a:latin typeface="Consolas" panose="020B0609020204030204" pitchFamily="49" charset="0"/>
              </a:rPr>
              <a:t>parser.add_argument(</a:t>
            </a:r>
          </a:p>
          <a:p>
            <a:r>
              <a:rPr lang="en-IN" sz="1500">
                <a:solidFill>
                  <a:srgbClr val="CBD5E1"/>
                </a:solidFill>
                <a:latin typeface="Consolas" panose="020B0609020204030204" pitchFamily="49" charset="0"/>
              </a:rPr>
              <a:t>    "--count",</a:t>
            </a:r>
          </a:p>
          <a:p>
            <a:r>
              <a:rPr lang="en-IN" sz="1500">
                <a:solidFill>
                  <a:srgbClr val="CBD5E1"/>
                </a:solidFill>
                <a:latin typeface="Consolas" panose="020B0609020204030204" pitchFamily="49" charset="0"/>
              </a:rPr>
              <a:t>    dest="count",</a:t>
            </a:r>
          </a:p>
          <a:p>
            <a:r>
              <a:rPr lang="en-IN" sz="1500">
                <a:solidFill>
                  <a:srgbClr val="CBD5E1"/>
                </a:solidFill>
                <a:latin typeface="Consolas" panose="020B0609020204030204" pitchFamily="49" charset="0"/>
              </a:rPr>
              <a:t>    type=int,</a:t>
            </a:r>
          </a:p>
          <a:p>
            <a:r>
              <a:rPr lang="en-IN" sz="1500">
                <a:solidFill>
                  <a:srgbClr val="CBD5E1"/>
                </a:solidFill>
                <a:latin typeface="Consolas" panose="020B0609020204030204" pitchFamily="49" charset="0"/>
              </a:rPr>
              <a:t>    </a:t>
            </a:r>
            <a:r>
              <a:rPr lang="en-IN" sz="1500" b="1">
                <a:solidFill>
                  <a:srgbClr val="F5A524"/>
                </a:solidFill>
                <a:latin typeface="Consolas" panose="020B0609020204030204" pitchFamily="49" charset="0"/>
              </a:rPr>
              <a:t>default=10</a:t>
            </a:r>
            <a:r>
              <a:rPr lang="en-IN" sz="1500">
                <a:solidFill>
                  <a:srgbClr val="CBD5E1"/>
                </a:solidFill>
                <a:latin typeface="Consolas" panose="020B0609020204030204" pitchFamily="49" charset="0"/>
              </a:rPr>
              <a:t>)</a:t>
            </a:r>
          </a:p>
        </p:txBody>
      </p:sp>
      <p:sp>
        <p:nvSpPr>
          <p:cNvPr id="7" name="Rectangle: Rounded Corners 6">
            <a:extLst>
              <a:ext uri="{FF2B5EF4-FFF2-40B4-BE49-F238E27FC236}">
                <a16:creationId xmlns:a16="http://schemas.microsoft.com/office/drawing/2014/main" id="{CBF596DB-FDD1-A5B2-E9DE-D0493D013D63}"/>
              </a:ext>
            </a:extLst>
          </p:cNvPr>
          <p:cNvSpPr/>
          <p:nvPr/>
        </p:nvSpPr>
        <p:spPr>
          <a:xfrm>
            <a:off x="6197600" y="2133600"/>
            <a:ext cx="5384800" cy="2413000"/>
          </a:xfrm>
          <a:prstGeom prst="roundRect">
            <a:avLst>
              <a:gd name="adj" fmla="val 3000"/>
            </a:avLst>
          </a:prstGeom>
          <a:solidFill>
            <a:srgbClr val="0F223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FE8031C4-D639-5DD4-DC03-1D8C1CF86629}"/>
              </a:ext>
            </a:extLst>
          </p:cNvPr>
          <p:cNvSpPr txBox="1"/>
          <p:nvPr/>
        </p:nvSpPr>
        <p:spPr>
          <a:xfrm>
            <a:off x="6400800" y="2260600"/>
            <a:ext cx="4978400" cy="228600"/>
          </a:xfrm>
          <a:prstGeom prst="rect">
            <a:avLst/>
          </a:prstGeom>
          <a:noFill/>
        </p:spPr>
        <p:txBody>
          <a:bodyPr vert="horz" wrap="square" lIns="0" tIns="0" rIns="0" bIns="0" rtlCol="0" anchor="t">
            <a:noAutofit/>
          </a:bodyPr>
          <a:lstStyle/>
          <a:p>
            <a:r>
              <a:rPr lang="en-US" sz="1100">
                <a:solidFill>
                  <a:srgbClr val="7DD3C8"/>
                </a:solidFill>
                <a:latin typeface="Calibri" panose="020F0502020204030204" pitchFamily="34" charset="0"/>
              </a:rPr>
              <a:t>After: author can mark it required</a:t>
            </a:r>
            <a:endParaRPr lang="en-IN" sz="1100">
              <a:solidFill>
                <a:srgbClr val="7DD3C8"/>
              </a:solidFill>
              <a:latin typeface="Calibri" panose="020F0502020204030204" pitchFamily="34" charset="0"/>
            </a:endParaRPr>
          </a:p>
        </p:txBody>
      </p:sp>
      <p:sp>
        <p:nvSpPr>
          <p:cNvPr id="9" name="TextBox 8">
            <a:extLst>
              <a:ext uri="{FF2B5EF4-FFF2-40B4-BE49-F238E27FC236}">
                <a16:creationId xmlns:a16="http://schemas.microsoft.com/office/drawing/2014/main" id="{AC5AC824-4D29-42A0-2516-787B5FB94CD9}"/>
              </a:ext>
            </a:extLst>
          </p:cNvPr>
          <p:cNvSpPr txBox="1"/>
          <p:nvPr/>
        </p:nvSpPr>
        <p:spPr>
          <a:xfrm>
            <a:off x="6400800" y="2540000"/>
            <a:ext cx="4978400" cy="1905000"/>
          </a:xfrm>
          <a:prstGeom prst="rect">
            <a:avLst/>
          </a:prstGeom>
          <a:noFill/>
        </p:spPr>
        <p:txBody>
          <a:bodyPr vert="horz" wrap="square" lIns="0" tIns="0" rIns="0" bIns="0" rtlCol="0" anchor="t">
            <a:noAutofit/>
          </a:bodyPr>
          <a:lstStyle/>
          <a:p>
            <a:r>
              <a:rPr lang="en-US" sz="1500">
                <a:solidFill>
                  <a:srgbClr val="CBD5E1"/>
                </a:solidFill>
                <a:latin typeface="Consolas" panose="020B0609020204030204" pitchFamily="49" charset="0"/>
              </a:rPr>
              <a:t>parser.add_argument(</a:t>
            </a:r>
          </a:p>
          <a:p>
            <a:r>
              <a:rPr lang="en-US" sz="1500">
                <a:solidFill>
                  <a:srgbClr val="CBD5E1"/>
                </a:solidFill>
                <a:latin typeface="Consolas" panose="020B0609020204030204" pitchFamily="49" charset="0"/>
              </a:rPr>
              <a:t>    "--count",</a:t>
            </a:r>
          </a:p>
          <a:p>
            <a:r>
              <a:rPr lang="en-US" sz="1500">
                <a:solidFill>
                  <a:srgbClr val="CBD5E1"/>
                </a:solidFill>
                <a:latin typeface="Consolas" panose="020B0609020204030204" pitchFamily="49" charset="0"/>
              </a:rPr>
              <a:t>    dest="count",</a:t>
            </a:r>
          </a:p>
          <a:p>
            <a:r>
              <a:rPr lang="en-US" sz="1500">
                <a:solidFill>
                  <a:srgbClr val="CBD5E1"/>
                </a:solidFill>
                <a:latin typeface="Consolas" panose="020B0609020204030204" pitchFamily="49" charset="0"/>
              </a:rPr>
              <a:t>    type=int,</a:t>
            </a:r>
          </a:p>
          <a:p>
            <a:r>
              <a:rPr lang="en-US" sz="1500">
                <a:solidFill>
                  <a:srgbClr val="CBD5E1"/>
                </a:solidFill>
                <a:latin typeface="Consolas" panose="020B0609020204030204" pitchFamily="49" charset="0"/>
              </a:rPr>
              <a:t>    </a:t>
            </a:r>
            <a:r>
              <a:rPr lang="en-US" sz="1500" b="1">
                <a:solidFill>
                  <a:srgbClr val="4ADE80"/>
                </a:solidFill>
                <a:latin typeface="Consolas" panose="020B0609020204030204" pitchFamily="49" charset="0"/>
              </a:rPr>
              <a:t>required=True</a:t>
            </a:r>
            <a:r>
              <a:rPr lang="en-US" sz="1500">
                <a:solidFill>
                  <a:srgbClr val="CBD5E1"/>
                </a:solidFill>
                <a:latin typeface="Consolas" panose="020B0609020204030204" pitchFamily="49" charset="0"/>
              </a:rPr>
              <a:t>)</a:t>
            </a:r>
            <a:endParaRPr lang="en-IN" sz="1500">
              <a:solidFill>
                <a:srgbClr val="CBD5E1"/>
              </a:solidFill>
              <a:latin typeface="Consolas" panose="020B0609020204030204" pitchFamily="49" charset="0"/>
            </a:endParaRPr>
          </a:p>
        </p:txBody>
      </p:sp>
      <p:sp>
        <p:nvSpPr>
          <p:cNvPr id="10" name="TextBox 9">
            <a:extLst>
              <a:ext uri="{FF2B5EF4-FFF2-40B4-BE49-F238E27FC236}">
                <a16:creationId xmlns:a16="http://schemas.microsoft.com/office/drawing/2014/main" id="{BA9494AF-4B3D-D264-BCBA-9CAF336BAC48}"/>
              </a:ext>
            </a:extLst>
          </p:cNvPr>
          <p:cNvSpPr txBox="1"/>
          <p:nvPr/>
        </p:nvSpPr>
        <p:spPr>
          <a:xfrm>
            <a:off x="609600" y="4826000"/>
            <a:ext cx="5384800" cy="1143000"/>
          </a:xfrm>
          <a:prstGeom prst="rect">
            <a:avLst/>
          </a:prstGeom>
          <a:noFill/>
        </p:spPr>
        <p:txBody>
          <a:bodyPr vert="horz" wrap="square" lIns="0" tIns="0" rIns="0" bIns="0" rtlCol="0" anchor="t">
            <a:noAutofit/>
          </a:bodyPr>
          <a:lstStyle/>
          <a:p>
            <a:r>
              <a:rPr lang="en-US" sz="1600">
                <a:solidFill>
                  <a:srgbClr val="5B6B7B"/>
                </a:solidFill>
                <a:latin typeface="Calibri" panose="020F0502020204030204" pitchFamily="34" charset="0"/>
              </a:rPr>
              <a:t>python3 flowgraph.py</a:t>
            </a:r>
          </a:p>
          <a:p>
            <a:r>
              <a:rPr lang="en-US" sz="1600">
                <a:solidFill>
                  <a:srgbClr val="5B6B7B"/>
                </a:solidFill>
                <a:latin typeface="Calibri" panose="020F0502020204030204" pitchFamily="34" charset="0"/>
              </a:rPr>
              <a:t>runs with count = 10</a:t>
            </a:r>
            <a:endParaRPr lang="en-IN" sz="1600">
              <a:solidFill>
                <a:srgbClr val="5B6B7B"/>
              </a:solidFill>
              <a:latin typeface="Calibri" panose="020F0502020204030204" pitchFamily="34" charset="0"/>
            </a:endParaRPr>
          </a:p>
        </p:txBody>
      </p:sp>
      <p:sp>
        <p:nvSpPr>
          <p:cNvPr id="11" name="TextBox 10">
            <a:extLst>
              <a:ext uri="{FF2B5EF4-FFF2-40B4-BE49-F238E27FC236}">
                <a16:creationId xmlns:a16="http://schemas.microsoft.com/office/drawing/2014/main" id="{407C28CE-7AB5-9BC0-4050-3A8DDDF0B68B}"/>
              </a:ext>
            </a:extLst>
          </p:cNvPr>
          <p:cNvSpPr txBox="1"/>
          <p:nvPr/>
        </p:nvSpPr>
        <p:spPr>
          <a:xfrm>
            <a:off x="6197600" y="4826000"/>
            <a:ext cx="5384800" cy="1143000"/>
          </a:xfrm>
          <a:prstGeom prst="rect">
            <a:avLst/>
          </a:prstGeom>
          <a:noFill/>
        </p:spPr>
        <p:txBody>
          <a:bodyPr vert="horz" wrap="square" lIns="0" tIns="0" rIns="0" bIns="0" rtlCol="0" anchor="t">
            <a:noAutofit/>
          </a:bodyPr>
          <a:lstStyle/>
          <a:p>
            <a:r>
              <a:rPr lang="en-US" sz="1600">
                <a:solidFill>
                  <a:srgbClr val="0B1F33"/>
                </a:solidFill>
                <a:latin typeface="Calibri" panose="020F0502020204030204" pitchFamily="34" charset="0"/>
              </a:rPr>
              <a:t>python3 flowgraph.py</a:t>
            </a:r>
          </a:p>
          <a:p>
            <a:r>
              <a:rPr lang="en-US" sz="1600">
                <a:solidFill>
                  <a:srgbClr val="0B1F33"/>
                </a:solidFill>
                <a:latin typeface="Calibri" panose="020F0502020204030204" pitchFamily="34" charset="0"/>
              </a:rPr>
              <a:t>error: the following arguments are required: --count</a:t>
            </a:r>
            <a:endParaRPr lang="en-IN" sz="1600">
              <a:solidFill>
                <a:srgbClr val="0B1F33"/>
              </a:solidFill>
              <a:latin typeface="Calibri" panose="020F0502020204030204" pitchFamily="34" charset="0"/>
            </a:endParaRPr>
          </a:p>
        </p:txBody>
      </p:sp>
      <p:sp>
        <p:nvSpPr>
          <p:cNvPr id="12" name="TextBox 11">
            <a:extLst>
              <a:ext uri="{FF2B5EF4-FFF2-40B4-BE49-F238E27FC236}">
                <a16:creationId xmlns:a16="http://schemas.microsoft.com/office/drawing/2014/main" id="{099BF3EB-2A6C-2A56-8EC9-4ED895335764}"/>
              </a:ext>
            </a:extLst>
          </p:cNvPr>
          <p:cNvSpPr txBox="1"/>
          <p:nvPr/>
        </p:nvSpPr>
        <p:spPr>
          <a:xfrm>
            <a:off x="609600" y="6451600"/>
            <a:ext cx="7620000" cy="203200"/>
          </a:xfrm>
          <a:prstGeom prst="rect">
            <a:avLst/>
          </a:prstGeom>
          <a:noFill/>
        </p:spPr>
        <p:txBody>
          <a:bodyPr vert="horz" wrap="square" lIns="0" tIns="0" rIns="0" bIns="0" rtlCol="0" anchor="t">
            <a:noAutofit/>
          </a:bodyPr>
          <a:lstStyle/>
          <a:p>
            <a:r>
              <a:rPr lang="en-IN" sz="1100">
                <a:solidFill>
                  <a:srgbClr val="5B6B7B"/>
                </a:solidFill>
                <a:latin typeface="Calibri" panose="020F0502020204030204" pitchFamily="34" charset="0"/>
              </a:rPr>
              <a:t>Project g16  |  M2 report  |  GNU Radio Companion contribution</a:t>
            </a:r>
          </a:p>
        </p:txBody>
      </p:sp>
      <p:sp>
        <p:nvSpPr>
          <p:cNvPr id="13" name="TextBox 12">
            <a:extLst>
              <a:ext uri="{FF2B5EF4-FFF2-40B4-BE49-F238E27FC236}">
                <a16:creationId xmlns:a16="http://schemas.microsoft.com/office/drawing/2014/main" id="{08BE9087-1989-2C12-50E5-E2DE811AE9FA}"/>
              </a:ext>
            </a:extLst>
          </p:cNvPr>
          <p:cNvSpPr txBox="1"/>
          <p:nvPr/>
        </p:nvSpPr>
        <p:spPr>
          <a:xfrm>
            <a:off x="10820400" y="6451600"/>
            <a:ext cx="762000" cy="203200"/>
          </a:xfrm>
          <a:prstGeom prst="rect">
            <a:avLst/>
          </a:prstGeom>
          <a:noFill/>
        </p:spPr>
        <p:txBody>
          <a:bodyPr vert="horz" wrap="square" lIns="0" tIns="0" rIns="0" bIns="0" rtlCol="0" anchor="t">
            <a:noAutofit/>
          </a:bodyPr>
          <a:lstStyle/>
          <a:p>
            <a:pPr algn="r"/>
            <a:r>
              <a:rPr lang="en-IN" sz="1100">
                <a:solidFill>
                  <a:srgbClr val="5B6B7B"/>
                </a:solidFill>
                <a:latin typeface="Calibri" panose="020F0502020204030204" pitchFamily="34" charset="0"/>
              </a:rPr>
              <a:t>3</a:t>
            </a:r>
          </a:p>
        </p:txBody>
      </p:sp>
    </p:spTree>
    <p:extLst>
      <p:ext uri="{BB962C8B-B14F-4D97-AF65-F5344CB8AC3E}">
        <p14:creationId xmlns:p14="http://schemas.microsoft.com/office/powerpoint/2010/main" val="543564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65C05-ACE9-FB56-52CF-CCFED27825CB}"/>
              </a:ext>
            </a:extLst>
          </p:cNvPr>
          <p:cNvSpPr>
            <a:spLocks noGrp="1"/>
          </p:cNvSpPr>
          <p:nvPr>
            <p:ph type="title"/>
          </p:nvPr>
        </p:nvSpPr>
        <p:spPr>
          <a:xfrm>
            <a:off x="609600" y="330200"/>
            <a:ext cx="10972800" cy="787400"/>
          </a:xfrm>
        </p:spPr>
        <p:txBody>
          <a:bodyPr lIns="0" anchor="ctr">
            <a:normAutofit/>
          </a:bodyPr>
          <a:lstStyle/>
          <a:p>
            <a:r>
              <a:rPr lang="en-US" sz="3400" b="1">
                <a:solidFill>
                  <a:srgbClr val="0B1F33"/>
                </a:solidFill>
                <a:latin typeface="Cambria" panose="02040503050406030204" pitchFamily="18" charset="0"/>
              </a:rPr>
              <a:t>How a GRC setting becomes a command-line rule</a:t>
            </a:r>
            <a:endParaRPr lang="en-IN" sz="3400" b="1">
              <a:solidFill>
                <a:srgbClr val="0B1F33"/>
              </a:solidFill>
              <a:latin typeface="Cambria" panose="02040503050406030204" pitchFamily="18" charset="0"/>
            </a:endParaRPr>
          </a:p>
        </p:txBody>
      </p:sp>
      <p:sp>
        <p:nvSpPr>
          <p:cNvPr id="3" name="Rectangle: Rounded Corners 2">
            <a:extLst>
              <a:ext uri="{FF2B5EF4-FFF2-40B4-BE49-F238E27FC236}">
                <a16:creationId xmlns:a16="http://schemas.microsoft.com/office/drawing/2014/main" id="{C51365E3-C093-35DE-529F-DA050D128653}"/>
              </a:ext>
            </a:extLst>
          </p:cNvPr>
          <p:cNvSpPr/>
          <p:nvPr/>
        </p:nvSpPr>
        <p:spPr>
          <a:xfrm>
            <a:off x="609600" y="1651000"/>
            <a:ext cx="3200400" cy="2921000"/>
          </a:xfrm>
          <a:prstGeom prst="roundRect">
            <a:avLst>
              <a:gd name="adj" fmla="val 6000"/>
            </a:avLst>
          </a:prstGeom>
          <a:solidFill>
            <a:srgbClr val="F4F7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Oval 3">
            <a:extLst>
              <a:ext uri="{FF2B5EF4-FFF2-40B4-BE49-F238E27FC236}">
                <a16:creationId xmlns:a16="http://schemas.microsoft.com/office/drawing/2014/main" id="{9FC82D10-2901-1BF4-0672-FA20B420E455}"/>
              </a:ext>
            </a:extLst>
          </p:cNvPr>
          <p:cNvSpPr/>
          <p:nvPr/>
        </p:nvSpPr>
        <p:spPr>
          <a:xfrm>
            <a:off x="863600" y="1879600"/>
            <a:ext cx="558800" cy="558800"/>
          </a:xfrm>
          <a:prstGeom prst="ellipse">
            <a:avLst/>
          </a:prstGeom>
          <a:solidFill>
            <a:srgbClr val="14B8A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2000" b="1">
                <a:solidFill>
                  <a:srgbClr val="0B1F33"/>
                </a:solidFill>
                <a:latin typeface="Cambria" panose="02040503050406030204" pitchFamily="18" charset="0"/>
              </a:rPr>
              <a:t>1</a:t>
            </a:r>
          </a:p>
        </p:txBody>
      </p:sp>
      <p:sp>
        <p:nvSpPr>
          <p:cNvPr id="5" name="TextBox 4">
            <a:extLst>
              <a:ext uri="{FF2B5EF4-FFF2-40B4-BE49-F238E27FC236}">
                <a16:creationId xmlns:a16="http://schemas.microsoft.com/office/drawing/2014/main" id="{17434F89-29AF-2137-9FEC-C94F883A1EB3}"/>
              </a:ext>
            </a:extLst>
          </p:cNvPr>
          <p:cNvSpPr txBox="1"/>
          <p:nvPr/>
        </p:nvSpPr>
        <p:spPr>
          <a:xfrm>
            <a:off x="863600" y="2641600"/>
            <a:ext cx="2692400" cy="355600"/>
          </a:xfrm>
          <a:prstGeom prst="rect">
            <a:avLst/>
          </a:prstGeom>
          <a:noFill/>
        </p:spPr>
        <p:txBody>
          <a:bodyPr vert="horz" wrap="square" lIns="0" tIns="0" rIns="0" bIns="0" rtlCol="0" anchor="t">
            <a:noAutofit/>
          </a:bodyPr>
          <a:lstStyle/>
          <a:p>
            <a:r>
              <a:rPr lang="en-IN" b="1">
                <a:solidFill>
                  <a:srgbClr val="0B1F33"/>
                </a:solidFill>
                <a:latin typeface="Cambria" panose="02040503050406030204" pitchFamily="18" charset="0"/>
              </a:rPr>
              <a:t>parameter.block.yml</a:t>
            </a:r>
          </a:p>
        </p:txBody>
      </p:sp>
      <p:sp>
        <p:nvSpPr>
          <p:cNvPr id="6" name="TextBox 5">
            <a:extLst>
              <a:ext uri="{FF2B5EF4-FFF2-40B4-BE49-F238E27FC236}">
                <a16:creationId xmlns:a16="http://schemas.microsoft.com/office/drawing/2014/main" id="{18530B2B-75D2-E77A-D178-A95D397B13DB}"/>
              </a:ext>
            </a:extLst>
          </p:cNvPr>
          <p:cNvSpPr txBox="1"/>
          <p:nvPr/>
        </p:nvSpPr>
        <p:spPr>
          <a:xfrm>
            <a:off x="863600" y="3124200"/>
            <a:ext cx="2692400" cy="1524000"/>
          </a:xfrm>
          <a:prstGeom prst="rect">
            <a:avLst/>
          </a:prstGeom>
          <a:noFill/>
        </p:spPr>
        <p:txBody>
          <a:bodyPr vert="horz" wrap="square" lIns="0" tIns="0" rIns="0" bIns="0" rtlCol="0" anchor="t">
            <a:noAutofit/>
          </a:bodyPr>
          <a:lstStyle/>
          <a:p>
            <a:r>
              <a:rPr lang="en-US" sz="1500">
                <a:solidFill>
                  <a:srgbClr val="5B6B7B"/>
                </a:solidFill>
                <a:latin typeface="Calibri" panose="020F0502020204030204" pitchFamily="34" charset="0"/>
              </a:rPr>
              <a:t>Adds a Required field to the Parameter block. Default is Optional.</a:t>
            </a:r>
            <a:endParaRPr lang="en-IN" sz="1500">
              <a:solidFill>
                <a:srgbClr val="5B6B7B"/>
              </a:solidFill>
              <a:latin typeface="Calibri" panose="020F0502020204030204" pitchFamily="34" charset="0"/>
            </a:endParaRPr>
          </a:p>
        </p:txBody>
      </p:sp>
      <p:sp>
        <p:nvSpPr>
          <p:cNvPr id="7" name="Arrow: Right 6">
            <a:extLst>
              <a:ext uri="{FF2B5EF4-FFF2-40B4-BE49-F238E27FC236}">
                <a16:creationId xmlns:a16="http://schemas.microsoft.com/office/drawing/2014/main" id="{765F9E8C-F38A-FEA5-CC63-D3889A7B1FCB}"/>
              </a:ext>
            </a:extLst>
          </p:cNvPr>
          <p:cNvSpPr/>
          <p:nvPr/>
        </p:nvSpPr>
        <p:spPr>
          <a:xfrm>
            <a:off x="3886200" y="3022600"/>
            <a:ext cx="508000" cy="381000"/>
          </a:xfrm>
          <a:prstGeom prst="rightArrow">
            <a:avLst/>
          </a:prstGeom>
          <a:solidFill>
            <a:srgbClr val="14B8A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Rounded Corners 7">
            <a:extLst>
              <a:ext uri="{FF2B5EF4-FFF2-40B4-BE49-F238E27FC236}">
                <a16:creationId xmlns:a16="http://schemas.microsoft.com/office/drawing/2014/main" id="{5AFED1DE-7F3A-19D8-A13C-467D20D0CE59}"/>
              </a:ext>
            </a:extLst>
          </p:cNvPr>
          <p:cNvSpPr/>
          <p:nvPr/>
        </p:nvSpPr>
        <p:spPr>
          <a:xfrm>
            <a:off x="4495800" y="1651000"/>
            <a:ext cx="3200400" cy="2921000"/>
          </a:xfrm>
          <a:prstGeom prst="roundRect">
            <a:avLst>
              <a:gd name="adj" fmla="val 6000"/>
            </a:avLst>
          </a:prstGeom>
          <a:solidFill>
            <a:srgbClr val="F4F7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a:extLst>
              <a:ext uri="{FF2B5EF4-FFF2-40B4-BE49-F238E27FC236}">
                <a16:creationId xmlns:a16="http://schemas.microsoft.com/office/drawing/2014/main" id="{78EDF211-0156-25A0-0492-1B28B090EC6E}"/>
              </a:ext>
            </a:extLst>
          </p:cNvPr>
          <p:cNvSpPr/>
          <p:nvPr/>
        </p:nvSpPr>
        <p:spPr>
          <a:xfrm>
            <a:off x="4749800" y="1879600"/>
            <a:ext cx="558800" cy="558800"/>
          </a:xfrm>
          <a:prstGeom prst="ellipse">
            <a:avLst/>
          </a:prstGeom>
          <a:solidFill>
            <a:srgbClr val="14B8A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2000" b="1">
                <a:solidFill>
                  <a:srgbClr val="0B1F33"/>
                </a:solidFill>
                <a:latin typeface="Cambria" panose="02040503050406030204" pitchFamily="18" charset="0"/>
              </a:rPr>
              <a:t>2</a:t>
            </a:r>
          </a:p>
        </p:txBody>
      </p:sp>
      <p:sp>
        <p:nvSpPr>
          <p:cNvPr id="10" name="TextBox 9">
            <a:extLst>
              <a:ext uri="{FF2B5EF4-FFF2-40B4-BE49-F238E27FC236}">
                <a16:creationId xmlns:a16="http://schemas.microsoft.com/office/drawing/2014/main" id="{220F9F03-2EE5-8AB8-2BF1-F9A0B3110F4A}"/>
              </a:ext>
            </a:extLst>
          </p:cNvPr>
          <p:cNvSpPr txBox="1"/>
          <p:nvPr/>
        </p:nvSpPr>
        <p:spPr>
          <a:xfrm>
            <a:off x="4749800" y="2641600"/>
            <a:ext cx="2692400" cy="355600"/>
          </a:xfrm>
          <a:prstGeom prst="rect">
            <a:avLst/>
          </a:prstGeom>
          <a:noFill/>
        </p:spPr>
        <p:txBody>
          <a:bodyPr vert="horz" wrap="square" lIns="0" tIns="0" rIns="0" bIns="0" rtlCol="0" anchor="t">
            <a:noAutofit/>
          </a:bodyPr>
          <a:lstStyle/>
          <a:p>
            <a:r>
              <a:rPr lang="en-IN" b="1">
                <a:solidFill>
                  <a:srgbClr val="0B1F33"/>
                </a:solidFill>
                <a:latin typeface="Cambria" panose="02040503050406030204" pitchFamily="18" charset="0"/>
              </a:rPr>
              <a:t>Mako templates</a:t>
            </a:r>
          </a:p>
        </p:txBody>
      </p:sp>
      <p:sp>
        <p:nvSpPr>
          <p:cNvPr id="11" name="TextBox 10">
            <a:extLst>
              <a:ext uri="{FF2B5EF4-FFF2-40B4-BE49-F238E27FC236}">
                <a16:creationId xmlns:a16="http://schemas.microsoft.com/office/drawing/2014/main" id="{6D560D11-C820-74EF-71DB-48D0BF7372F9}"/>
              </a:ext>
            </a:extLst>
          </p:cNvPr>
          <p:cNvSpPr txBox="1"/>
          <p:nvPr/>
        </p:nvSpPr>
        <p:spPr>
          <a:xfrm>
            <a:off x="4749800" y="3124200"/>
            <a:ext cx="2692400" cy="1524000"/>
          </a:xfrm>
          <a:prstGeom prst="rect">
            <a:avLst/>
          </a:prstGeom>
          <a:noFill/>
        </p:spPr>
        <p:txBody>
          <a:bodyPr vert="horz" wrap="square" lIns="0" tIns="0" rIns="0" bIns="0" rtlCol="0" anchor="t">
            <a:noAutofit/>
          </a:bodyPr>
          <a:lstStyle/>
          <a:p>
            <a:r>
              <a:rPr lang="en-US" sz="1500">
                <a:solidFill>
                  <a:srgbClr val="5B6B7B"/>
                </a:solidFill>
                <a:latin typeface="Calibri" panose="020F0502020204030204" pitchFamily="34" charset="0"/>
              </a:rPr>
              <a:t>Read the field and pick which add_argument call to write. Three templates: no GUI, Qt GUI, Bokeh GUI.</a:t>
            </a:r>
            <a:endParaRPr lang="en-IN" sz="1500">
              <a:solidFill>
                <a:srgbClr val="5B6B7B"/>
              </a:solidFill>
              <a:latin typeface="Calibri" panose="020F0502020204030204" pitchFamily="34" charset="0"/>
            </a:endParaRPr>
          </a:p>
        </p:txBody>
      </p:sp>
      <p:sp>
        <p:nvSpPr>
          <p:cNvPr id="12" name="Arrow: Right 11">
            <a:extLst>
              <a:ext uri="{FF2B5EF4-FFF2-40B4-BE49-F238E27FC236}">
                <a16:creationId xmlns:a16="http://schemas.microsoft.com/office/drawing/2014/main" id="{85BE27E2-7A80-7F4A-BDAC-E14F17B2E146}"/>
              </a:ext>
            </a:extLst>
          </p:cNvPr>
          <p:cNvSpPr/>
          <p:nvPr/>
        </p:nvSpPr>
        <p:spPr>
          <a:xfrm>
            <a:off x="7772400" y="3022600"/>
            <a:ext cx="508000" cy="381000"/>
          </a:xfrm>
          <a:prstGeom prst="rightArrow">
            <a:avLst/>
          </a:prstGeom>
          <a:solidFill>
            <a:srgbClr val="14B8A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Rounded Corners 12">
            <a:extLst>
              <a:ext uri="{FF2B5EF4-FFF2-40B4-BE49-F238E27FC236}">
                <a16:creationId xmlns:a16="http://schemas.microsoft.com/office/drawing/2014/main" id="{A6FDCDC6-B201-7C45-87DF-6BF5015B2187}"/>
              </a:ext>
            </a:extLst>
          </p:cNvPr>
          <p:cNvSpPr/>
          <p:nvPr/>
        </p:nvSpPr>
        <p:spPr>
          <a:xfrm>
            <a:off x="8382000" y="1651000"/>
            <a:ext cx="3200400" cy="2921000"/>
          </a:xfrm>
          <a:prstGeom prst="roundRect">
            <a:avLst>
              <a:gd name="adj" fmla="val 6000"/>
            </a:avLst>
          </a:prstGeom>
          <a:solidFill>
            <a:srgbClr val="F4F7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id="{85B4C498-D6DE-F3F9-BD24-2F1E44A03272}"/>
              </a:ext>
            </a:extLst>
          </p:cNvPr>
          <p:cNvSpPr/>
          <p:nvPr/>
        </p:nvSpPr>
        <p:spPr>
          <a:xfrm>
            <a:off x="8636000" y="1879600"/>
            <a:ext cx="558800" cy="558800"/>
          </a:xfrm>
          <a:prstGeom prst="ellipse">
            <a:avLst/>
          </a:prstGeom>
          <a:solidFill>
            <a:srgbClr val="14B8A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2000" b="1">
                <a:solidFill>
                  <a:srgbClr val="0B1F33"/>
                </a:solidFill>
                <a:latin typeface="Cambria" panose="02040503050406030204" pitchFamily="18" charset="0"/>
              </a:rPr>
              <a:t>3</a:t>
            </a:r>
          </a:p>
        </p:txBody>
      </p:sp>
      <p:sp>
        <p:nvSpPr>
          <p:cNvPr id="15" name="TextBox 14">
            <a:extLst>
              <a:ext uri="{FF2B5EF4-FFF2-40B4-BE49-F238E27FC236}">
                <a16:creationId xmlns:a16="http://schemas.microsoft.com/office/drawing/2014/main" id="{806A0E85-801B-4E85-A568-6E6B223A8E72}"/>
              </a:ext>
            </a:extLst>
          </p:cNvPr>
          <p:cNvSpPr txBox="1"/>
          <p:nvPr/>
        </p:nvSpPr>
        <p:spPr>
          <a:xfrm>
            <a:off x="8636000" y="2641600"/>
            <a:ext cx="2692400" cy="355600"/>
          </a:xfrm>
          <a:prstGeom prst="rect">
            <a:avLst/>
          </a:prstGeom>
          <a:noFill/>
        </p:spPr>
        <p:txBody>
          <a:bodyPr vert="horz" wrap="square" lIns="0" tIns="0" rIns="0" bIns="0" rtlCol="0" anchor="t">
            <a:noAutofit/>
          </a:bodyPr>
          <a:lstStyle/>
          <a:p>
            <a:r>
              <a:rPr lang="en-IN" b="1">
                <a:solidFill>
                  <a:srgbClr val="0B1F33"/>
                </a:solidFill>
                <a:latin typeface="Cambria" panose="02040503050406030204" pitchFamily="18" charset="0"/>
              </a:rPr>
              <a:t>Generated Python script</a:t>
            </a:r>
          </a:p>
        </p:txBody>
      </p:sp>
      <p:sp>
        <p:nvSpPr>
          <p:cNvPr id="16" name="TextBox 15">
            <a:extLst>
              <a:ext uri="{FF2B5EF4-FFF2-40B4-BE49-F238E27FC236}">
                <a16:creationId xmlns:a16="http://schemas.microsoft.com/office/drawing/2014/main" id="{6FF1383E-E25E-2A4F-1739-9A2D618EBF70}"/>
              </a:ext>
            </a:extLst>
          </p:cNvPr>
          <p:cNvSpPr txBox="1"/>
          <p:nvPr/>
        </p:nvSpPr>
        <p:spPr>
          <a:xfrm>
            <a:off x="8636000" y="3124200"/>
            <a:ext cx="2692400" cy="1524000"/>
          </a:xfrm>
          <a:prstGeom prst="rect">
            <a:avLst/>
          </a:prstGeom>
          <a:noFill/>
        </p:spPr>
        <p:txBody>
          <a:bodyPr vert="horz" wrap="square" lIns="0" tIns="0" rIns="0" bIns="0" rtlCol="0" anchor="t">
            <a:noAutofit/>
          </a:bodyPr>
          <a:lstStyle/>
          <a:p>
            <a:r>
              <a:rPr lang="en-US" sz="1500">
                <a:solidFill>
                  <a:srgbClr val="5B6B7B"/>
                </a:solidFill>
                <a:latin typeface="Calibri" panose="020F0502020204030204" pitchFamily="34" charset="0"/>
              </a:rPr>
              <a:t>argparse gets required=True, or keeps default=... for optional parameters.</a:t>
            </a:r>
            <a:endParaRPr lang="en-IN" sz="1500">
              <a:solidFill>
                <a:srgbClr val="5B6B7B"/>
              </a:solidFill>
              <a:latin typeface="Calibri" panose="020F0502020204030204" pitchFamily="34" charset="0"/>
            </a:endParaRPr>
          </a:p>
        </p:txBody>
      </p:sp>
      <p:sp>
        <p:nvSpPr>
          <p:cNvPr id="17" name="TextBox 16">
            <a:extLst>
              <a:ext uri="{FF2B5EF4-FFF2-40B4-BE49-F238E27FC236}">
                <a16:creationId xmlns:a16="http://schemas.microsoft.com/office/drawing/2014/main" id="{6E9E19AA-20B9-69C5-16A2-2651399A4F29}"/>
              </a:ext>
            </a:extLst>
          </p:cNvPr>
          <p:cNvSpPr txBox="1"/>
          <p:nvPr/>
        </p:nvSpPr>
        <p:spPr>
          <a:xfrm>
            <a:off x="609600" y="5181600"/>
            <a:ext cx="10972800" cy="762000"/>
          </a:xfrm>
          <a:prstGeom prst="rect">
            <a:avLst/>
          </a:prstGeom>
          <a:noFill/>
        </p:spPr>
        <p:txBody>
          <a:bodyPr vert="horz" wrap="square" lIns="0" tIns="0" rIns="0" bIns="0" rtlCol="0" anchor="t">
            <a:noAutofit/>
          </a:bodyPr>
          <a:lstStyle/>
          <a:p>
            <a:r>
              <a:rPr lang="en-US">
                <a:solidFill>
                  <a:srgbClr val="0B1F33"/>
                </a:solidFill>
                <a:latin typeface="Calibri" panose="020F0502020204030204" pitchFamily="34" charset="0"/>
              </a:rPr>
              <a:t>The default stays Optional, so a parameter only becomes mandatory when the author asks for it.</a:t>
            </a:r>
            <a:endParaRPr lang="en-IN">
              <a:solidFill>
                <a:srgbClr val="0B1F33"/>
              </a:solidFill>
              <a:latin typeface="Calibri" panose="020F0502020204030204" pitchFamily="34" charset="0"/>
            </a:endParaRPr>
          </a:p>
        </p:txBody>
      </p:sp>
      <p:sp>
        <p:nvSpPr>
          <p:cNvPr id="18" name="TextBox 17">
            <a:extLst>
              <a:ext uri="{FF2B5EF4-FFF2-40B4-BE49-F238E27FC236}">
                <a16:creationId xmlns:a16="http://schemas.microsoft.com/office/drawing/2014/main" id="{2A01BE46-44BB-765B-3619-7732B9822342}"/>
              </a:ext>
            </a:extLst>
          </p:cNvPr>
          <p:cNvSpPr txBox="1"/>
          <p:nvPr/>
        </p:nvSpPr>
        <p:spPr>
          <a:xfrm>
            <a:off x="609600" y="6451600"/>
            <a:ext cx="7620000" cy="203200"/>
          </a:xfrm>
          <a:prstGeom prst="rect">
            <a:avLst/>
          </a:prstGeom>
          <a:noFill/>
        </p:spPr>
        <p:txBody>
          <a:bodyPr vert="horz" wrap="square" lIns="0" tIns="0" rIns="0" bIns="0" rtlCol="0" anchor="t">
            <a:noAutofit/>
          </a:bodyPr>
          <a:lstStyle/>
          <a:p>
            <a:r>
              <a:rPr lang="en-IN" sz="1100">
                <a:solidFill>
                  <a:srgbClr val="5B6B7B"/>
                </a:solidFill>
                <a:latin typeface="Calibri" panose="020F0502020204030204" pitchFamily="34" charset="0"/>
              </a:rPr>
              <a:t>Project g16  |  M2 report  |  GNU Radio Companion contribution</a:t>
            </a:r>
          </a:p>
        </p:txBody>
      </p:sp>
      <p:sp>
        <p:nvSpPr>
          <p:cNvPr id="19" name="TextBox 18">
            <a:extLst>
              <a:ext uri="{FF2B5EF4-FFF2-40B4-BE49-F238E27FC236}">
                <a16:creationId xmlns:a16="http://schemas.microsoft.com/office/drawing/2014/main" id="{66310B95-AC7B-9C82-B1EC-73C6564B22CC}"/>
              </a:ext>
            </a:extLst>
          </p:cNvPr>
          <p:cNvSpPr txBox="1"/>
          <p:nvPr/>
        </p:nvSpPr>
        <p:spPr>
          <a:xfrm>
            <a:off x="10820400" y="6451600"/>
            <a:ext cx="762000" cy="203200"/>
          </a:xfrm>
          <a:prstGeom prst="rect">
            <a:avLst/>
          </a:prstGeom>
          <a:noFill/>
        </p:spPr>
        <p:txBody>
          <a:bodyPr vert="horz" wrap="square" lIns="0" tIns="0" rIns="0" bIns="0" rtlCol="0" anchor="t">
            <a:noAutofit/>
          </a:bodyPr>
          <a:lstStyle/>
          <a:p>
            <a:pPr algn="r"/>
            <a:r>
              <a:rPr lang="en-IN" sz="1100">
                <a:solidFill>
                  <a:srgbClr val="5B6B7B"/>
                </a:solidFill>
                <a:latin typeface="Calibri" panose="020F0502020204030204" pitchFamily="34" charset="0"/>
              </a:rPr>
              <a:t>4</a:t>
            </a:r>
          </a:p>
        </p:txBody>
      </p:sp>
    </p:spTree>
    <p:extLst>
      <p:ext uri="{BB962C8B-B14F-4D97-AF65-F5344CB8AC3E}">
        <p14:creationId xmlns:p14="http://schemas.microsoft.com/office/powerpoint/2010/main" val="6769058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D2087-6328-596E-0F54-793C44F5F1FC}"/>
              </a:ext>
            </a:extLst>
          </p:cNvPr>
          <p:cNvSpPr>
            <a:spLocks noGrp="1"/>
          </p:cNvSpPr>
          <p:nvPr>
            <p:ph type="title"/>
          </p:nvPr>
        </p:nvSpPr>
        <p:spPr>
          <a:xfrm>
            <a:off x="609600" y="330200"/>
            <a:ext cx="10972800" cy="787400"/>
          </a:xfrm>
        </p:spPr>
        <p:txBody>
          <a:bodyPr lIns="0" anchor="ctr">
            <a:normAutofit/>
          </a:bodyPr>
          <a:lstStyle/>
          <a:p>
            <a:r>
              <a:rPr lang="en-IN" sz="3400" b="1">
                <a:solidFill>
                  <a:srgbClr val="0B1F33"/>
                </a:solidFill>
                <a:latin typeface="Cambria" panose="02040503050406030204" pitchFamily="18" charset="0"/>
              </a:rPr>
              <a:t>Code 1: the block definition</a:t>
            </a:r>
          </a:p>
        </p:txBody>
      </p:sp>
      <p:sp>
        <p:nvSpPr>
          <p:cNvPr id="3" name="Rectangle: Rounded Corners 2">
            <a:extLst>
              <a:ext uri="{FF2B5EF4-FFF2-40B4-BE49-F238E27FC236}">
                <a16:creationId xmlns:a16="http://schemas.microsoft.com/office/drawing/2014/main" id="{C3D93C25-E77A-383C-2F1E-B4EB5E37E173}"/>
              </a:ext>
            </a:extLst>
          </p:cNvPr>
          <p:cNvSpPr/>
          <p:nvPr/>
        </p:nvSpPr>
        <p:spPr>
          <a:xfrm>
            <a:off x="609600" y="1270000"/>
            <a:ext cx="5969000" cy="2921000"/>
          </a:xfrm>
          <a:prstGeom prst="roundRect">
            <a:avLst>
              <a:gd name="adj" fmla="val 3000"/>
            </a:avLst>
          </a:prstGeom>
          <a:solidFill>
            <a:srgbClr val="0F223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BFFCA7C6-71E4-2D96-1533-A254A479434D}"/>
              </a:ext>
            </a:extLst>
          </p:cNvPr>
          <p:cNvSpPr txBox="1"/>
          <p:nvPr/>
        </p:nvSpPr>
        <p:spPr>
          <a:xfrm>
            <a:off x="812800" y="1397000"/>
            <a:ext cx="5562600" cy="228600"/>
          </a:xfrm>
          <a:prstGeom prst="rect">
            <a:avLst/>
          </a:prstGeom>
          <a:noFill/>
        </p:spPr>
        <p:txBody>
          <a:bodyPr vert="horz" wrap="square" lIns="0" tIns="0" rIns="0" bIns="0" rtlCol="0" anchor="t">
            <a:noAutofit/>
          </a:bodyPr>
          <a:lstStyle/>
          <a:p>
            <a:r>
              <a:rPr lang="sv-SE" sz="1100">
                <a:solidFill>
                  <a:srgbClr val="7DD3C8"/>
                </a:solidFill>
                <a:latin typeface="Calibri" panose="020F0502020204030204" pitchFamily="34" charset="0"/>
              </a:rPr>
              <a:t>grc/blocks/parameter.block.yml</a:t>
            </a:r>
            <a:endParaRPr lang="en-IN" sz="1100">
              <a:solidFill>
                <a:srgbClr val="7DD3C8"/>
              </a:solidFill>
              <a:latin typeface="Calibri" panose="020F0502020204030204" pitchFamily="34" charset="0"/>
            </a:endParaRPr>
          </a:p>
        </p:txBody>
      </p:sp>
      <p:sp>
        <p:nvSpPr>
          <p:cNvPr id="5" name="TextBox 4">
            <a:extLst>
              <a:ext uri="{FF2B5EF4-FFF2-40B4-BE49-F238E27FC236}">
                <a16:creationId xmlns:a16="http://schemas.microsoft.com/office/drawing/2014/main" id="{C1E57408-596F-DE38-04FD-5AD46017456B}"/>
              </a:ext>
            </a:extLst>
          </p:cNvPr>
          <p:cNvSpPr txBox="1"/>
          <p:nvPr/>
        </p:nvSpPr>
        <p:spPr>
          <a:xfrm>
            <a:off x="812800" y="1676400"/>
            <a:ext cx="5562600" cy="2413000"/>
          </a:xfrm>
          <a:prstGeom prst="rect">
            <a:avLst/>
          </a:prstGeom>
          <a:noFill/>
        </p:spPr>
        <p:txBody>
          <a:bodyPr vert="horz" wrap="square" lIns="0" tIns="0" rIns="0" bIns="0" rtlCol="0" anchor="t">
            <a:noAutofit/>
          </a:bodyPr>
          <a:lstStyle/>
          <a:p>
            <a:r>
              <a:rPr lang="en-US" sz="1500">
                <a:solidFill>
                  <a:srgbClr val="CBD5E1"/>
                </a:solidFill>
                <a:latin typeface="Consolas" panose="020B0609020204030204" pitchFamily="49" charset="0"/>
              </a:rPr>
              <a:t>-   id: required</a:t>
            </a:r>
          </a:p>
          <a:p>
            <a:r>
              <a:rPr lang="en-US" sz="1500">
                <a:solidFill>
                  <a:srgbClr val="CBD5E1"/>
                </a:solidFill>
                <a:latin typeface="Consolas" panose="020B0609020204030204" pitchFamily="49" charset="0"/>
              </a:rPr>
              <a:t>    label: Required</a:t>
            </a:r>
          </a:p>
          <a:p>
            <a:r>
              <a:rPr lang="en-US" sz="1500">
                <a:solidFill>
                  <a:srgbClr val="CBD5E1"/>
                </a:solidFill>
                <a:latin typeface="Consolas" panose="020B0609020204030204" pitchFamily="49" charset="0"/>
              </a:rPr>
              <a:t>    dtype: bool</a:t>
            </a:r>
          </a:p>
          <a:p>
            <a:r>
              <a:rPr lang="en-US" sz="1500">
                <a:solidFill>
                  <a:srgbClr val="CBD5E1"/>
                </a:solidFill>
                <a:latin typeface="Consolas" panose="020B0609020204030204" pitchFamily="49" charset="0"/>
              </a:rPr>
              <a:t>    </a:t>
            </a:r>
            <a:r>
              <a:rPr lang="en-US" sz="1500" b="1">
                <a:solidFill>
                  <a:srgbClr val="F5A524"/>
                </a:solidFill>
                <a:latin typeface="Consolas" panose="020B0609020204030204" pitchFamily="49" charset="0"/>
              </a:rPr>
              <a:t>default: 'False'</a:t>
            </a:r>
          </a:p>
          <a:p>
            <a:r>
              <a:rPr lang="en-US" sz="1500">
                <a:solidFill>
                  <a:srgbClr val="CBD5E1"/>
                </a:solidFill>
                <a:latin typeface="Consolas" panose="020B0609020204030204" pitchFamily="49" charset="0"/>
              </a:rPr>
              <a:t>    options: ['True', 'False']</a:t>
            </a:r>
          </a:p>
          <a:p>
            <a:r>
              <a:rPr lang="en-US" sz="1500">
                <a:solidFill>
                  <a:srgbClr val="CBD5E1"/>
                </a:solidFill>
                <a:latin typeface="Consolas" panose="020B0609020204030204" pitchFamily="49" charset="0"/>
              </a:rPr>
              <a:t>    option_labels: [Optional, Required]</a:t>
            </a:r>
            <a:endParaRPr lang="en-IN" sz="1500">
              <a:solidFill>
                <a:srgbClr val="CBD5E1"/>
              </a:solidFill>
              <a:latin typeface="Consolas" panose="020B0609020204030204" pitchFamily="49" charset="0"/>
            </a:endParaRPr>
          </a:p>
        </p:txBody>
      </p:sp>
      <p:sp>
        <p:nvSpPr>
          <p:cNvPr id="6" name="Rectangle: Rounded Corners 5">
            <a:extLst>
              <a:ext uri="{FF2B5EF4-FFF2-40B4-BE49-F238E27FC236}">
                <a16:creationId xmlns:a16="http://schemas.microsoft.com/office/drawing/2014/main" id="{805F16BD-F3BD-B530-C5D1-560024D64DF2}"/>
              </a:ext>
            </a:extLst>
          </p:cNvPr>
          <p:cNvSpPr/>
          <p:nvPr/>
        </p:nvSpPr>
        <p:spPr>
          <a:xfrm>
            <a:off x="609600" y="4394200"/>
            <a:ext cx="5969000" cy="1651000"/>
          </a:xfrm>
          <a:prstGeom prst="roundRect">
            <a:avLst>
              <a:gd name="adj" fmla="val 3000"/>
            </a:avLst>
          </a:prstGeom>
          <a:solidFill>
            <a:srgbClr val="0F223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093A10FF-BA32-B20F-3AC7-0264840E70DD}"/>
              </a:ext>
            </a:extLst>
          </p:cNvPr>
          <p:cNvSpPr txBox="1"/>
          <p:nvPr/>
        </p:nvSpPr>
        <p:spPr>
          <a:xfrm>
            <a:off x="812800" y="4521200"/>
            <a:ext cx="5562600" cy="228600"/>
          </a:xfrm>
          <a:prstGeom prst="rect">
            <a:avLst/>
          </a:prstGeom>
          <a:noFill/>
        </p:spPr>
        <p:txBody>
          <a:bodyPr vert="horz" wrap="square" lIns="0" tIns="0" rIns="0" bIns="0" rtlCol="0" anchor="t">
            <a:noAutofit/>
          </a:bodyPr>
          <a:lstStyle/>
          <a:p>
            <a:r>
              <a:rPr lang="en-US" sz="1100">
                <a:solidFill>
                  <a:srgbClr val="7DD3C8"/>
                </a:solidFill>
                <a:latin typeface="Calibri" panose="020F0502020204030204" pitchFamily="34" charset="0"/>
              </a:rPr>
              <a:t>documentation added to the same file</a:t>
            </a:r>
            <a:endParaRPr lang="en-IN" sz="1100">
              <a:solidFill>
                <a:srgbClr val="7DD3C8"/>
              </a:solidFill>
              <a:latin typeface="Calibri" panose="020F0502020204030204" pitchFamily="34" charset="0"/>
            </a:endParaRPr>
          </a:p>
        </p:txBody>
      </p:sp>
      <p:sp>
        <p:nvSpPr>
          <p:cNvPr id="8" name="TextBox 7">
            <a:extLst>
              <a:ext uri="{FF2B5EF4-FFF2-40B4-BE49-F238E27FC236}">
                <a16:creationId xmlns:a16="http://schemas.microsoft.com/office/drawing/2014/main" id="{9A0E0492-AB35-8E4E-B68C-6C42C864B043}"/>
              </a:ext>
            </a:extLst>
          </p:cNvPr>
          <p:cNvSpPr txBox="1"/>
          <p:nvPr/>
        </p:nvSpPr>
        <p:spPr>
          <a:xfrm>
            <a:off x="812800" y="4800600"/>
            <a:ext cx="5562600" cy="1143000"/>
          </a:xfrm>
          <a:prstGeom prst="rect">
            <a:avLst/>
          </a:prstGeom>
          <a:noFill/>
        </p:spPr>
        <p:txBody>
          <a:bodyPr vert="horz" wrap="square" lIns="0" tIns="0" rIns="0" bIns="0" rtlCol="0" anchor="t">
            <a:noAutofit/>
          </a:bodyPr>
          <a:lstStyle/>
          <a:p>
            <a:r>
              <a:rPr lang="en-US" sz="1300">
                <a:solidFill>
                  <a:srgbClr val="CBD5E1"/>
                </a:solidFill>
                <a:latin typeface="Consolas" panose="020B0609020204030204" pitchFamily="49" charset="0"/>
              </a:rPr>
              <a:t>Set Required to True to make the command</a:t>
            </a:r>
          </a:p>
          <a:p>
            <a:r>
              <a:rPr lang="en-US" sz="1300">
                <a:solidFill>
                  <a:srgbClr val="CBD5E1"/>
                </a:solidFill>
                <a:latin typeface="Consolas" panose="020B0609020204030204" pitchFamily="49" charset="0"/>
              </a:rPr>
              <a:t>line argument mandatory. Otherwise, the</a:t>
            </a:r>
          </a:p>
          <a:p>
            <a:r>
              <a:rPr lang="en-US" sz="1300">
                <a:solidFill>
                  <a:srgbClr val="CBD5E1"/>
                </a:solidFill>
                <a:latin typeface="Consolas" panose="020B0609020204030204" pitchFamily="49" charset="0"/>
              </a:rPr>
              <a:t>parameter uses its configured default value</a:t>
            </a:r>
          </a:p>
          <a:p>
            <a:r>
              <a:rPr lang="en-US" sz="1300">
                <a:solidFill>
                  <a:srgbClr val="CBD5E1"/>
                </a:solidFill>
                <a:latin typeface="Consolas" panose="020B0609020204030204" pitchFamily="49" charset="0"/>
              </a:rPr>
              <a:t>when the argument is omitted.</a:t>
            </a:r>
            <a:endParaRPr lang="en-IN" sz="1300">
              <a:solidFill>
                <a:srgbClr val="CBD5E1"/>
              </a:solidFill>
              <a:latin typeface="Consolas" panose="020B0609020204030204" pitchFamily="49" charset="0"/>
            </a:endParaRPr>
          </a:p>
        </p:txBody>
      </p:sp>
      <p:sp>
        <p:nvSpPr>
          <p:cNvPr id="9" name="Rectangle: Rounded Corners 8">
            <a:extLst>
              <a:ext uri="{FF2B5EF4-FFF2-40B4-BE49-F238E27FC236}">
                <a16:creationId xmlns:a16="http://schemas.microsoft.com/office/drawing/2014/main" id="{DA618483-BC6A-CBB1-F0FF-BAFEAA486E9D}"/>
              </a:ext>
            </a:extLst>
          </p:cNvPr>
          <p:cNvSpPr/>
          <p:nvPr/>
        </p:nvSpPr>
        <p:spPr>
          <a:xfrm>
            <a:off x="6858000" y="1270000"/>
            <a:ext cx="4724400" cy="812800"/>
          </a:xfrm>
          <a:prstGeom prst="roundRect">
            <a:avLst>
              <a:gd name="adj" fmla="val 6000"/>
            </a:avLst>
          </a:prstGeom>
          <a:solidFill>
            <a:srgbClr val="F4F7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0884831B-EA24-1B96-52A1-FD7C91BA3FA8}"/>
              </a:ext>
            </a:extLst>
          </p:cNvPr>
          <p:cNvSpPr txBox="1"/>
          <p:nvPr/>
        </p:nvSpPr>
        <p:spPr>
          <a:xfrm>
            <a:off x="7061200" y="1371600"/>
            <a:ext cx="4318000" cy="279400"/>
          </a:xfrm>
          <a:prstGeom prst="rect">
            <a:avLst/>
          </a:prstGeom>
          <a:noFill/>
        </p:spPr>
        <p:txBody>
          <a:bodyPr vert="horz" wrap="square" lIns="0" tIns="0" rIns="0" bIns="0" rtlCol="0" anchor="t">
            <a:noAutofit/>
          </a:bodyPr>
          <a:lstStyle/>
          <a:p>
            <a:r>
              <a:rPr lang="en-IN" sz="1600" b="1">
                <a:solidFill>
                  <a:srgbClr val="0E7C70"/>
                </a:solidFill>
                <a:latin typeface="Consolas" panose="020B0609020204030204" pitchFamily="49" charset="0"/>
              </a:rPr>
              <a:t>id</a:t>
            </a:r>
          </a:p>
        </p:txBody>
      </p:sp>
      <p:sp>
        <p:nvSpPr>
          <p:cNvPr id="11" name="TextBox 10">
            <a:extLst>
              <a:ext uri="{FF2B5EF4-FFF2-40B4-BE49-F238E27FC236}">
                <a16:creationId xmlns:a16="http://schemas.microsoft.com/office/drawing/2014/main" id="{82485464-F6B9-743F-5701-26D333859724}"/>
              </a:ext>
            </a:extLst>
          </p:cNvPr>
          <p:cNvSpPr txBox="1"/>
          <p:nvPr/>
        </p:nvSpPr>
        <p:spPr>
          <a:xfrm>
            <a:off x="7061200" y="1701800"/>
            <a:ext cx="4318000" cy="279400"/>
          </a:xfrm>
          <a:prstGeom prst="rect">
            <a:avLst/>
          </a:prstGeom>
          <a:noFill/>
        </p:spPr>
        <p:txBody>
          <a:bodyPr vert="horz" wrap="square" lIns="0" tIns="0" rIns="0" bIns="0" rtlCol="0" anchor="t">
            <a:noAutofit/>
          </a:bodyPr>
          <a:lstStyle/>
          <a:p>
            <a:r>
              <a:rPr lang="en-US" sz="1400">
                <a:solidFill>
                  <a:srgbClr val="0B1F33"/>
                </a:solidFill>
                <a:latin typeface="Calibri" panose="020F0502020204030204" pitchFamily="34" charset="0"/>
              </a:rPr>
              <a:t>Internal name of the setting</a:t>
            </a:r>
            <a:endParaRPr lang="en-IN" sz="1400">
              <a:solidFill>
                <a:srgbClr val="0B1F33"/>
              </a:solidFill>
              <a:latin typeface="Calibri" panose="020F0502020204030204" pitchFamily="34" charset="0"/>
            </a:endParaRPr>
          </a:p>
        </p:txBody>
      </p:sp>
      <p:sp>
        <p:nvSpPr>
          <p:cNvPr id="12" name="Rectangle: Rounded Corners 11">
            <a:extLst>
              <a:ext uri="{FF2B5EF4-FFF2-40B4-BE49-F238E27FC236}">
                <a16:creationId xmlns:a16="http://schemas.microsoft.com/office/drawing/2014/main" id="{4181E1E3-F290-765E-7C94-FB95C2C8CC04}"/>
              </a:ext>
            </a:extLst>
          </p:cNvPr>
          <p:cNvSpPr/>
          <p:nvPr/>
        </p:nvSpPr>
        <p:spPr>
          <a:xfrm>
            <a:off x="6858000" y="2235200"/>
            <a:ext cx="4724400" cy="812800"/>
          </a:xfrm>
          <a:prstGeom prst="roundRect">
            <a:avLst>
              <a:gd name="adj" fmla="val 6000"/>
            </a:avLst>
          </a:prstGeom>
          <a:solidFill>
            <a:srgbClr val="F4F7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8D5E5CFC-6AEF-9D65-D6FE-7D995D54B775}"/>
              </a:ext>
            </a:extLst>
          </p:cNvPr>
          <p:cNvSpPr txBox="1"/>
          <p:nvPr/>
        </p:nvSpPr>
        <p:spPr>
          <a:xfrm>
            <a:off x="7061200" y="2336800"/>
            <a:ext cx="4318000" cy="279400"/>
          </a:xfrm>
          <a:prstGeom prst="rect">
            <a:avLst/>
          </a:prstGeom>
          <a:noFill/>
        </p:spPr>
        <p:txBody>
          <a:bodyPr vert="horz" wrap="square" lIns="0" tIns="0" rIns="0" bIns="0" rtlCol="0" anchor="t">
            <a:noAutofit/>
          </a:bodyPr>
          <a:lstStyle/>
          <a:p>
            <a:r>
              <a:rPr lang="en-IN" sz="1600" b="1">
                <a:solidFill>
                  <a:srgbClr val="0E7C70"/>
                </a:solidFill>
                <a:latin typeface="Consolas" panose="020B0609020204030204" pitchFamily="49" charset="0"/>
              </a:rPr>
              <a:t>label</a:t>
            </a:r>
          </a:p>
        </p:txBody>
      </p:sp>
      <p:sp>
        <p:nvSpPr>
          <p:cNvPr id="14" name="TextBox 13">
            <a:extLst>
              <a:ext uri="{FF2B5EF4-FFF2-40B4-BE49-F238E27FC236}">
                <a16:creationId xmlns:a16="http://schemas.microsoft.com/office/drawing/2014/main" id="{D45E4357-C3EF-180C-AE68-665D39254D0C}"/>
              </a:ext>
            </a:extLst>
          </p:cNvPr>
          <p:cNvSpPr txBox="1"/>
          <p:nvPr/>
        </p:nvSpPr>
        <p:spPr>
          <a:xfrm>
            <a:off x="7061200" y="2667000"/>
            <a:ext cx="4318000" cy="279400"/>
          </a:xfrm>
          <a:prstGeom prst="rect">
            <a:avLst/>
          </a:prstGeom>
          <a:noFill/>
        </p:spPr>
        <p:txBody>
          <a:bodyPr vert="horz" wrap="square" lIns="0" tIns="0" rIns="0" bIns="0" rtlCol="0" anchor="t">
            <a:noAutofit/>
          </a:bodyPr>
          <a:lstStyle/>
          <a:p>
            <a:r>
              <a:rPr lang="en-US" sz="1400">
                <a:solidFill>
                  <a:srgbClr val="0B1F33"/>
                </a:solidFill>
                <a:latin typeface="Calibri" panose="020F0502020204030204" pitchFamily="34" charset="0"/>
              </a:rPr>
              <a:t>Text shown in the properties dialog</a:t>
            </a:r>
            <a:endParaRPr lang="en-IN" sz="1400">
              <a:solidFill>
                <a:srgbClr val="0B1F33"/>
              </a:solidFill>
              <a:latin typeface="Calibri" panose="020F0502020204030204" pitchFamily="34" charset="0"/>
            </a:endParaRPr>
          </a:p>
        </p:txBody>
      </p:sp>
      <p:sp>
        <p:nvSpPr>
          <p:cNvPr id="15" name="Rectangle: Rounded Corners 14">
            <a:extLst>
              <a:ext uri="{FF2B5EF4-FFF2-40B4-BE49-F238E27FC236}">
                <a16:creationId xmlns:a16="http://schemas.microsoft.com/office/drawing/2014/main" id="{4383C71E-54DD-8E05-6B72-3CB3D88C122B}"/>
              </a:ext>
            </a:extLst>
          </p:cNvPr>
          <p:cNvSpPr/>
          <p:nvPr/>
        </p:nvSpPr>
        <p:spPr>
          <a:xfrm>
            <a:off x="6858000" y="3200400"/>
            <a:ext cx="4724400" cy="812800"/>
          </a:xfrm>
          <a:prstGeom prst="roundRect">
            <a:avLst>
              <a:gd name="adj" fmla="val 6000"/>
            </a:avLst>
          </a:prstGeom>
          <a:solidFill>
            <a:srgbClr val="F4F7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BEEB3BED-3D8C-5B17-3E56-59F0185AB1AF}"/>
              </a:ext>
            </a:extLst>
          </p:cNvPr>
          <p:cNvSpPr txBox="1"/>
          <p:nvPr/>
        </p:nvSpPr>
        <p:spPr>
          <a:xfrm>
            <a:off x="7061200" y="3302000"/>
            <a:ext cx="4318000" cy="279400"/>
          </a:xfrm>
          <a:prstGeom prst="rect">
            <a:avLst/>
          </a:prstGeom>
          <a:noFill/>
        </p:spPr>
        <p:txBody>
          <a:bodyPr vert="horz" wrap="square" lIns="0" tIns="0" rIns="0" bIns="0" rtlCol="0" anchor="t">
            <a:noAutofit/>
          </a:bodyPr>
          <a:lstStyle/>
          <a:p>
            <a:r>
              <a:rPr lang="en-IN" sz="1600" b="1">
                <a:solidFill>
                  <a:srgbClr val="0E7C70"/>
                </a:solidFill>
                <a:latin typeface="Consolas" panose="020B0609020204030204" pitchFamily="49" charset="0"/>
              </a:rPr>
              <a:t>dtype: bool</a:t>
            </a:r>
          </a:p>
        </p:txBody>
      </p:sp>
      <p:sp>
        <p:nvSpPr>
          <p:cNvPr id="17" name="TextBox 16">
            <a:extLst>
              <a:ext uri="{FF2B5EF4-FFF2-40B4-BE49-F238E27FC236}">
                <a16:creationId xmlns:a16="http://schemas.microsoft.com/office/drawing/2014/main" id="{43475C7A-E636-7EDC-CDB7-C267ED757159}"/>
              </a:ext>
            </a:extLst>
          </p:cNvPr>
          <p:cNvSpPr txBox="1"/>
          <p:nvPr/>
        </p:nvSpPr>
        <p:spPr>
          <a:xfrm>
            <a:off x="7061200" y="3632200"/>
            <a:ext cx="4318000" cy="279400"/>
          </a:xfrm>
          <a:prstGeom prst="rect">
            <a:avLst/>
          </a:prstGeom>
          <a:noFill/>
        </p:spPr>
        <p:txBody>
          <a:bodyPr vert="horz" wrap="square" lIns="0" tIns="0" rIns="0" bIns="0" rtlCol="0" anchor="t">
            <a:noAutofit/>
          </a:bodyPr>
          <a:lstStyle/>
          <a:p>
            <a:r>
              <a:rPr lang="en-US" sz="1400">
                <a:solidFill>
                  <a:srgbClr val="0B1F33"/>
                </a:solidFill>
                <a:latin typeface="Calibri" panose="020F0502020204030204" pitchFamily="34" charset="0"/>
              </a:rPr>
              <a:t>A True or False choice</a:t>
            </a:r>
            <a:endParaRPr lang="en-IN" sz="1400">
              <a:solidFill>
                <a:srgbClr val="0B1F33"/>
              </a:solidFill>
              <a:latin typeface="Calibri" panose="020F0502020204030204" pitchFamily="34" charset="0"/>
            </a:endParaRPr>
          </a:p>
        </p:txBody>
      </p:sp>
      <p:sp>
        <p:nvSpPr>
          <p:cNvPr id="18" name="Rectangle: Rounded Corners 17">
            <a:extLst>
              <a:ext uri="{FF2B5EF4-FFF2-40B4-BE49-F238E27FC236}">
                <a16:creationId xmlns:a16="http://schemas.microsoft.com/office/drawing/2014/main" id="{A44385C3-CCCE-B3E7-3EF4-B592D93A3DAC}"/>
              </a:ext>
            </a:extLst>
          </p:cNvPr>
          <p:cNvSpPr/>
          <p:nvPr/>
        </p:nvSpPr>
        <p:spPr>
          <a:xfrm>
            <a:off x="6858000" y="4165600"/>
            <a:ext cx="4724400" cy="812800"/>
          </a:xfrm>
          <a:prstGeom prst="roundRect">
            <a:avLst>
              <a:gd name="adj" fmla="val 6000"/>
            </a:avLst>
          </a:prstGeom>
          <a:solidFill>
            <a:srgbClr val="F4F7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a:extLst>
              <a:ext uri="{FF2B5EF4-FFF2-40B4-BE49-F238E27FC236}">
                <a16:creationId xmlns:a16="http://schemas.microsoft.com/office/drawing/2014/main" id="{3E6F34DB-6ACA-BA75-6435-E4F4EF306041}"/>
              </a:ext>
            </a:extLst>
          </p:cNvPr>
          <p:cNvSpPr txBox="1"/>
          <p:nvPr/>
        </p:nvSpPr>
        <p:spPr>
          <a:xfrm>
            <a:off x="7061200" y="4267200"/>
            <a:ext cx="4318000" cy="279400"/>
          </a:xfrm>
          <a:prstGeom prst="rect">
            <a:avLst/>
          </a:prstGeom>
          <a:noFill/>
        </p:spPr>
        <p:txBody>
          <a:bodyPr vert="horz" wrap="square" lIns="0" tIns="0" rIns="0" bIns="0" rtlCol="0" anchor="t">
            <a:noAutofit/>
          </a:bodyPr>
          <a:lstStyle/>
          <a:p>
            <a:r>
              <a:rPr lang="en-IN" sz="1600" b="1">
                <a:solidFill>
                  <a:srgbClr val="0E7C70"/>
                </a:solidFill>
                <a:latin typeface="Consolas" panose="020B0609020204030204" pitchFamily="49" charset="0"/>
              </a:rPr>
              <a:t>default: 'False'</a:t>
            </a:r>
          </a:p>
        </p:txBody>
      </p:sp>
      <p:sp>
        <p:nvSpPr>
          <p:cNvPr id="20" name="TextBox 19">
            <a:extLst>
              <a:ext uri="{FF2B5EF4-FFF2-40B4-BE49-F238E27FC236}">
                <a16:creationId xmlns:a16="http://schemas.microsoft.com/office/drawing/2014/main" id="{70C4144F-0C2C-918C-C71C-E7A6E994DDB5}"/>
              </a:ext>
            </a:extLst>
          </p:cNvPr>
          <p:cNvSpPr txBox="1"/>
          <p:nvPr/>
        </p:nvSpPr>
        <p:spPr>
          <a:xfrm>
            <a:off x="7061200" y="4597400"/>
            <a:ext cx="4318000" cy="279400"/>
          </a:xfrm>
          <a:prstGeom prst="rect">
            <a:avLst/>
          </a:prstGeom>
          <a:noFill/>
        </p:spPr>
        <p:txBody>
          <a:bodyPr vert="horz" wrap="square" lIns="0" tIns="0" rIns="0" bIns="0" rtlCol="0" anchor="t">
            <a:noAutofit/>
          </a:bodyPr>
          <a:lstStyle/>
          <a:p>
            <a:r>
              <a:rPr lang="en-US" sz="1400">
                <a:solidFill>
                  <a:srgbClr val="0B1F33"/>
                </a:solidFill>
                <a:latin typeface="Calibri" panose="020F0502020204030204" pitchFamily="34" charset="0"/>
              </a:rPr>
              <a:t>Optional unless the author changes it</a:t>
            </a:r>
            <a:endParaRPr lang="en-IN" sz="1400">
              <a:solidFill>
                <a:srgbClr val="0B1F33"/>
              </a:solidFill>
              <a:latin typeface="Calibri" panose="020F0502020204030204" pitchFamily="34" charset="0"/>
            </a:endParaRPr>
          </a:p>
        </p:txBody>
      </p:sp>
      <p:sp>
        <p:nvSpPr>
          <p:cNvPr id="21" name="Rectangle: Rounded Corners 20">
            <a:extLst>
              <a:ext uri="{FF2B5EF4-FFF2-40B4-BE49-F238E27FC236}">
                <a16:creationId xmlns:a16="http://schemas.microsoft.com/office/drawing/2014/main" id="{0254FACC-4BC3-5565-4949-AD12C4FF45EC}"/>
              </a:ext>
            </a:extLst>
          </p:cNvPr>
          <p:cNvSpPr/>
          <p:nvPr/>
        </p:nvSpPr>
        <p:spPr>
          <a:xfrm>
            <a:off x="6858000" y="5130800"/>
            <a:ext cx="4724400" cy="812800"/>
          </a:xfrm>
          <a:prstGeom prst="roundRect">
            <a:avLst>
              <a:gd name="adj" fmla="val 6000"/>
            </a:avLst>
          </a:prstGeom>
          <a:solidFill>
            <a:srgbClr val="F4F7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TextBox 21">
            <a:extLst>
              <a:ext uri="{FF2B5EF4-FFF2-40B4-BE49-F238E27FC236}">
                <a16:creationId xmlns:a16="http://schemas.microsoft.com/office/drawing/2014/main" id="{F509FB69-3E3B-620C-375F-68D914A72513}"/>
              </a:ext>
            </a:extLst>
          </p:cNvPr>
          <p:cNvSpPr txBox="1"/>
          <p:nvPr/>
        </p:nvSpPr>
        <p:spPr>
          <a:xfrm>
            <a:off x="7061200" y="5232400"/>
            <a:ext cx="4318000" cy="279400"/>
          </a:xfrm>
          <a:prstGeom prst="rect">
            <a:avLst/>
          </a:prstGeom>
          <a:noFill/>
        </p:spPr>
        <p:txBody>
          <a:bodyPr vert="horz" wrap="square" lIns="0" tIns="0" rIns="0" bIns="0" rtlCol="0" anchor="t">
            <a:noAutofit/>
          </a:bodyPr>
          <a:lstStyle/>
          <a:p>
            <a:r>
              <a:rPr lang="en-IN" sz="1600" b="1">
                <a:solidFill>
                  <a:srgbClr val="0E7C70"/>
                </a:solidFill>
                <a:latin typeface="Consolas" panose="020B0609020204030204" pitchFamily="49" charset="0"/>
              </a:rPr>
              <a:t>option_labels</a:t>
            </a:r>
          </a:p>
        </p:txBody>
      </p:sp>
      <p:sp>
        <p:nvSpPr>
          <p:cNvPr id="23" name="TextBox 22">
            <a:extLst>
              <a:ext uri="{FF2B5EF4-FFF2-40B4-BE49-F238E27FC236}">
                <a16:creationId xmlns:a16="http://schemas.microsoft.com/office/drawing/2014/main" id="{454712CB-DD6E-BDD4-714C-A910B281469B}"/>
              </a:ext>
            </a:extLst>
          </p:cNvPr>
          <p:cNvSpPr txBox="1"/>
          <p:nvPr/>
        </p:nvSpPr>
        <p:spPr>
          <a:xfrm>
            <a:off x="7061200" y="5562600"/>
            <a:ext cx="4318000" cy="279400"/>
          </a:xfrm>
          <a:prstGeom prst="rect">
            <a:avLst/>
          </a:prstGeom>
          <a:noFill/>
        </p:spPr>
        <p:txBody>
          <a:bodyPr vert="horz" wrap="square" lIns="0" tIns="0" rIns="0" bIns="0" rtlCol="0" anchor="t">
            <a:noAutofit/>
          </a:bodyPr>
          <a:lstStyle/>
          <a:p>
            <a:r>
              <a:rPr lang="en-US" sz="1400">
                <a:solidFill>
                  <a:srgbClr val="0B1F33"/>
                </a:solidFill>
                <a:latin typeface="Calibri" panose="020F0502020204030204" pitchFamily="34" charset="0"/>
              </a:rPr>
              <a:t>Dialog shows Optional or Required</a:t>
            </a:r>
            <a:endParaRPr lang="en-IN" sz="1400">
              <a:solidFill>
                <a:srgbClr val="0B1F33"/>
              </a:solidFill>
              <a:latin typeface="Calibri" panose="020F0502020204030204" pitchFamily="34" charset="0"/>
            </a:endParaRPr>
          </a:p>
        </p:txBody>
      </p:sp>
      <p:sp>
        <p:nvSpPr>
          <p:cNvPr id="24" name="TextBox 23">
            <a:extLst>
              <a:ext uri="{FF2B5EF4-FFF2-40B4-BE49-F238E27FC236}">
                <a16:creationId xmlns:a16="http://schemas.microsoft.com/office/drawing/2014/main" id="{284B2B73-66C3-6E41-D87E-D28299925E23}"/>
              </a:ext>
            </a:extLst>
          </p:cNvPr>
          <p:cNvSpPr txBox="1"/>
          <p:nvPr/>
        </p:nvSpPr>
        <p:spPr>
          <a:xfrm>
            <a:off x="609600" y="6451600"/>
            <a:ext cx="7620000" cy="203200"/>
          </a:xfrm>
          <a:prstGeom prst="rect">
            <a:avLst/>
          </a:prstGeom>
          <a:noFill/>
        </p:spPr>
        <p:txBody>
          <a:bodyPr vert="horz" wrap="square" lIns="0" tIns="0" rIns="0" bIns="0" rtlCol="0" anchor="t">
            <a:noAutofit/>
          </a:bodyPr>
          <a:lstStyle/>
          <a:p>
            <a:r>
              <a:rPr lang="en-IN" sz="1100">
                <a:solidFill>
                  <a:srgbClr val="5B6B7B"/>
                </a:solidFill>
                <a:latin typeface="Calibri" panose="020F0502020204030204" pitchFamily="34" charset="0"/>
              </a:rPr>
              <a:t>Project g16  |  M2 report  |  GNU Radio Companion contribution</a:t>
            </a:r>
          </a:p>
        </p:txBody>
      </p:sp>
      <p:sp>
        <p:nvSpPr>
          <p:cNvPr id="25" name="TextBox 24">
            <a:extLst>
              <a:ext uri="{FF2B5EF4-FFF2-40B4-BE49-F238E27FC236}">
                <a16:creationId xmlns:a16="http://schemas.microsoft.com/office/drawing/2014/main" id="{AF0BCADC-CEAB-EAA2-9D88-37FA07E2BB02}"/>
              </a:ext>
            </a:extLst>
          </p:cNvPr>
          <p:cNvSpPr txBox="1"/>
          <p:nvPr/>
        </p:nvSpPr>
        <p:spPr>
          <a:xfrm>
            <a:off x="10820400" y="6451600"/>
            <a:ext cx="762000" cy="203200"/>
          </a:xfrm>
          <a:prstGeom prst="rect">
            <a:avLst/>
          </a:prstGeom>
          <a:noFill/>
        </p:spPr>
        <p:txBody>
          <a:bodyPr vert="horz" wrap="square" lIns="0" tIns="0" rIns="0" bIns="0" rtlCol="0" anchor="t">
            <a:noAutofit/>
          </a:bodyPr>
          <a:lstStyle/>
          <a:p>
            <a:pPr algn="r"/>
            <a:r>
              <a:rPr lang="en-IN" sz="1100">
                <a:solidFill>
                  <a:srgbClr val="5B6B7B"/>
                </a:solidFill>
                <a:latin typeface="Calibri" panose="020F0502020204030204" pitchFamily="34" charset="0"/>
              </a:rPr>
              <a:t>5</a:t>
            </a:r>
          </a:p>
        </p:txBody>
      </p:sp>
    </p:spTree>
    <p:extLst>
      <p:ext uri="{BB962C8B-B14F-4D97-AF65-F5344CB8AC3E}">
        <p14:creationId xmlns:p14="http://schemas.microsoft.com/office/powerpoint/2010/main" val="7166493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6D0BC-65B2-8CD0-95A4-7D8D158869F7}"/>
              </a:ext>
            </a:extLst>
          </p:cNvPr>
          <p:cNvSpPr>
            <a:spLocks noGrp="1"/>
          </p:cNvSpPr>
          <p:nvPr>
            <p:ph type="title"/>
          </p:nvPr>
        </p:nvSpPr>
        <p:spPr>
          <a:xfrm>
            <a:off x="609600" y="330200"/>
            <a:ext cx="10972800" cy="787400"/>
          </a:xfrm>
        </p:spPr>
        <p:txBody>
          <a:bodyPr lIns="0" anchor="ctr">
            <a:normAutofit/>
          </a:bodyPr>
          <a:lstStyle/>
          <a:p>
            <a:r>
              <a:rPr lang="en-IN" sz="3400" b="1">
                <a:solidFill>
                  <a:srgbClr val="0B1F33"/>
                </a:solidFill>
                <a:latin typeface="Cambria" panose="02040503050406030204" pitchFamily="18" charset="0"/>
              </a:rPr>
              <a:t>Code 2: the no-GUI template</a:t>
            </a:r>
          </a:p>
        </p:txBody>
      </p:sp>
      <p:sp>
        <p:nvSpPr>
          <p:cNvPr id="3" name="Rectangle: Rounded Corners 2">
            <a:extLst>
              <a:ext uri="{FF2B5EF4-FFF2-40B4-BE49-F238E27FC236}">
                <a16:creationId xmlns:a16="http://schemas.microsoft.com/office/drawing/2014/main" id="{68184F6C-CC02-407A-8D96-42E5151A718E}"/>
              </a:ext>
            </a:extLst>
          </p:cNvPr>
          <p:cNvSpPr/>
          <p:nvPr/>
        </p:nvSpPr>
        <p:spPr>
          <a:xfrm>
            <a:off x="609600" y="1244600"/>
            <a:ext cx="10972800" cy="3505200"/>
          </a:xfrm>
          <a:prstGeom prst="roundRect">
            <a:avLst>
              <a:gd name="adj" fmla="val 3000"/>
            </a:avLst>
          </a:prstGeom>
          <a:solidFill>
            <a:srgbClr val="0F223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F34F47A0-4108-D00B-BDCD-091031BB05D7}"/>
              </a:ext>
            </a:extLst>
          </p:cNvPr>
          <p:cNvSpPr txBox="1"/>
          <p:nvPr/>
        </p:nvSpPr>
        <p:spPr>
          <a:xfrm>
            <a:off x="812800" y="1371600"/>
            <a:ext cx="10566400" cy="228600"/>
          </a:xfrm>
          <a:prstGeom prst="rect">
            <a:avLst/>
          </a:prstGeom>
          <a:noFill/>
        </p:spPr>
        <p:txBody>
          <a:bodyPr vert="horz" wrap="square" lIns="0" tIns="0" rIns="0" bIns="0" rtlCol="0" anchor="t">
            <a:noAutofit/>
          </a:bodyPr>
          <a:lstStyle/>
          <a:p>
            <a:r>
              <a:rPr lang="en-IN" sz="1100">
                <a:solidFill>
                  <a:srgbClr val="7DD3C8"/>
                </a:solidFill>
                <a:latin typeface="Calibri" panose="020F0502020204030204" pitchFamily="34" charset="0"/>
              </a:rPr>
              <a:t>grc/workflows/python_nogui/flow_graph_nogui.py.mako</a:t>
            </a:r>
          </a:p>
        </p:txBody>
      </p:sp>
      <p:sp>
        <p:nvSpPr>
          <p:cNvPr id="5" name="TextBox 4">
            <a:extLst>
              <a:ext uri="{FF2B5EF4-FFF2-40B4-BE49-F238E27FC236}">
                <a16:creationId xmlns:a16="http://schemas.microsoft.com/office/drawing/2014/main" id="{E523C4ED-2F6D-DBAC-EF59-22584BB5CB95}"/>
              </a:ext>
            </a:extLst>
          </p:cNvPr>
          <p:cNvSpPr txBox="1"/>
          <p:nvPr/>
        </p:nvSpPr>
        <p:spPr>
          <a:xfrm>
            <a:off x="812800" y="1651000"/>
            <a:ext cx="10566400" cy="2997200"/>
          </a:xfrm>
          <a:prstGeom prst="rect">
            <a:avLst/>
          </a:prstGeom>
          <a:noFill/>
        </p:spPr>
        <p:txBody>
          <a:bodyPr vert="horz" wrap="square" lIns="0" tIns="0" rIns="0" bIns="0" rtlCol="0" anchor="t">
            <a:noAutofit/>
          </a:bodyPr>
          <a:lstStyle/>
          <a:p>
            <a:r>
              <a:rPr lang="en-IN" sz="1200">
                <a:solidFill>
                  <a:srgbClr val="CBD5E1"/>
                </a:solidFill>
                <a:latin typeface="Consolas" panose="020B0609020204030204" pitchFamily="49" charset="0"/>
              </a:rPr>
              <a:t>required_ = param.params['required'].get_value()</a:t>
            </a:r>
          </a:p>
          <a:p>
            <a:endParaRPr lang="en-IN" sz="1200">
              <a:solidFill>
                <a:srgbClr val="CBD5E1"/>
              </a:solidFill>
              <a:latin typeface="Consolas" panose="020B0609020204030204" pitchFamily="49" charset="0"/>
            </a:endParaRPr>
          </a:p>
          <a:p>
            <a:r>
              <a:rPr lang="en-IN" sz="1200">
                <a:solidFill>
                  <a:srgbClr val="CBD5E1"/>
                </a:solidFill>
                <a:latin typeface="Consolas" panose="020B0609020204030204" pitchFamily="49" charset="0"/>
              </a:rPr>
              <a:t>% if type_:</a:t>
            </a:r>
          </a:p>
          <a:p>
            <a:r>
              <a:rPr lang="en-IN" sz="1200">
                <a:solidFill>
                  <a:srgbClr val="CBD5E1"/>
                </a:solidFill>
                <a:latin typeface="Consolas" panose="020B0609020204030204" pitchFamily="49" charset="0"/>
              </a:rPr>
              <a:t>% if </a:t>
            </a:r>
            <a:r>
              <a:rPr lang="en-IN" sz="1200" b="1">
                <a:solidFill>
                  <a:srgbClr val="F5A524"/>
                </a:solidFill>
                <a:latin typeface="Consolas" panose="020B0609020204030204" pitchFamily="49" charset="0"/>
              </a:rPr>
              <a:t>required_ == 'True'</a:t>
            </a:r>
            <a:r>
              <a:rPr lang="en-IN" sz="1200">
                <a:solidFill>
                  <a:srgbClr val="CBD5E1"/>
                </a:solidFill>
                <a:latin typeface="Consolas" panose="020B0609020204030204" pitchFamily="49" charset="0"/>
              </a:rPr>
              <a:t>:</a:t>
            </a:r>
          </a:p>
          <a:p>
            <a:r>
              <a:rPr lang="en-IN" sz="1200">
                <a:solidFill>
                  <a:srgbClr val="CBD5E1"/>
                </a:solidFill>
                <a:latin typeface="Consolas" panose="020B0609020204030204" pitchFamily="49" charset="0"/>
              </a:rPr>
              <a:t>parser.add_argument(</a:t>
            </a:r>
          </a:p>
          <a:p>
            <a:r>
              <a:rPr lang="en-IN" sz="1200">
                <a:solidFill>
                  <a:srgbClr val="CBD5E1"/>
                </a:solidFill>
                <a:latin typeface="Consolas" panose="020B0609020204030204" pitchFamily="49" charset="0"/>
              </a:rPr>
              <a:t>    ${ ', '.join(switches) }, dest="${param.name}", type=${type_}, </a:t>
            </a:r>
            <a:r>
              <a:rPr lang="en-IN" sz="1200" b="1">
                <a:solidFill>
                  <a:srgbClr val="4ADE80"/>
                </a:solidFill>
                <a:latin typeface="Consolas" panose="020B0609020204030204" pitchFamily="49" charset="0"/>
              </a:rPr>
              <a:t>required=True</a:t>
            </a:r>
            <a:r>
              <a:rPr lang="en-IN" sz="1200">
                <a:solidFill>
                  <a:srgbClr val="CBD5E1"/>
                </a:solidFill>
                <a:latin typeface="Consolas" panose="020B0609020204030204" pitchFamily="49" charset="0"/>
              </a:rPr>
              <a:t>,</a:t>
            </a:r>
          </a:p>
          <a:p>
            <a:r>
              <a:rPr lang="en-IN" sz="1200">
                <a:solidFill>
                  <a:srgbClr val="CBD5E1"/>
                </a:solidFill>
                <a:latin typeface="Consolas" panose="020B0609020204030204" pitchFamily="49" charset="0"/>
              </a:rPr>
              <a:t>    help="Set ${param.params['label'].get_evaluated() or param.name}")</a:t>
            </a:r>
          </a:p>
          <a:p>
            <a:r>
              <a:rPr lang="en-IN" sz="1200">
                <a:solidFill>
                  <a:srgbClr val="CBD5E1"/>
                </a:solidFill>
                <a:latin typeface="Consolas" panose="020B0609020204030204" pitchFamily="49" charset="0"/>
              </a:rPr>
              <a:t>% else:</a:t>
            </a:r>
          </a:p>
          <a:p>
            <a:r>
              <a:rPr lang="en-IN" sz="1200">
                <a:solidFill>
                  <a:srgbClr val="CBD5E1"/>
                </a:solidFill>
                <a:latin typeface="Consolas" panose="020B0609020204030204" pitchFamily="49" charset="0"/>
              </a:rPr>
              <a:t>parser.add_argument(</a:t>
            </a:r>
          </a:p>
          <a:p>
            <a:r>
              <a:rPr lang="en-IN" sz="1200">
                <a:solidFill>
                  <a:srgbClr val="CBD5E1"/>
                </a:solidFill>
                <a:latin typeface="Consolas" panose="020B0609020204030204" pitchFamily="49" charset="0"/>
              </a:rPr>
              <a:t>    ${ ', '.join(switches) }, dest="${param.name}", type=${type_}, </a:t>
            </a:r>
            <a:r>
              <a:rPr lang="en-IN" sz="1200" b="1">
                <a:solidFill>
                  <a:srgbClr val="F5A524"/>
                </a:solidFill>
                <a:latin typeface="Consolas" panose="020B0609020204030204" pitchFamily="49" charset="0"/>
              </a:rPr>
              <a:t>default=${ default }</a:t>
            </a:r>
            <a:r>
              <a:rPr lang="en-IN" sz="1200">
                <a:solidFill>
                  <a:srgbClr val="CBD5E1"/>
                </a:solidFill>
                <a:latin typeface="Consolas" panose="020B0609020204030204" pitchFamily="49" charset="0"/>
              </a:rPr>
              <a:t>,</a:t>
            </a:r>
          </a:p>
          <a:p>
            <a:r>
              <a:rPr lang="en-IN" sz="1200">
                <a:solidFill>
                  <a:srgbClr val="CBD5E1"/>
                </a:solidFill>
                <a:latin typeface="Consolas" panose="020B0609020204030204" pitchFamily="49" charset="0"/>
              </a:rPr>
              <a:t>    help="Set ${param.params['label'].get_evaluated() or param.name} [default=%(default)r]")</a:t>
            </a:r>
          </a:p>
          <a:p>
            <a:r>
              <a:rPr lang="en-IN" sz="1200">
                <a:solidFill>
                  <a:srgbClr val="CBD5E1"/>
                </a:solidFill>
                <a:latin typeface="Consolas" panose="020B0609020204030204" pitchFamily="49" charset="0"/>
              </a:rPr>
              <a:t>% endif</a:t>
            </a:r>
          </a:p>
          <a:p>
            <a:r>
              <a:rPr lang="en-IN" sz="1200">
                <a:solidFill>
                  <a:srgbClr val="CBD5E1"/>
                </a:solidFill>
                <a:latin typeface="Consolas" panose="020B0609020204030204" pitchFamily="49" charset="0"/>
              </a:rPr>
              <a:t>% endif</a:t>
            </a:r>
          </a:p>
        </p:txBody>
      </p:sp>
      <p:sp>
        <p:nvSpPr>
          <p:cNvPr id="6" name="Rectangle: Rounded Corners 5">
            <a:extLst>
              <a:ext uri="{FF2B5EF4-FFF2-40B4-BE49-F238E27FC236}">
                <a16:creationId xmlns:a16="http://schemas.microsoft.com/office/drawing/2014/main" id="{7A24234E-85F0-58E2-1C52-A4EE094E0E84}"/>
              </a:ext>
            </a:extLst>
          </p:cNvPr>
          <p:cNvSpPr/>
          <p:nvPr/>
        </p:nvSpPr>
        <p:spPr>
          <a:xfrm>
            <a:off x="609600" y="4978400"/>
            <a:ext cx="3454400" cy="1168400"/>
          </a:xfrm>
          <a:prstGeom prst="roundRect">
            <a:avLst>
              <a:gd name="adj" fmla="val 6000"/>
            </a:avLst>
          </a:prstGeom>
          <a:solidFill>
            <a:srgbClr val="F4F7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4898012B-391E-2E77-A018-7A45CEE2C1BF}"/>
              </a:ext>
            </a:extLst>
          </p:cNvPr>
          <p:cNvSpPr txBox="1"/>
          <p:nvPr/>
        </p:nvSpPr>
        <p:spPr>
          <a:xfrm>
            <a:off x="812800" y="5105400"/>
            <a:ext cx="3048000" cy="279400"/>
          </a:xfrm>
          <a:prstGeom prst="rect">
            <a:avLst/>
          </a:prstGeom>
          <a:noFill/>
        </p:spPr>
        <p:txBody>
          <a:bodyPr vert="horz" wrap="square" lIns="0" tIns="0" rIns="0" bIns="0" rtlCol="0" anchor="t">
            <a:noAutofit/>
          </a:bodyPr>
          <a:lstStyle/>
          <a:p>
            <a:r>
              <a:rPr lang="en-IN" sz="1500" b="1">
                <a:solidFill>
                  <a:srgbClr val="0B1F33"/>
                </a:solidFill>
                <a:latin typeface="Cambria" panose="02040503050406030204" pitchFamily="18" charset="0"/>
              </a:rPr>
              <a:t>Reads the field</a:t>
            </a:r>
          </a:p>
        </p:txBody>
      </p:sp>
      <p:sp>
        <p:nvSpPr>
          <p:cNvPr id="8" name="TextBox 7">
            <a:extLst>
              <a:ext uri="{FF2B5EF4-FFF2-40B4-BE49-F238E27FC236}">
                <a16:creationId xmlns:a16="http://schemas.microsoft.com/office/drawing/2014/main" id="{B69421CB-10A9-7DDD-AED9-7D631FB1BB83}"/>
              </a:ext>
            </a:extLst>
          </p:cNvPr>
          <p:cNvSpPr txBox="1"/>
          <p:nvPr/>
        </p:nvSpPr>
        <p:spPr>
          <a:xfrm>
            <a:off x="812800" y="5435600"/>
            <a:ext cx="3048000" cy="635000"/>
          </a:xfrm>
          <a:prstGeom prst="rect">
            <a:avLst/>
          </a:prstGeom>
          <a:noFill/>
        </p:spPr>
        <p:txBody>
          <a:bodyPr vert="horz" wrap="square" lIns="0" tIns="0" rIns="0" bIns="0" rtlCol="0" anchor="t">
            <a:noAutofit/>
          </a:bodyPr>
          <a:lstStyle/>
          <a:p>
            <a:r>
              <a:rPr lang="en-US" sz="1300">
                <a:solidFill>
                  <a:srgbClr val="5B6B7B"/>
                </a:solidFill>
                <a:latin typeface="Calibri" panose="020F0502020204030204" pitchFamily="34" charset="0"/>
              </a:rPr>
              <a:t>get_value() returns the Required choice for this parameter.</a:t>
            </a:r>
            <a:endParaRPr lang="en-IN" sz="1300">
              <a:solidFill>
                <a:srgbClr val="5B6B7B"/>
              </a:solidFill>
              <a:latin typeface="Calibri" panose="020F0502020204030204" pitchFamily="34" charset="0"/>
            </a:endParaRPr>
          </a:p>
        </p:txBody>
      </p:sp>
      <p:sp>
        <p:nvSpPr>
          <p:cNvPr id="9" name="Rectangle: Rounded Corners 8">
            <a:extLst>
              <a:ext uri="{FF2B5EF4-FFF2-40B4-BE49-F238E27FC236}">
                <a16:creationId xmlns:a16="http://schemas.microsoft.com/office/drawing/2014/main" id="{CF614231-6AE0-7FCB-0765-323E293E146D}"/>
              </a:ext>
            </a:extLst>
          </p:cNvPr>
          <p:cNvSpPr/>
          <p:nvPr/>
        </p:nvSpPr>
        <p:spPr>
          <a:xfrm>
            <a:off x="4368800" y="4978400"/>
            <a:ext cx="3454400" cy="1168400"/>
          </a:xfrm>
          <a:prstGeom prst="roundRect">
            <a:avLst>
              <a:gd name="adj" fmla="val 6000"/>
            </a:avLst>
          </a:prstGeom>
          <a:solidFill>
            <a:srgbClr val="F4F7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8BAB4F81-011E-C2A8-1941-CD8282587679}"/>
              </a:ext>
            </a:extLst>
          </p:cNvPr>
          <p:cNvSpPr txBox="1"/>
          <p:nvPr/>
        </p:nvSpPr>
        <p:spPr>
          <a:xfrm>
            <a:off x="4572000" y="5105400"/>
            <a:ext cx="3048000" cy="279400"/>
          </a:xfrm>
          <a:prstGeom prst="rect">
            <a:avLst/>
          </a:prstGeom>
          <a:noFill/>
        </p:spPr>
        <p:txBody>
          <a:bodyPr vert="horz" wrap="square" lIns="0" tIns="0" rIns="0" bIns="0" rtlCol="0" anchor="t">
            <a:noAutofit/>
          </a:bodyPr>
          <a:lstStyle/>
          <a:p>
            <a:r>
              <a:rPr lang="en-IN" sz="1500" b="1">
                <a:solidFill>
                  <a:srgbClr val="0B1F33"/>
                </a:solidFill>
                <a:latin typeface="Cambria" panose="02040503050406030204" pitchFamily="18" charset="0"/>
              </a:rPr>
              <a:t>Required branch</a:t>
            </a:r>
          </a:p>
        </p:txBody>
      </p:sp>
      <p:sp>
        <p:nvSpPr>
          <p:cNvPr id="11" name="TextBox 10">
            <a:extLst>
              <a:ext uri="{FF2B5EF4-FFF2-40B4-BE49-F238E27FC236}">
                <a16:creationId xmlns:a16="http://schemas.microsoft.com/office/drawing/2014/main" id="{952FEE0D-B84A-3736-794A-2A9A394EB75F}"/>
              </a:ext>
            </a:extLst>
          </p:cNvPr>
          <p:cNvSpPr txBox="1"/>
          <p:nvPr/>
        </p:nvSpPr>
        <p:spPr>
          <a:xfrm>
            <a:off x="4572000" y="5435600"/>
            <a:ext cx="3048000" cy="635000"/>
          </a:xfrm>
          <a:prstGeom prst="rect">
            <a:avLst/>
          </a:prstGeom>
          <a:noFill/>
        </p:spPr>
        <p:txBody>
          <a:bodyPr vert="horz" wrap="square" lIns="0" tIns="0" rIns="0" bIns="0" rtlCol="0" anchor="t">
            <a:noAutofit/>
          </a:bodyPr>
          <a:lstStyle/>
          <a:p>
            <a:r>
              <a:rPr lang="en-US" sz="1300">
                <a:solidFill>
                  <a:srgbClr val="5B6B7B"/>
                </a:solidFill>
                <a:latin typeface="Calibri" panose="020F0502020204030204" pitchFamily="34" charset="0"/>
              </a:rPr>
              <a:t>Writes required=True. argparse rejects a run without it.</a:t>
            </a:r>
            <a:endParaRPr lang="en-IN" sz="1300">
              <a:solidFill>
                <a:srgbClr val="5B6B7B"/>
              </a:solidFill>
              <a:latin typeface="Calibri" panose="020F0502020204030204" pitchFamily="34" charset="0"/>
            </a:endParaRPr>
          </a:p>
        </p:txBody>
      </p:sp>
      <p:sp>
        <p:nvSpPr>
          <p:cNvPr id="12" name="Rectangle: Rounded Corners 11">
            <a:extLst>
              <a:ext uri="{FF2B5EF4-FFF2-40B4-BE49-F238E27FC236}">
                <a16:creationId xmlns:a16="http://schemas.microsoft.com/office/drawing/2014/main" id="{3F4C82CD-5C5C-377B-8787-6C8482C9D722}"/>
              </a:ext>
            </a:extLst>
          </p:cNvPr>
          <p:cNvSpPr/>
          <p:nvPr/>
        </p:nvSpPr>
        <p:spPr>
          <a:xfrm>
            <a:off x="8128000" y="4978400"/>
            <a:ext cx="3454400" cy="1168400"/>
          </a:xfrm>
          <a:prstGeom prst="roundRect">
            <a:avLst>
              <a:gd name="adj" fmla="val 6000"/>
            </a:avLst>
          </a:prstGeom>
          <a:solidFill>
            <a:srgbClr val="F4F7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E98E23CB-E698-0A4C-1CCE-F2E1E97F32F8}"/>
              </a:ext>
            </a:extLst>
          </p:cNvPr>
          <p:cNvSpPr txBox="1"/>
          <p:nvPr/>
        </p:nvSpPr>
        <p:spPr>
          <a:xfrm>
            <a:off x="8331200" y="5105400"/>
            <a:ext cx="3048000" cy="279400"/>
          </a:xfrm>
          <a:prstGeom prst="rect">
            <a:avLst/>
          </a:prstGeom>
          <a:noFill/>
        </p:spPr>
        <p:txBody>
          <a:bodyPr vert="horz" wrap="square" lIns="0" tIns="0" rIns="0" bIns="0" rtlCol="0" anchor="t">
            <a:noAutofit/>
          </a:bodyPr>
          <a:lstStyle/>
          <a:p>
            <a:r>
              <a:rPr lang="en-IN" sz="1500" b="1">
                <a:solidFill>
                  <a:srgbClr val="0B1F33"/>
                </a:solidFill>
                <a:latin typeface="Cambria" panose="02040503050406030204" pitchFamily="18" charset="0"/>
              </a:rPr>
              <a:t>Optional branch</a:t>
            </a:r>
          </a:p>
        </p:txBody>
      </p:sp>
      <p:sp>
        <p:nvSpPr>
          <p:cNvPr id="14" name="TextBox 13">
            <a:extLst>
              <a:ext uri="{FF2B5EF4-FFF2-40B4-BE49-F238E27FC236}">
                <a16:creationId xmlns:a16="http://schemas.microsoft.com/office/drawing/2014/main" id="{7DF6FE28-44AC-4A74-03F1-BE2FD7AB32B6}"/>
              </a:ext>
            </a:extLst>
          </p:cNvPr>
          <p:cNvSpPr txBox="1"/>
          <p:nvPr/>
        </p:nvSpPr>
        <p:spPr>
          <a:xfrm>
            <a:off x="8331200" y="5435600"/>
            <a:ext cx="3048000" cy="635000"/>
          </a:xfrm>
          <a:prstGeom prst="rect">
            <a:avLst/>
          </a:prstGeom>
          <a:noFill/>
        </p:spPr>
        <p:txBody>
          <a:bodyPr vert="horz" wrap="square" lIns="0" tIns="0" rIns="0" bIns="0" rtlCol="0" anchor="t">
            <a:noAutofit/>
          </a:bodyPr>
          <a:lstStyle/>
          <a:p>
            <a:r>
              <a:rPr lang="en-US" sz="1300">
                <a:solidFill>
                  <a:srgbClr val="5B6B7B"/>
                </a:solidFill>
                <a:latin typeface="Calibri" panose="020F0502020204030204" pitchFamily="34" charset="0"/>
              </a:rPr>
              <a:t>Keeps default=... and prints it in the help text.</a:t>
            </a:r>
            <a:endParaRPr lang="en-IN" sz="1300">
              <a:solidFill>
                <a:srgbClr val="5B6B7B"/>
              </a:solidFill>
              <a:latin typeface="Calibri" panose="020F0502020204030204" pitchFamily="34" charset="0"/>
            </a:endParaRPr>
          </a:p>
        </p:txBody>
      </p:sp>
      <p:sp>
        <p:nvSpPr>
          <p:cNvPr id="15" name="TextBox 14">
            <a:extLst>
              <a:ext uri="{FF2B5EF4-FFF2-40B4-BE49-F238E27FC236}">
                <a16:creationId xmlns:a16="http://schemas.microsoft.com/office/drawing/2014/main" id="{0AD8364B-34D7-E683-B07E-9BA7D3FCF680}"/>
              </a:ext>
            </a:extLst>
          </p:cNvPr>
          <p:cNvSpPr txBox="1"/>
          <p:nvPr/>
        </p:nvSpPr>
        <p:spPr>
          <a:xfrm>
            <a:off x="609600" y="6451600"/>
            <a:ext cx="7620000" cy="203200"/>
          </a:xfrm>
          <a:prstGeom prst="rect">
            <a:avLst/>
          </a:prstGeom>
          <a:noFill/>
        </p:spPr>
        <p:txBody>
          <a:bodyPr vert="horz" wrap="square" lIns="0" tIns="0" rIns="0" bIns="0" rtlCol="0" anchor="t">
            <a:noAutofit/>
          </a:bodyPr>
          <a:lstStyle/>
          <a:p>
            <a:r>
              <a:rPr lang="en-IN" sz="1100">
                <a:solidFill>
                  <a:srgbClr val="5B6B7B"/>
                </a:solidFill>
                <a:latin typeface="Calibri" panose="020F0502020204030204" pitchFamily="34" charset="0"/>
              </a:rPr>
              <a:t>Project g16  |  M2 report  |  GNU Radio Companion contribution</a:t>
            </a:r>
          </a:p>
        </p:txBody>
      </p:sp>
      <p:sp>
        <p:nvSpPr>
          <p:cNvPr id="16" name="TextBox 15">
            <a:extLst>
              <a:ext uri="{FF2B5EF4-FFF2-40B4-BE49-F238E27FC236}">
                <a16:creationId xmlns:a16="http://schemas.microsoft.com/office/drawing/2014/main" id="{95C2A9AC-B64D-519A-F7A4-FDB243A49C64}"/>
              </a:ext>
            </a:extLst>
          </p:cNvPr>
          <p:cNvSpPr txBox="1"/>
          <p:nvPr/>
        </p:nvSpPr>
        <p:spPr>
          <a:xfrm>
            <a:off x="10820400" y="6451600"/>
            <a:ext cx="762000" cy="203200"/>
          </a:xfrm>
          <a:prstGeom prst="rect">
            <a:avLst/>
          </a:prstGeom>
          <a:noFill/>
        </p:spPr>
        <p:txBody>
          <a:bodyPr vert="horz" wrap="square" lIns="0" tIns="0" rIns="0" bIns="0" rtlCol="0" anchor="t">
            <a:noAutofit/>
          </a:bodyPr>
          <a:lstStyle/>
          <a:p>
            <a:pPr algn="r"/>
            <a:r>
              <a:rPr lang="en-IN" sz="1100">
                <a:solidFill>
                  <a:srgbClr val="5B6B7B"/>
                </a:solidFill>
                <a:latin typeface="Calibri" panose="020F0502020204030204" pitchFamily="34" charset="0"/>
              </a:rPr>
              <a:t>6</a:t>
            </a:r>
          </a:p>
        </p:txBody>
      </p:sp>
    </p:spTree>
    <p:extLst>
      <p:ext uri="{BB962C8B-B14F-4D97-AF65-F5344CB8AC3E}">
        <p14:creationId xmlns:p14="http://schemas.microsoft.com/office/powerpoint/2010/main" val="28912780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8F7084-82D9-03DC-87AD-075D51AFAFA4}"/>
              </a:ext>
            </a:extLst>
          </p:cNvPr>
          <p:cNvSpPr>
            <a:spLocks noGrp="1"/>
          </p:cNvSpPr>
          <p:nvPr>
            <p:ph type="title"/>
          </p:nvPr>
        </p:nvSpPr>
        <p:spPr>
          <a:xfrm>
            <a:off x="609600" y="330200"/>
            <a:ext cx="10972800" cy="787400"/>
          </a:xfrm>
        </p:spPr>
        <p:txBody>
          <a:bodyPr lIns="0" anchor="ctr">
            <a:normAutofit/>
          </a:bodyPr>
          <a:lstStyle/>
          <a:p>
            <a:r>
              <a:rPr lang="en-US" sz="3400" b="1">
                <a:solidFill>
                  <a:srgbClr val="0B1F33"/>
                </a:solidFill>
                <a:latin typeface="Cambria" panose="02040503050406030204" pitchFamily="18" charset="0"/>
              </a:rPr>
              <a:t>Files changed and what was tested</a:t>
            </a:r>
            <a:endParaRPr lang="en-IN" sz="3400" b="1">
              <a:solidFill>
                <a:srgbClr val="0B1F33"/>
              </a:solidFill>
              <a:latin typeface="Cambria" panose="02040503050406030204" pitchFamily="18" charset="0"/>
            </a:endParaRPr>
          </a:p>
        </p:txBody>
      </p:sp>
      <p:graphicFrame>
        <p:nvGraphicFramePr>
          <p:cNvPr id="3" name="Table 2">
            <a:extLst>
              <a:ext uri="{FF2B5EF4-FFF2-40B4-BE49-F238E27FC236}">
                <a16:creationId xmlns:a16="http://schemas.microsoft.com/office/drawing/2014/main" id="{D45832C7-5156-AB76-48D6-147518EFB3F8}"/>
              </a:ext>
            </a:extLst>
          </p:cNvPr>
          <p:cNvGraphicFramePr>
            <a:graphicFrameLocks noGrp="1"/>
          </p:cNvGraphicFramePr>
          <p:nvPr>
            <p:extLst>
              <p:ext uri="{D42A27DB-BD31-4B8C-83A1-F6EECF244321}">
                <p14:modId xmlns:p14="http://schemas.microsoft.com/office/powerpoint/2010/main" val="1572153629"/>
              </p:ext>
            </p:extLst>
          </p:nvPr>
        </p:nvGraphicFramePr>
        <p:xfrm>
          <a:off x="609600" y="1320800"/>
          <a:ext cx="10972800" cy="3175000"/>
        </p:xfrm>
        <a:graphic>
          <a:graphicData uri="http://schemas.openxmlformats.org/drawingml/2006/table">
            <a:tbl>
              <a:tblPr firstRow="1" bandRow="1">
                <a:tableStyleId>{2D5ABB26-0587-4C30-8999-92F81FD0307C}</a:tableStyleId>
              </a:tblPr>
              <a:tblGrid>
                <a:gridCol w="5461000">
                  <a:extLst>
                    <a:ext uri="{9D8B030D-6E8A-4147-A177-3AD203B41FA5}">
                      <a16:colId xmlns:a16="http://schemas.microsoft.com/office/drawing/2014/main" val="1067098390"/>
                    </a:ext>
                  </a:extLst>
                </a:gridCol>
                <a:gridCol w="3810000">
                  <a:extLst>
                    <a:ext uri="{9D8B030D-6E8A-4147-A177-3AD203B41FA5}">
                      <a16:colId xmlns:a16="http://schemas.microsoft.com/office/drawing/2014/main" val="1591296359"/>
                    </a:ext>
                  </a:extLst>
                </a:gridCol>
                <a:gridCol w="1701800">
                  <a:extLst>
                    <a:ext uri="{9D8B030D-6E8A-4147-A177-3AD203B41FA5}">
                      <a16:colId xmlns:a16="http://schemas.microsoft.com/office/drawing/2014/main" val="781269353"/>
                    </a:ext>
                  </a:extLst>
                </a:gridCol>
              </a:tblGrid>
              <a:tr h="635000">
                <a:tc>
                  <a:txBody>
                    <a:bodyPr/>
                    <a:lstStyle/>
                    <a:p>
                      <a:r>
                        <a:rPr lang="en-IN" sz="1400" b="1">
                          <a:solidFill>
                            <a:srgbClr val="FFFFFF"/>
                          </a:solidFill>
                          <a:latin typeface="Calibri" panose="020F0502020204030204" pitchFamily="34" charset="0"/>
                        </a:rPr>
                        <a:t>File</a:t>
                      </a:r>
                    </a:p>
                  </a:txBody>
                  <a:tcPr marL="127000" anchor="ctr">
                    <a:solidFill>
                      <a:srgbClr val="12304D"/>
                    </a:solidFill>
                  </a:tcPr>
                </a:tc>
                <a:tc>
                  <a:txBody>
                    <a:bodyPr/>
                    <a:lstStyle/>
                    <a:p>
                      <a:r>
                        <a:rPr lang="en-IN" sz="1400" b="1">
                          <a:solidFill>
                            <a:srgbClr val="FFFFFF"/>
                          </a:solidFill>
                          <a:latin typeface="Calibri" panose="020F0502020204030204" pitchFamily="34" charset="0"/>
                        </a:rPr>
                        <a:t>Change</a:t>
                      </a:r>
                    </a:p>
                  </a:txBody>
                  <a:tcPr marL="127000" anchor="ctr">
                    <a:solidFill>
                      <a:srgbClr val="12304D"/>
                    </a:solidFill>
                  </a:tcPr>
                </a:tc>
                <a:tc>
                  <a:txBody>
                    <a:bodyPr/>
                    <a:lstStyle/>
                    <a:p>
                      <a:r>
                        <a:rPr lang="en-IN" sz="1400" b="1">
                          <a:solidFill>
                            <a:srgbClr val="FFFFFF"/>
                          </a:solidFill>
                          <a:latin typeface="Calibri" panose="020F0502020204030204" pitchFamily="34" charset="0"/>
                        </a:rPr>
                        <a:t>Tested</a:t>
                      </a:r>
                    </a:p>
                  </a:txBody>
                  <a:tcPr marL="127000" anchor="ctr">
                    <a:solidFill>
                      <a:srgbClr val="12304D"/>
                    </a:solidFill>
                  </a:tcPr>
                </a:tc>
                <a:extLst>
                  <a:ext uri="{0D108BD9-81ED-4DB2-BD59-A6C34878D82A}">
                    <a16:rowId xmlns:a16="http://schemas.microsoft.com/office/drawing/2014/main" val="594964254"/>
                  </a:ext>
                </a:extLst>
              </a:tr>
              <a:tr h="635000">
                <a:tc>
                  <a:txBody>
                    <a:bodyPr/>
                    <a:lstStyle/>
                    <a:p>
                      <a:r>
                        <a:rPr lang="sv-SE" sz="1400" b="0">
                          <a:solidFill>
                            <a:srgbClr val="0B1F33"/>
                          </a:solidFill>
                          <a:latin typeface="Calibri" panose="020F0502020204030204" pitchFamily="34" charset="0"/>
                        </a:rPr>
                        <a:t>grc/blocks/parameter.block.yml</a:t>
                      </a:r>
                      <a:endParaRPr lang="en-IN" sz="1400" b="0">
                        <a:solidFill>
                          <a:srgbClr val="0B1F33"/>
                        </a:solidFill>
                        <a:latin typeface="Calibri" panose="020F0502020204030204" pitchFamily="34" charset="0"/>
                      </a:endParaRPr>
                    </a:p>
                  </a:txBody>
                  <a:tcPr marL="127000" anchor="ctr">
                    <a:solidFill>
                      <a:srgbClr val="F4F7FA"/>
                    </a:solidFill>
                  </a:tcPr>
                </a:tc>
                <a:tc>
                  <a:txBody>
                    <a:bodyPr/>
                    <a:lstStyle/>
                    <a:p>
                      <a:r>
                        <a:rPr lang="en-IN" sz="1400" b="0">
                          <a:solidFill>
                            <a:srgbClr val="0B1F33"/>
                          </a:solidFill>
                          <a:latin typeface="Calibri" panose="020F0502020204030204" pitchFamily="34" charset="0"/>
                        </a:rPr>
                        <a:t>Required field and documentation</a:t>
                      </a:r>
                    </a:p>
                  </a:txBody>
                  <a:tcPr marL="127000" anchor="ctr">
                    <a:solidFill>
                      <a:srgbClr val="F4F7FA"/>
                    </a:solidFill>
                  </a:tcPr>
                </a:tc>
                <a:tc>
                  <a:txBody>
                    <a:bodyPr/>
                    <a:lstStyle/>
                    <a:p>
                      <a:r>
                        <a:rPr lang="en-IN" sz="1400" b="1">
                          <a:solidFill>
                            <a:srgbClr val="11693A"/>
                          </a:solidFill>
                          <a:latin typeface="Calibri" panose="020F0502020204030204" pitchFamily="34" charset="0"/>
                        </a:rPr>
                        <a:t>Yes</a:t>
                      </a:r>
                    </a:p>
                  </a:txBody>
                  <a:tcPr marL="127000" anchor="ctr">
                    <a:solidFill>
                      <a:srgbClr val="D7F3E3"/>
                    </a:solidFill>
                  </a:tcPr>
                </a:tc>
                <a:extLst>
                  <a:ext uri="{0D108BD9-81ED-4DB2-BD59-A6C34878D82A}">
                    <a16:rowId xmlns:a16="http://schemas.microsoft.com/office/drawing/2014/main" val="3235469033"/>
                  </a:ext>
                </a:extLst>
              </a:tr>
              <a:tr h="635000">
                <a:tc>
                  <a:txBody>
                    <a:bodyPr/>
                    <a:lstStyle/>
                    <a:p>
                      <a:r>
                        <a:rPr lang="en-IN" sz="1400" b="0">
                          <a:solidFill>
                            <a:srgbClr val="0B1F33"/>
                          </a:solidFill>
                          <a:latin typeface="Calibri" panose="020F0502020204030204" pitchFamily="34" charset="0"/>
                        </a:rPr>
                        <a:t>grc/workflows/python_nogui/flow_graph_nogui.py.mako</a:t>
                      </a:r>
                    </a:p>
                  </a:txBody>
                  <a:tcPr marL="127000" anchor="ctr">
                    <a:solidFill>
                      <a:srgbClr val="FFFFFF"/>
                    </a:solidFill>
                  </a:tcPr>
                </a:tc>
                <a:tc>
                  <a:txBody>
                    <a:bodyPr/>
                    <a:lstStyle/>
                    <a:p>
                      <a:r>
                        <a:rPr lang="en-IN" sz="1400" b="0">
                          <a:solidFill>
                            <a:srgbClr val="0B1F33"/>
                          </a:solidFill>
                          <a:latin typeface="Calibri" panose="020F0502020204030204" pitchFamily="34" charset="0"/>
                        </a:rPr>
                        <a:t>Required or default argument</a:t>
                      </a:r>
                    </a:p>
                  </a:txBody>
                  <a:tcPr marL="127000" anchor="ctr">
                    <a:solidFill>
                      <a:srgbClr val="FFFFFF"/>
                    </a:solidFill>
                  </a:tcPr>
                </a:tc>
                <a:tc>
                  <a:txBody>
                    <a:bodyPr/>
                    <a:lstStyle/>
                    <a:p>
                      <a:r>
                        <a:rPr lang="en-IN" sz="1400" b="1">
                          <a:solidFill>
                            <a:srgbClr val="11693A"/>
                          </a:solidFill>
                          <a:latin typeface="Calibri" panose="020F0502020204030204" pitchFamily="34" charset="0"/>
                        </a:rPr>
                        <a:t>Yes</a:t>
                      </a:r>
                    </a:p>
                  </a:txBody>
                  <a:tcPr marL="127000" anchor="ctr">
                    <a:solidFill>
                      <a:srgbClr val="D7F3E3"/>
                    </a:solidFill>
                  </a:tcPr>
                </a:tc>
                <a:extLst>
                  <a:ext uri="{0D108BD9-81ED-4DB2-BD59-A6C34878D82A}">
                    <a16:rowId xmlns:a16="http://schemas.microsoft.com/office/drawing/2014/main" val="264979609"/>
                  </a:ext>
                </a:extLst>
              </a:tr>
              <a:tr h="635000">
                <a:tc>
                  <a:txBody>
                    <a:bodyPr/>
                    <a:lstStyle/>
                    <a:p>
                      <a:r>
                        <a:rPr lang="en-IN" sz="1400" b="0">
                          <a:solidFill>
                            <a:srgbClr val="0B1F33"/>
                          </a:solidFill>
                          <a:latin typeface="Calibri" panose="020F0502020204030204" pitchFamily="34" charset="0"/>
                        </a:rPr>
                        <a:t>grc/workflows/python_qt_gui/flow_graph_qt_gui.py.mako</a:t>
                      </a:r>
                    </a:p>
                  </a:txBody>
                  <a:tcPr marL="127000" anchor="ctr">
                    <a:solidFill>
                      <a:srgbClr val="F4F7FA"/>
                    </a:solidFill>
                  </a:tcPr>
                </a:tc>
                <a:tc>
                  <a:txBody>
                    <a:bodyPr/>
                    <a:lstStyle/>
                    <a:p>
                      <a:r>
                        <a:rPr lang="en-US" sz="1400" b="0">
                          <a:solidFill>
                            <a:srgbClr val="0B1F33"/>
                          </a:solidFill>
                          <a:latin typeface="Calibri" panose="020F0502020204030204" pitchFamily="34" charset="0"/>
                        </a:rPr>
                        <a:t>Same logic for Qt GUI scripts</a:t>
                      </a:r>
                      <a:endParaRPr lang="en-IN" sz="1400" b="0">
                        <a:solidFill>
                          <a:srgbClr val="0B1F33"/>
                        </a:solidFill>
                        <a:latin typeface="Calibri" panose="020F0502020204030204" pitchFamily="34" charset="0"/>
                      </a:endParaRPr>
                    </a:p>
                  </a:txBody>
                  <a:tcPr marL="127000" anchor="ctr">
                    <a:solidFill>
                      <a:srgbClr val="F4F7FA"/>
                    </a:solidFill>
                  </a:tcPr>
                </a:tc>
                <a:tc>
                  <a:txBody>
                    <a:bodyPr/>
                    <a:lstStyle/>
                    <a:p>
                      <a:r>
                        <a:rPr lang="en-IN" sz="1400" b="1">
                          <a:solidFill>
                            <a:srgbClr val="8A5300"/>
                          </a:solidFill>
                          <a:latin typeface="Calibri" panose="020F0502020204030204" pitchFamily="34" charset="0"/>
                        </a:rPr>
                        <a:t>Not yet</a:t>
                      </a:r>
                    </a:p>
                  </a:txBody>
                  <a:tcPr marL="127000" anchor="ctr">
                    <a:solidFill>
                      <a:srgbClr val="FCE8C3"/>
                    </a:solidFill>
                  </a:tcPr>
                </a:tc>
                <a:extLst>
                  <a:ext uri="{0D108BD9-81ED-4DB2-BD59-A6C34878D82A}">
                    <a16:rowId xmlns:a16="http://schemas.microsoft.com/office/drawing/2014/main" val="3944411060"/>
                  </a:ext>
                </a:extLst>
              </a:tr>
              <a:tr h="635000">
                <a:tc>
                  <a:txBody>
                    <a:bodyPr/>
                    <a:lstStyle/>
                    <a:p>
                      <a:r>
                        <a:rPr lang="en-IN" sz="1400" b="0">
                          <a:solidFill>
                            <a:srgbClr val="0B1F33"/>
                          </a:solidFill>
                          <a:latin typeface="Calibri" panose="020F0502020204030204" pitchFamily="34" charset="0"/>
                        </a:rPr>
                        <a:t>grc/workflows/python_bokeh_gui/flow_graph_bokeh_gui.py.mako</a:t>
                      </a:r>
                    </a:p>
                  </a:txBody>
                  <a:tcPr marL="127000" anchor="ctr">
                    <a:solidFill>
                      <a:srgbClr val="FFFFFF"/>
                    </a:solidFill>
                  </a:tcPr>
                </a:tc>
                <a:tc>
                  <a:txBody>
                    <a:bodyPr/>
                    <a:lstStyle/>
                    <a:p>
                      <a:r>
                        <a:rPr lang="en-US" sz="1400" b="0">
                          <a:solidFill>
                            <a:srgbClr val="0B1F33"/>
                          </a:solidFill>
                          <a:latin typeface="Calibri" panose="020F0502020204030204" pitchFamily="34" charset="0"/>
                        </a:rPr>
                        <a:t>Same logic for Bokeh GUI scripts</a:t>
                      </a:r>
                      <a:endParaRPr lang="en-IN" sz="1400" b="0">
                        <a:solidFill>
                          <a:srgbClr val="0B1F33"/>
                        </a:solidFill>
                        <a:latin typeface="Calibri" panose="020F0502020204030204" pitchFamily="34" charset="0"/>
                      </a:endParaRPr>
                    </a:p>
                  </a:txBody>
                  <a:tcPr marL="127000" anchor="ctr">
                    <a:solidFill>
                      <a:srgbClr val="FFFFFF"/>
                    </a:solidFill>
                  </a:tcPr>
                </a:tc>
                <a:tc>
                  <a:txBody>
                    <a:bodyPr/>
                    <a:lstStyle/>
                    <a:p>
                      <a:r>
                        <a:rPr lang="en-IN" sz="1400" b="1">
                          <a:solidFill>
                            <a:srgbClr val="8A5300"/>
                          </a:solidFill>
                          <a:latin typeface="Calibri" panose="020F0502020204030204" pitchFamily="34" charset="0"/>
                        </a:rPr>
                        <a:t>Not yet</a:t>
                      </a:r>
                    </a:p>
                  </a:txBody>
                  <a:tcPr marL="127000" anchor="ctr">
                    <a:solidFill>
                      <a:srgbClr val="FCE8C3"/>
                    </a:solidFill>
                  </a:tcPr>
                </a:tc>
                <a:extLst>
                  <a:ext uri="{0D108BD9-81ED-4DB2-BD59-A6C34878D82A}">
                    <a16:rowId xmlns:a16="http://schemas.microsoft.com/office/drawing/2014/main" val="1673184981"/>
                  </a:ext>
                </a:extLst>
              </a:tr>
            </a:tbl>
          </a:graphicData>
        </a:graphic>
      </p:graphicFrame>
      <p:sp>
        <p:nvSpPr>
          <p:cNvPr id="4" name="Rectangle: Rounded Corners 3">
            <a:extLst>
              <a:ext uri="{FF2B5EF4-FFF2-40B4-BE49-F238E27FC236}">
                <a16:creationId xmlns:a16="http://schemas.microsoft.com/office/drawing/2014/main" id="{1C54E6B5-6C58-DE4D-2A03-FD7468C657D4}"/>
              </a:ext>
            </a:extLst>
          </p:cNvPr>
          <p:cNvSpPr/>
          <p:nvPr/>
        </p:nvSpPr>
        <p:spPr>
          <a:xfrm>
            <a:off x="609600" y="4775200"/>
            <a:ext cx="10972800" cy="1270000"/>
          </a:xfrm>
          <a:prstGeom prst="roundRect">
            <a:avLst>
              <a:gd name="adj" fmla="val 6000"/>
            </a:avLst>
          </a:prstGeom>
          <a:solidFill>
            <a:srgbClr val="F4F7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80A3262A-748F-44A4-52F5-329322D057AF}"/>
              </a:ext>
            </a:extLst>
          </p:cNvPr>
          <p:cNvSpPr txBox="1"/>
          <p:nvPr/>
        </p:nvSpPr>
        <p:spPr>
          <a:xfrm>
            <a:off x="889000" y="4927600"/>
            <a:ext cx="10414000" cy="965200"/>
          </a:xfrm>
          <a:prstGeom prst="rect">
            <a:avLst/>
          </a:prstGeom>
          <a:noFill/>
        </p:spPr>
        <p:txBody>
          <a:bodyPr vert="horz" wrap="square" lIns="0" tIns="0" rIns="0" bIns="0" rtlCol="0" anchor="t">
            <a:noAutofit/>
          </a:bodyPr>
          <a:lstStyle/>
          <a:p>
            <a:r>
              <a:rPr lang="en-US" sz="1600">
                <a:solidFill>
                  <a:srgbClr val="0B1F33"/>
                </a:solidFill>
                <a:latin typeface="Calibri" panose="020F0502020204030204" pitchFamily="34" charset="0"/>
              </a:rPr>
              <a:t>Commit f7afafee6: 4 files changed, 30 insertions(+). No deletions.</a:t>
            </a:r>
          </a:p>
          <a:p>
            <a:r>
              <a:rPr lang="en-US" sz="1600">
                <a:solidFill>
                  <a:srgbClr val="0B1F33"/>
                </a:solidFill>
                <a:latin typeface="Calibri" panose="020F0502020204030204" pitchFamily="34" charset="0"/>
              </a:rPr>
              <a:t>The change is additive. The existing optional behaviour was not rewritten.</a:t>
            </a:r>
            <a:endParaRPr lang="en-IN" sz="1600">
              <a:solidFill>
                <a:srgbClr val="0B1F33"/>
              </a:solidFill>
              <a:latin typeface="Calibri" panose="020F0502020204030204" pitchFamily="34" charset="0"/>
            </a:endParaRPr>
          </a:p>
        </p:txBody>
      </p:sp>
      <p:sp>
        <p:nvSpPr>
          <p:cNvPr id="6" name="TextBox 5">
            <a:extLst>
              <a:ext uri="{FF2B5EF4-FFF2-40B4-BE49-F238E27FC236}">
                <a16:creationId xmlns:a16="http://schemas.microsoft.com/office/drawing/2014/main" id="{2E3718DB-E3CB-588E-BC99-60694A4E8E29}"/>
              </a:ext>
            </a:extLst>
          </p:cNvPr>
          <p:cNvSpPr txBox="1"/>
          <p:nvPr/>
        </p:nvSpPr>
        <p:spPr>
          <a:xfrm>
            <a:off x="609600" y="6451600"/>
            <a:ext cx="7620000" cy="203200"/>
          </a:xfrm>
          <a:prstGeom prst="rect">
            <a:avLst/>
          </a:prstGeom>
          <a:noFill/>
        </p:spPr>
        <p:txBody>
          <a:bodyPr vert="horz" wrap="square" lIns="0" tIns="0" rIns="0" bIns="0" rtlCol="0" anchor="t">
            <a:noAutofit/>
          </a:bodyPr>
          <a:lstStyle/>
          <a:p>
            <a:r>
              <a:rPr lang="en-IN" sz="1100">
                <a:solidFill>
                  <a:srgbClr val="5B6B7B"/>
                </a:solidFill>
                <a:latin typeface="Calibri" panose="020F0502020204030204" pitchFamily="34" charset="0"/>
              </a:rPr>
              <a:t>Project g16  |  M2 report  |  GNU Radio Companion contribution</a:t>
            </a:r>
          </a:p>
        </p:txBody>
      </p:sp>
      <p:sp>
        <p:nvSpPr>
          <p:cNvPr id="7" name="TextBox 6">
            <a:extLst>
              <a:ext uri="{FF2B5EF4-FFF2-40B4-BE49-F238E27FC236}">
                <a16:creationId xmlns:a16="http://schemas.microsoft.com/office/drawing/2014/main" id="{499ADD6F-A257-5462-6AFF-50E5CF7D0A9C}"/>
              </a:ext>
            </a:extLst>
          </p:cNvPr>
          <p:cNvSpPr txBox="1"/>
          <p:nvPr/>
        </p:nvSpPr>
        <p:spPr>
          <a:xfrm>
            <a:off x="10820400" y="6451600"/>
            <a:ext cx="762000" cy="203200"/>
          </a:xfrm>
          <a:prstGeom prst="rect">
            <a:avLst/>
          </a:prstGeom>
          <a:noFill/>
        </p:spPr>
        <p:txBody>
          <a:bodyPr vert="horz" wrap="square" lIns="0" tIns="0" rIns="0" bIns="0" rtlCol="0" anchor="t">
            <a:noAutofit/>
          </a:bodyPr>
          <a:lstStyle/>
          <a:p>
            <a:pPr algn="r"/>
            <a:r>
              <a:rPr lang="en-IN" sz="1100">
                <a:solidFill>
                  <a:srgbClr val="5B6B7B"/>
                </a:solidFill>
                <a:latin typeface="Calibri" panose="020F0502020204030204" pitchFamily="34" charset="0"/>
              </a:rPr>
              <a:t>7</a:t>
            </a:r>
          </a:p>
        </p:txBody>
      </p:sp>
    </p:spTree>
    <p:extLst>
      <p:ext uri="{BB962C8B-B14F-4D97-AF65-F5344CB8AC3E}">
        <p14:creationId xmlns:p14="http://schemas.microsoft.com/office/powerpoint/2010/main" val="12516158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2C629D-865A-3D87-376E-E79E34D3D0D9}"/>
              </a:ext>
            </a:extLst>
          </p:cNvPr>
          <p:cNvSpPr>
            <a:spLocks noGrp="1"/>
          </p:cNvSpPr>
          <p:nvPr>
            <p:ph type="title"/>
          </p:nvPr>
        </p:nvSpPr>
        <p:spPr>
          <a:xfrm>
            <a:off x="609600" y="330200"/>
            <a:ext cx="10972800" cy="787400"/>
          </a:xfrm>
        </p:spPr>
        <p:txBody>
          <a:bodyPr lIns="0" anchor="ctr">
            <a:normAutofit/>
          </a:bodyPr>
          <a:lstStyle/>
          <a:p>
            <a:r>
              <a:rPr lang="en-US" sz="3400" b="1">
                <a:solidFill>
                  <a:srgbClr val="0B1F33"/>
                </a:solidFill>
                <a:latin typeface="Cambria" panose="02040503050406030204" pitchFamily="18" charset="0"/>
              </a:rPr>
              <a:t>Testing: a small flowgraph and five commands</a:t>
            </a:r>
            <a:endParaRPr lang="en-IN" sz="3400" b="1">
              <a:solidFill>
                <a:srgbClr val="0B1F33"/>
              </a:solidFill>
              <a:latin typeface="Cambria" panose="02040503050406030204" pitchFamily="18" charset="0"/>
            </a:endParaRPr>
          </a:p>
        </p:txBody>
      </p:sp>
      <p:graphicFrame>
        <p:nvGraphicFramePr>
          <p:cNvPr id="3" name="Table 2">
            <a:extLst>
              <a:ext uri="{FF2B5EF4-FFF2-40B4-BE49-F238E27FC236}">
                <a16:creationId xmlns:a16="http://schemas.microsoft.com/office/drawing/2014/main" id="{ABFEA2EF-E844-3385-4C31-8551215B0154}"/>
              </a:ext>
            </a:extLst>
          </p:cNvPr>
          <p:cNvGraphicFramePr>
            <a:graphicFrameLocks noGrp="1"/>
          </p:cNvGraphicFramePr>
          <p:nvPr>
            <p:extLst>
              <p:ext uri="{D42A27DB-BD31-4B8C-83A1-F6EECF244321}">
                <p14:modId xmlns:p14="http://schemas.microsoft.com/office/powerpoint/2010/main" val="4262135498"/>
              </p:ext>
            </p:extLst>
          </p:nvPr>
        </p:nvGraphicFramePr>
        <p:xfrm>
          <a:off x="609600" y="1320800"/>
          <a:ext cx="5080000" cy="1676400"/>
        </p:xfrm>
        <a:graphic>
          <a:graphicData uri="http://schemas.openxmlformats.org/drawingml/2006/table">
            <a:tbl>
              <a:tblPr firstRow="1" bandRow="1">
                <a:tableStyleId>{2D5ABB26-0587-4C30-8999-92F81FD0307C}</a:tableStyleId>
              </a:tblPr>
              <a:tblGrid>
                <a:gridCol w="1651000">
                  <a:extLst>
                    <a:ext uri="{9D8B030D-6E8A-4147-A177-3AD203B41FA5}">
                      <a16:colId xmlns:a16="http://schemas.microsoft.com/office/drawing/2014/main" val="2283106350"/>
                    </a:ext>
                  </a:extLst>
                </a:gridCol>
                <a:gridCol w="889000">
                  <a:extLst>
                    <a:ext uri="{9D8B030D-6E8A-4147-A177-3AD203B41FA5}">
                      <a16:colId xmlns:a16="http://schemas.microsoft.com/office/drawing/2014/main" val="1658381263"/>
                    </a:ext>
                  </a:extLst>
                </a:gridCol>
                <a:gridCol w="1016000">
                  <a:extLst>
                    <a:ext uri="{9D8B030D-6E8A-4147-A177-3AD203B41FA5}">
                      <a16:colId xmlns:a16="http://schemas.microsoft.com/office/drawing/2014/main" val="3337998688"/>
                    </a:ext>
                  </a:extLst>
                </a:gridCol>
                <a:gridCol w="1524000">
                  <a:extLst>
                    <a:ext uri="{9D8B030D-6E8A-4147-A177-3AD203B41FA5}">
                      <a16:colId xmlns:a16="http://schemas.microsoft.com/office/drawing/2014/main" val="3579125225"/>
                    </a:ext>
                  </a:extLst>
                </a:gridCol>
              </a:tblGrid>
              <a:tr h="558800">
                <a:tc>
                  <a:txBody>
                    <a:bodyPr/>
                    <a:lstStyle/>
                    <a:p>
                      <a:r>
                        <a:rPr lang="en-IN" sz="1400" b="1">
                          <a:solidFill>
                            <a:srgbClr val="FFFFFF"/>
                          </a:solidFill>
                          <a:latin typeface="Calibri" panose="020F0502020204030204" pitchFamily="34" charset="0"/>
                        </a:rPr>
                        <a:t>Parameter</a:t>
                      </a:r>
                    </a:p>
                  </a:txBody>
                  <a:tcPr marL="127000" anchor="ctr">
                    <a:solidFill>
                      <a:srgbClr val="12304D"/>
                    </a:solidFill>
                  </a:tcPr>
                </a:tc>
                <a:tc>
                  <a:txBody>
                    <a:bodyPr/>
                    <a:lstStyle/>
                    <a:p>
                      <a:r>
                        <a:rPr lang="en-IN" sz="1400" b="1">
                          <a:solidFill>
                            <a:srgbClr val="FFFFFF"/>
                          </a:solidFill>
                          <a:latin typeface="Calibri" panose="020F0502020204030204" pitchFamily="34" charset="0"/>
                        </a:rPr>
                        <a:t>Type</a:t>
                      </a:r>
                    </a:p>
                  </a:txBody>
                  <a:tcPr marL="127000" anchor="ctr">
                    <a:solidFill>
                      <a:srgbClr val="12304D"/>
                    </a:solidFill>
                  </a:tcPr>
                </a:tc>
                <a:tc>
                  <a:txBody>
                    <a:bodyPr/>
                    <a:lstStyle/>
                    <a:p>
                      <a:r>
                        <a:rPr lang="en-IN" sz="1400" b="1">
                          <a:solidFill>
                            <a:srgbClr val="FFFFFF"/>
                          </a:solidFill>
                          <a:latin typeface="Calibri" panose="020F0502020204030204" pitchFamily="34" charset="0"/>
                        </a:rPr>
                        <a:t>Value</a:t>
                      </a:r>
                    </a:p>
                  </a:txBody>
                  <a:tcPr marL="127000" anchor="ctr">
                    <a:solidFill>
                      <a:srgbClr val="12304D"/>
                    </a:solidFill>
                  </a:tcPr>
                </a:tc>
                <a:tc>
                  <a:txBody>
                    <a:bodyPr/>
                    <a:lstStyle/>
                    <a:p>
                      <a:r>
                        <a:rPr lang="en-IN" sz="1400" b="1">
                          <a:solidFill>
                            <a:srgbClr val="FFFFFF"/>
                          </a:solidFill>
                          <a:latin typeface="Calibri" panose="020F0502020204030204" pitchFamily="34" charset="0"/>
                        </a:rPr>
                        <a:t>Required</a:t>
                      </a:r>
                    </a:p>
                  </a:txBody>
                  <a:tcPr marL="127000" anchor="ctr">
                    <a:solidFill>
                      <a:srgbClr val="12304D"/>
                    </a:solidFill>
                  </a:tcPr>
                </a:tc>
                <a:extLst>
                  <a:ext uri="{0D108BD9-81ED-4DB2-BD59-A6C34878D82A}">
                    <a16:rowId xmlns:a16="http://schemas.microsoft.com/office/drawing/2014/main" val="3416925557"/>
                  </a:ext>
                </a:extLst>
              </a:tr>
              <a:tr h="558800">
                <a:tc>
                  <a:txBody>
                    <a:bodyPr/>
                    <a:lstStyle/>
                    <a:p>
                      <a:r>
                        <a:rPr lang="en-IN" sz="1400" b="0">
                          <a:solidFill>
                            <a:srgbClr val="0B1F33"/>
                          </a:solidFill>
                          <a:latin typeface="Calibri" panose="020F0502020204030204" pitchFamily="34" charset="0"/>
                        </a:rPr>
                        <a:t>required_count</a:t>
                      </a:r>
                    </a:p>
                  </a:txBody>
                  <a:tcPr marL="127000" anchor="ctr">
                    <a:solidFill>
                      <a:srgbClr val="F4F7FA"/>
                    </a:solidFill>
                  </a:tcPr>
                </a:tc>
                <a:tc>
                  <a:txBody>
                    <a:bodyPr/>
                    <a:lstStyle/>
                    <a:p>
                      <a:r>
                        <a:rPr lang="en-IN" sz="1400" b="0">
                          <a:solidFill>
                            <a:srgbClr val="0B1F33"/>
                          </a:solidFill>
                          <a:latin typeface="Calibri" panose="020F0502020204030204" pitchFamily="34" charset="0"/>
                        </a:rPr>
                        <a:t>intx</a:t>
                      </a:r>
                    </a:p>
                  </a:txBody>
                  <a:tcPr marL="127000" anchor="ctr">
                    <a:solidFill>
                      <a:srgbClr val="F4F7FA"/>
                    </a:solidFill>
                  </a:tcPr>
                </a:tc>
                <a:tc>
                  <a:txBody>
                    <a:bodyPr/>
                    <a:lstStyle/>
                    <a:p>
                      <a:r>
                        <a:rPr lang="en-IN" sz="1400" b="0">
                          <a:solidFill>
                            <a:srgbClr val="0B1F33"/>
                          </a:solidFill>
                          <a:latin typeface="Calibri" panose="020F0502020204030204" pitchFamily="34" charset="0"/>
                        </a:rPr>
                        <a:t>10</a:t>
                      </a:r>
                    </a:p>
                  </a:txBody>
                  <a:tcPr marL="127000" anchor="ctr">
                    <a:solidFill>
                      <a:srgbClr val="F4F7FA"/>
                    </a:solidFill>
                  </a:tcPr>
                </a:tc>
                <a:tc>
                  <a:txBody>
                    <a:bodyPr/>
                    <a:lstStyle/>
                    <a:p>
                      <a:r>
                        <a:rPr lang="en-IN" sz="1400" b="0">
                          <a:solidFill>
                            <a:srgbClr val="0B1F33"/>
                          </a:solidFill>
                          <a:latin typeface="Calibri" panose="020F0502020204030204" pitchFamily="34" charset="0"/>
                        </a:rPr>
                        <a:t>True</a:t>
                      </a:r>
                    </a:p>
                  </a:txBody>
                  <a:tcPr marL="127000" anchor="ctr">
                    <a:solidFill>
                      <a:srgbClr val="F4F7FA"/>
                    </a:solidFill>
                  </a:tcPr>
                </a:tc>
                <a:extLst>
                  <a:ext uri="{0D108BD9-81ED-4DB2-BD59-A6C34878D82A}">
                    <a16:rowId xmlns:a16="http://schemas.microsoft.com/office/drawing/2014/main" val="1990042401"/>
                  </a:ext>
                </a:extLst>
              </a:tr>
              <a:tr h="558800">
                <a:tc>
                  <a:txBody>
                    <a:bodyPr/>
                    <a:lstStyle/>
                    <a:p>
                      <a:r>
                        <a:rPr lang="en-IN" sz="1400" b="0">
                          <a:solidFill>
                            <a:srgbClr val="0B1F33"/>
                          </a:solidFill>
                          <a:latin typeface="Calibri" panose="020F0502020204030204" pitchFamily="34" charset="0"/>
                        </a:rPr>
                        <a:t>optional_count</a:t>
                      </a:r>
                    </a:p>
                  </a:txBody>
                  <a:tcPr marL="127000" anchor="ctr">
                    <a:solidFill>
                      <a:srgbClr val="FFFFFF"/>
                    </a:solidFill>
                  </a:tcPr>
                </a:tc>
                <a:tc>
                  <a:txBody>
                    <a:bodyPr/>
                    <a:lstStyle/>
                    <a:p>
                      <a:r>
                        <a:rPr lang="en-IN" sz="1400" b="0">
                          <a:solidFill>
                            <a:srgbClr val="0B1F33"/>
                          </a:solidFill>
                          <a:latin typeface="Calibri" panose="020F0502020204030204" pitchFamily="34" charset="0"/>
                        </a:rPr>
                        <a:t>intx</a:t>
                      </a:r>
                    </a:p>
                  </a:txBody>
                  <a:tcPr marL="127000" anchor="ctr">
                    <a:solidFill>
                      <a:srgbClr val="FFFFFF"/>
                    </a:solidFill>
                  </a:tcPr>
                </a:tc>
                <a:tc>
                  <a:txBody>
                    <a:bodyPr/>
                    <a:lstStyle/>
                    <a:p>
                      <a:r>
                        <a:rPr lang="en-IN" sz="1400" b="0">
                          <a:solidFill>
                            <a:srgbClr val="0B1F33"/>
                          </a:solidFill>
                          <a:latin typeface="Calibri" panose="020F0502020204030204" pitchFamily="34" charset="0"/>
                        </a:rPr>
                        <a:t>20</a:t>
                      </a:r>
                    </a:p>
                  </a:txBody>
                  <a:tcPr marL="127000" anchor="ctr">
                    <a:solidFill>
                      <a:srgbClr val="FFFFFF"/>
                    </a:solidFill>
                  </a:tcPr>
                </a:tc>
                <a:tc>
                  <a:txBody>
                    <a:bodyPr/>
                    <a:lstStyle/>
                    <a:p>
                      <a:r>
                        <a:rPr lang="en-IN" sz="1400" b="0">
                          <a:solidFill>
                            <a:srgbClr val="0B1F33"/>
                          </a:solidFill>
                          <a:latin typeface="Calibri" panose="020F0502020204030204" pitchFamily="34" charset="0"/>
                        </a:rPr>
                        <a:t>False</a:t>
                      </a:r>
                    </a:p>
                  </a:txBody>
                  <a:tcPr marL="127000" anchor="ctr">
                    <a:solidFill>
                      <a:srgbClr val="FFFFFF"/>
                    </a:solidFill>
                  </a:tcPr>
                </a:tc>
                <a:extLst>
                  <a:ext uri="{0D108BD9-81ED-4DB2-BD59-A6C34878D82A}">
                    <a16:rowId xmlns:a16="http://schemas.microsoft.com/office/drawing/2014/main" val="686757561"/>
                  </a:ext>
                </a:extLst>
              </a:tr>
            </a:tbl>
          </a:graphicData>
        </a:graphic>
      </p:graphicFrame>
      <p:sp>
        <p:nvSpPr>
          <p:cNvPr id="4" name="TextBox 3">
            <a:extLst>
              <a:ext uri="{FF2B5EF4-FFF2-40B4-BE49-F238E27FC236}">
                <a16:creationId xmlns:a16="http://schemas.microsoft.com/office/drawing/2014/main" id="{CBF1D6E6-EFD1-D9E7-CE49-8A39A81A7610}"/>
              </a:ext>
            </a:extLst>
          </p:cNvPr>
          <p:cNvSpPr txBox="1"/>
          <p:nvPr/>
        </p:nvSpPr>
        <p:spPr>
          <a:xfrm>
            <a:off x="609600" y="2844800"/>
            <a:ext cx="5080000" cy="889000"/>
          </a:xfrm>
          <a:prstGeom prst="rect">
            <a:avLst/>
          </a:prstGeom>
          <a:noFill/>
        </p:spPr>
        <p:txBody>
          <a:bodyPr vert="horz" wrap="square" lIns="0" tIns="0" rIns="0" bIns="0" rtlCol="0" anchor="t">
            <a:noAutofit/>
          </a:bodyPr>
          <a:lstStyle/>
          <a:p>
            <a:r>
              <a:rPr lang="en-US" sz="1400">
                <a:solidFill>
                  <a:srgbClr val="5B6B7B"/>
                </a:solidFill>
                <a:latin typeface="Calibri" panose="020F0502020204030204" pitchFamily="34" charset="0"/>
              </a:rPr>
              <a:t>Temporary files, not in the repository:</a:t>
            </a:r>
          </a:p>
          <a:p>
            <a:r>
              <a:rPr lang="en-US" sz="1400">
                <a:solidFill>
                  <a:srgbClr val="5B6B7B"/>
                </a:solidFill>
                <a:latin typeface="Calibri" panose="020F0502020204030204" pitchFamily="34" charset="0"/>
              </a:rPr>
              <a:t>/tmp/test_required_parameter.grc</a:t>
            </a:r>
          </a:p>
          <a:p>
            <a:r>
              <a:rPr lang="en-US" sz="1400">
                <a:solidFill>
                  <a:srgbClr val="5B6B7B"/>
                </a:solidFill>
                <a:latin typeface="Calibri" panose="020F0502020204030204" pitchFamily="34" charset="0"/>
              </a:rPr>
              <a:t>/tmp/grc-required-output/test_required_parameter.py</a:t>
            </a:r>
            <a:endParaRPr lang="en-IN" sz="1400">
              <a:solidFill>
                <a:srgbClr val="5B6B7B"/>
              </a:solidFill>
              <a:latin typeface="Calibri" panose="020F0502020204030204" pitchFamily="34" charset="0"/>
            </a:endParaRPr>
          </a:p>
        </p:txBody>
      </p:sp>
      <p:sp>
        <p:nvSpPr>
          <p:cNvPr id="5" name="TextBox 4">
            <a:extLst>
              <a:ext uri="{FF2B5EF4-FFF2-40B4-BE49-F238E27FC236}">
                <a16:creationId xmlns:a16="http://schemas.microsoft.com/office/drawing/2014/main" id="{A0684785-7161-E98A-BCBB-4D806F153CDC}"/>
              </a:ext>
            </a:extLst>
          </p:cNvPr>
          <p:cNvSpPr txBox="1"/>
          <p:nvPr/>
        </p:nvSpPr>
        <p:spPr>
          <a:xfrm>
            <a:off x="609600" y="4064000"/>
            <a:ext cx="5080000" cy="1270000"/>
          </a:xfrm>
          <a:prstGeom prst="rect">
            <a:avLst/>
          </a:prstGeom>
          <a:noFill/>
        </p:spPr>
        <p:txBody>
          <a:bodyPr vert="horz" wrap="square" lIns="0" tIns="0" rIns="0" bIns="0" rtlCol="0" anchor="t">
            <a:noAutofit/>
          </a:bodyPr>
          <a:lstStyle/>
          <a:p>
            <a:r>
              <a:rPr lang="en-US" sz="1400">
                <a:solidFill>
                  <a:srgbClr val="0B1F33"/>
                </a:solidFill>
                <a:latin typeface="Calibri" panose="020F0502020204030204" pitchFamily="34" charset="0"/>
              </a:rPr>
              <a:t>The compiler found by default reported GNU Radio 3.10.12.0 and used installed blocks. The source-tree workflow directory and grc/blocks were loaded explicitly so the modified templates ran.</a:t>
            </a:r>
            <a:endParaRPr lang="en-IN" sz="1400">
              <a:solidFill>
                <a:srgbClr val="0B1F33"/>
              </a:solidFill>
              <a:latin typeface="Calibri" panose="020F0502020204030204" pitchFamily="34" charset="0"/>
            </a:endParaRPr>
          </a:p>
        </p:txBody>
      </p:sp>
      <p:sp>
        <p:nvSpPr>
          <p:cNvPr id="6" name="Rectangle: Rounded Corners 5">
            <a:extLst>
              <a:ext uri="{FF2B5EF4-FFF2-40B4-BE49-F238E27FC236}">
                <a16:creationId xmlns:a16="http://schemas.microsoft.com/office/drawing/2014/main" id="{4EF53004-E6DA-7660-0456-08D1009FFB44}"/>
              </a:ext>
            </a:extLst>
          </p:cNvPr>
          <p:cNvSpPr/>
          <p:nvPr/>
        </p:nvSpPr>
        <p:spPr>
          <a:xfrm>
            <a:off x="5994400" y="1320800"/>
            <a:ext cx="5588000" cy="4724400"/>
          </a:xfrm>
          <a:prstGeom prst="roundRect">
            <a:avLst>
              <a:gd name="adj" fmla="val 3000"/>
            </a:avLst>
          </a:prstGeom>
          <a:solidFill>
            <a:srgbClr val="0F223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280C6ECC-1BB7-CB3F-6BCE-15FF60E16587}"/>
              </a:ext>
            </a:extLst>
          </p:cNvPr>
          <p:cNvSpPr txBox="1"/>
          <p:nvPr/>
        </p:nvSpPr>
        <p:spPr>
          <a:xfrm>
            <a:off x="6197600" y="1447800"/>
            <a:ext cx="5181600" cy="228600"/>
          </a:xfrm>
          <a:prstGeom prst="rect">
            <a:avLst/>
          </a:prstGeom>
          <a:noFill/>
        </p:spPr>
        <p:txBody>
          <a:bodyPr vert="horz" wrap="square" lIns="0" tIns="0" rIns="0" bIns="0" rtlCol="0" anchor="t">
            <a:noAutofit/>
          </a:bodyPr>
          <a:lstStyle/>
          <a:p>
            <a:r>
              <a:rPr lang="en-IN" sz="1100">
                <a:solidFill>
                  <a:srgbClr val="7DD3C8"/>
                </a:solidFill>
                <a:latin typeface="Calibri" panose="020F0502020204030204" pitchFamily="34" charset="0"/>
              </a:rPr>
              <a:t>commands run</a:t>
            </a:r>
          </a:p>
        </p:txBody>
      </p:sp>
      <p:sp>
        <p:nvSpPr>
          <p:cNvPr id="8" name="TextBox 7">
            <a:extLst>
              <a:ext uri="{FF2B5EF4-FFF2-40B4-BE49-F238E27FC236}">
                <a16:creationId xmlns:a16="http://schemas.microsoft.com/office/drawing/2014/main" id="{9D212316-0DFF-AD45-FE60-67926488937F}"/>
              </a:ext>
            </a:extLst>
          </p:cNvPr>
          <p:cNvSpPr txBox="1"/>
          <p:nvPr/>
        </p:nvSpPr>
        <p:spPr>
          <a:xfrm>
            <a:off x="6197600" y="1727200"/>
            <a:ext cx="5181600" cy="4216400"/>
          </a:xfrm>
          <a:prstGeom prst="rect">
            <a:avLst/>
          </a:prstGeom>
          <a:noFill/>
        </p:spPr>
        <p:txBody>
          <a:bodyPr vert="horz" wrap="square" lIns="0" tIns="0" rIns="0" bIns="0" rtlCol="0" anchor="t">
            <a:noAutofit/>
          </a:bodyPr>
          <a:lstStyle/>
          <a:p>
            <a:r>
              <a:rPr lang="en-IN" sz="1300">
                <a:solidFill>
                  <a:srgbClr val="CBD5E1"/>
                </a:solidFill>
                <a:latin typeface="Consolas" panose="020B0609020204030204" pitchFamily="49" charset="0"/>
              </a:rPr>
              <a:t># syntax check</a:t>
            </a:r>
          </a:p>
          <a:p>
            <a:r>
              <a:rPr lang="en-IN" sz="1300">
                <a:solidFill>
                  <a:srgbClr val="CBD5E1"/>
                </a:solidFill>
                <a:latin typeface="Consolas" panose="020B0609020204030204" pitchFamily="49" charset="0"/>
              </a:rPr>
              <a:t>python3 -m py_compile test_required_parameter.py</a:t>
            </a:r>
          </a:p>
          <a:p>
            <a:endParaRPr lang="en-IN" sz="1300">
              <a:solidFill>
                <a:srgbClr val="CBD5E1"/>
              </a:solidFill>
              <a:latin typeface="Consolas" panose="020B0609020204030204" pitchFamily="49" charset="0"/>
            </a:endParaRPr>
          </a:p>
          <a:p>
            <a:r>
              <a:rPr lang="en-IN" sz="1300">
                <a:solidFill>
                  <a:srgbClr val="CBD5E1"/>
                </a:solidFill>
                <a:latin typeface="Consolas" panose="020B0609020204030204" pitchFamily="49" charset="0"/>
              </a:rPr>
              <a:t># required argument omitted</a:t>
            </a:r>
          </a:p>
          <a:p>
            <a:r>
              <a:rPr lang="en-IN" sz="1300">
                <a:solidFill>
                  <a:srgbClr val="CBD5E1"/>
                </a:solidFill>
                <a:latin typeface="Consolas" panose="020B0609020204030204" pitchFamily="49" charset="0"/>
              </a:rPr>
              <a:t>python3 test_required_parameter.py</a:t>
            </a:r>
          </a:p>
          <a:p>
            <a:endParaRPr lang="en-IN" sz="1300">
              <a:solidFill>
                <a:srgbClr val="CBD5E1"/>
              </a:solidFill>
              <a:latin typeface="Consolas" panose="020B0609020204030204" pitchFamily="49" charset="0"/>
            </a:endParaRPr>
          </a:p>
          <a:p>
            <a:r>
              <a:rPr lang="en-IN" sz="1300">
                <a:solidFill>
                  <a:srgbClr val="CBD5E1"/>
                </a:solidFill>
                <a:latin typeface="Consolas" panose="020B0609020204030204" pitchFamily="49" charset="0"/>
              </a:rPr>
              <a:t># required argument supplied</a:t>
            </a:r>
          </a:p>
          <a:p>
            <a:r>
              <a:rPr lang="en-IN" sz="1300">
                <a:solidFill>
                  <a:srgbClr val="CBD5E1"/>
                </a:solidFill>
                <a:latin typeface="Consolas" panose="020B0609020204030204" pitchFamily="49" charset="0"/>
              </a:rPr>
              <a:t>python3 test_required_parameter.py </a:t>
            </a:r>
            <a:r>
              <a:rPr lang="en-IN" sz="1300" b="1">
                <a:solidFill>
                  <a:srgbClr val="4ADE80"/>
                </a:solidFill>
                <a:latin typeface="Consolas" panose="020B0609020204030204" pitchFamily="49" charset="0"/>
              </a:rPr>
              <a:t>--required-count 5</a:t>
            </a:r>
          </a:p>
          <a:p>
            <a:endParaRPr lang="en-IN" sz="1300">
              <a:solidFill>
                <a:srgbClr val="CBD5E1"/>
              </a:solidFill>
              <a:latin typeface="Consolas" panose="020B0609020204030204" pitchFamily="49" charset="0"/>
            </a:endParaRPr>
          </a:p>
          <a:p>
            <a:r>
              <a:rPr lang="en-IN" sz="1300">
                <a:solidFill>
                  <a:srgbClr val="CBD5E1"/>
                </a:solidFill>
                <a:latin typeface="Consolas" panose="020B0609020204030204" pitchFamily="49" charset="0"/>
              </a:rPr>
              <a:t># help text</a:t>
            </a:r>
          </a:p>
          <a:p>
            <a:r>
              <a:rPr lang="en-IN" sz="1300">
                <a:solidFill>
                  <a:srgbClr val="CBD5E1"/>
                </a:solidFill>
                <a:latin typeface="Consolas" panose="020B0609020204030204" pitchFamily="49" charset="0"/>
              </a:rPr>
              <a:t>python3 test_required_parameter.py --help</a:t>
            </a:r>
          </a:p>
          <a:p>
            <a:endParaRPr lang="en-IN" sz="1300">
              <a:solidFill>
                <a:srgbClr val="CBD5E1"/>
              </a:solidFill>
              <a:latin typeface="Consolas" panose="020B0609020204030204" pitchFamily="49" charset="0"/>
            </a:endParaRPr>
          </a:p>
          <a:p>
            <a:r>
              <a:rPr lang="en-IN" sz="1300">
                <a:solidFill>
                  <a:srgbClr val="CBD5E1"/>
                </a:solidFill>
                <a:latin typeface="Consolas" panose="020B0609020204030204" pitchFamily="49" charset="0"/>
              </a:rPr>
              <a:t># patch whitespace</a:t>
            </a:r>
          </a:p>
          <a:p>
            <a:r>
              <a:rPr lang="en-IN" sz="1300">
                <a:solidFill>
                  <a:srgbClr val="CBD5E1"/>
                </a:solidFill>
                <a:latin typeface="Consolas" panose="020B0609020204030204" pitchFamily="49" charset="0"/>
              </a:rPr>
              <a:t>git diff --check</a:t>
            </a:r>
          </a:p>
        </p:txBody>
      </p:sp>
      <p:sp>
        <p:nvSpPr>
          <p:cNvPr id="9" name="TextBox 8">
            <a:extLst>
              <a:ext uri="{FF2B5EF4-FFF2-40B4-BE49-F238E27FC236}">
                <a16:creationId xmlns:a16="http://schemas.microsoft.com/office/drawing/2014/main" id="{AE2593BF-23F9-EF5F-9488-DF53CEB80E85}"/>
              </a:ext>
            </a:extLst>
          </p:cNvPr>
          <p:cNvSpPr txBox="1"/>
          <p:nvPr/>
        </p:nvSpPr>
        <p:spPr>
          <a:xfrm>
            <a:off x="609600" y="6451600"/>
            <a:ext cx="7620000" cy="203200"/>
          </a:xfrm>
          <a:prstGeom prst="rect">
            <a:avLst/>
          </a:prstGeom>
          <a:noFill/>
        </p:spPr>
        <p:txBody>
          <a:bodyPr vert="horz" wrap="square" lIns="0" tIns="0" rIns="0" bIns="0" rtlCol="0" anchor="t">
            <a:noAutofit/>
          </a:bodyPr>
          <a:lstStyle/>
          <a:p>
            <a:r>
              <a:rPr lang="en-IN" sz="1100">
                <a:solidFill>
                  <a:srgbClr val="5B6B7B"/>
                </a:solidFill>
                <a:latin typeface="Calibri" panose="020F0502020204030204" pitchFamily="34" charset="0"/>
              </a:rPr>
              <a:t>Project g16  |  M2 report  |  GNU Radio Companion contribution</a:t>
            </a:r>
          </a:p>
        </p:txBody>
      </p:sp>
      <p:sp>
        <p:nvSpPr>
          <p:cNvPr id="10" name="TextBox 9">
            <a:extLst>
              <a:ext uri="{FF2B5EF4-FFF2-40B4-BE49-F238E27FC236}">
                <a16:creationId xmlns:a16="http://schemas.microsoft.com/office/drawing/2014/main" id="{DEE7779E-18F0-A3BC-425C-89BA7E89566B}"/>
              </a:ext>
            </a:extLst>
          </p:cNvPr>
          <p:cNvSpPr txBox="1"/>
          <p:nvPr/>
        </p:nvSpPr>
        <p:spPr>
          <a:xfrm>
            <a:off x="10820400" y="6451600"/>
            <a:ext cx="762000" cy="203200"/>
          </a:xfrm>
          <a:prstGeom prst="rect">
            <a:avLst/>
          </a:prstGeom>
          <a:noFill/>
        </p:spPr>
        <p:txBody>
          <a:bodyPr vert="horz" wrap="square" lIns="0" tIns="0" rIns="0" bIns="0" rtlCol="0" anchor="t">
            <a:noAutofit/>
          </a:bodyPr>
          <a:lstStyle/>
          <a:p>
            <a:pPr algn="r"/>
            <a:r>
              <a:rPr lang="en-IN" sz="1100">
                <a:solidFill>
                  <a:srgbClr val="5B6B7B"/>
                </a:solidFill>
                <a:latin typeface="Calibri" panose="020F0502020204030204" pitchFamily="34" charset="0"/>
              </a:rPr>
              <a:t>8</a:t>
            </a:r>
          </a:p>
        </p:txBody>
      </p:sp>
    </p:spTree>
    <p:extLst>
      <p:ext uri="{BB962C8B-B14F-4D97-AF65-F5344CB8AC3E}">
        <p14:creationId xmlns:p14="http://schemas.microsoft.com/office/powerpoint/2010/main" val="26689862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849E9-EF7B-9567-95FB-C2B5F94206D1}"/>
              </a:ext>
            </a:extLst>
          </p:cNvPr>
          <p:cNvSpPr>
            <a:spLocks noGrp="1"/>
          </p:cNvSpPr>
          <p:nvPr>
            <p:ph type="title"/>
          </p:nvPr>
        </p:nvSpPr>
        <p:spPr>
          <a:xfrm>
            <a:off x="609600" y="330200"/>
            <a:ext cx="10972800" cy="787400"/>
          </a:xfrm>
        </p:spPr>
        <p:txBody>
          <a:bodyPr lIns="0" anchor="ctr">
            <a:normAutofit/>
          </a:bodyPr>
          <a:lstStyle/>
          <a:p>
            <a:r>
              <a:rPr lang="en-US" sz="3400" b="1">
                <a:solidFill>
                  <a:srgbClr val="0B1F33"/>
                </a:solidFill>
                <a:latin typeface="Cambria" panose="02040503050406030204" pitchFamily="18" charset="0"/>
              </a:rPr>
              <a:t>Generated code and parser behaviour</a:t>
            </a:r>
            <a:endParaRPr lang="en-IN" sz="3400" b="1">
              <a:solidFill>
                <a:srgbClr val="0B1F33"/>
              </a:solidFill>
              <a:latin typeface="Cambria" panose="02040503050406030204" pitchFamily="18" charset="0"/>
            </a:endParaRPr>
          </a:p>
        </p:txBody>
      </p:sp>
      <p:sp>
        <p:nvSpPr>
          <p:cNvPr id="3" name="Rectangle: Rounded Corners 2">
            <a:extLst>
              <a:ext uri="{FF2B5EF4-FFF2-40B4-BE49-F238E27FC236}">
                <a16:creationId xmlns:a16="http://schemas.microsoft.com/office/drawing/2014/main" id="{26EF7992-AB54-2D60-DAB0-83AB5D65D673}"/>
              </a:ext>
            </a:extLst>
          </p:cNvPr>
          <p:cNvSpPr/>
          <p:nvPr/>
        </p:nvSpPr>
        <p:spPr>
          <a:xfrm>
            <a:off x="609600" y="1244600"/>
            <a:ext cx="10972800" cy="1905000"/>
          </a:xfrm>
          <a:prstGeom prst="roundRect">
            <a:avLst>
              <a:gd name="adj" fmla="val 3000"/>
            </a:avLst>
          </a:prstGeom>
          <a:solidFill>
            <a:srgbClr val="0F223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484E848E-FAFF-DC19-0C23-FBD4936810E9}"/>
              </a:ext>
            </a:extLst>
          </p:cNvPr>
          <p:cNvSpPr txBox="1"/>
          <p:nvPr/>
        </p:nvSpPr>
        <p:spPr>
          <a:xfrm>
            <a:off x="812800" y="1371600"/>
            <a:ext cx="10566400" cy="228600"/>
          </a:xfrm>
          <a:prstGeom prst="rect">
            <a:avLst/>
          </a:prstGeom>
          <a:noFill/>
        </p:spPr>
        <p:txBody>
          <a:bodyPr vert="horz" wrap="square" lIns="0" tIns="0" rIns="0" bIns="0" rtlCol="0" anchor="t">
            <a:noAutofit/>
          </a:bodyPr>
          <a:lstStyle/>
          <a:p>
            <a:r>
              <a:rPr lang="en-US" sz="1100">
                <a:solidFill>
                  <a:srgbClr val="7DD3C8"/>
                </a:solidFill>
                <a:latin typeface="Calibri" panose="020F0502020204030204" pitchFamily="34" charset="0"/>
              </a:rPr>
              <a:t>generated test_required_parameter.py</a:t>
            </a:r>
            <a:endParaRPr lang="en-IN" sz="1100">
              <a:solidFill>
                <a:srgbClr val="7DD3C8"/>
              </a:solidFill>
              <a:latin typeface="Calibri" panose="020F0502020204030204" pitchFamily="34" charset="0"/>
            </a:endParaRPr>
          </a:p>
        </p:txBody>
      </p:sp>
      <p:sp>
        <p:nvSpPr>
          <p:cNvPr id="5" name="TextBox 4">
            <a:extLst>
              <a:ext uri="{FF2B5EF4-FFF2-40B4-BE49-F238E27FC236}">
                <a16:creationId xmlns:a16="http://schemas.microsoft.com/office/drawing/2014/main" id="{3CBB939F-1511-A499-EB25-4D7B279B5D8F}"/>
              </a:ext>
            </a:extLst>
          </p:cNvPr>
          <p:cNvSpPr txBox="1"/>
          <p:nvPr/>
        </p:nvSpPr>
        <p:spPr>
          <a:xfrm>
            <a:off x="812800" y="1651000"/>
            <a:ext cx="10566400" cy="1397000"/>
          </a:xfrm>
          <a:prstGeom prst="rect">
            <a:avLst/>
          </a:prstGeom>
          <a:noFill/>
        </p:spPr>
        <p:txBody>
          <a:bodyPr vert="horz" wrap="square" lIns="0" tIns="0" rIns="0" bIns="0" rtlCol="0" anchor="t">
            <a:noAutofit/>
          </a:bodyPr>
          <a:lstStyle/>
          <a:p>
            <a:r>
              <a:rPr lang="en-US" sz="1300">
                <a:solidFill>
                  <a:srgbClr val="CBD5E1"/>
                </a:solidFill>
                <a:latin typeface="Consolas" panose="020B0609020204030204" pitchFamily="49" charset="0"/>
              </a:rPr>
              <a:t>parser.add_argument(</a:t>
            </a:r>
          </a:p>
          <a:p>
            <a:r>
              <a:rPr lang="en-US" sz="1300">
                <a:solidFill>
                  <a:srgbClr val="CBD5E1"/>
                </a:solidFill>
                <a:latin typeface="Consolas" panose="020B0609020204030204" pitchFamily="49" charset="0"/>
              </a:rPr>
              <a:t>    "--required-count", dest="required_count", type=intx, </a:t>
            </a:r>
            <a:r>
              <a:rPr lang="en-US" sz="1300" b="1">
                <a:solidFill>
                  <a:srgbClr val="4ADE80"/>
                </a:solidFill>
                <a:latin typeface="Consolas" panose="020B0609020204030204" pitchFamily="49" charset="0"/>
              </a:rPr>
              <a:t>required=True</a:t>
            </a:r>
            <a:r>
              <a:rPr lang="en-US" sz="1300">
                <a:solidFill>
                  <a:srgbClr val="CBD5E1"/>
                </a:solidFill>
                <a:latin typeface="Consolas" panose="020B0609020204030204" pitchFamily="49" charset="0"/>
              </a:rPr>
              <a:t>,</a:t>
            </a:r>
          </a:p>
          <a:p>
            <a:r>
              <a:rPr lang="en-US" sz="1300">
                <a:solidFill>
                  <a:srgbClr val="CBD5E1"/>
                </a:solidFill>
                <a:latin typeface="Consolas" panose="020B0609020204030204" pitchFamily="49" charset="0"/>
              </a:rPr>
              <a:t>    help="Set Required count")</a:t>
            </a:r>
          </a:p>
          <a:p>
            <a:endParaRPr lang="en-US" sz="1300">
              <a:solidFill>
                <a:srgbClr val="CBD5E1"/>
              </a:solidFill>
              <a:latin typeface="Consolas" panose="020B0609020204030204" pitchFamily="49" charset="0"/>
            </a:endParaRPr>
          </a:p>
          <a:p>
            <a:r>
              <a:rPr lang="en-US" sz="1300">
                <a:solidFill>
                  <a:srgbClr val="CBD5E1"/>
                </a:solidFill>
                <a:latin typeface="Consolas" panose="020B0609020204030204" pitchFamily="49" charset="0"/>
              </a:rPr>
              <a:t>parser.add_argument(</a:t>
            </a:r>
          </a:p>
          <a:p>
            <a:r>
              <a:rPr lang="en-US" sz="1300">
                <a:solidFill>
                  <a:srgbClr val="CBD5E1"/>
                </a:solidFill>
                <a:latin typeface="Consolas" panose="020B0609020204030204" pitchFamily="49" charset="0"/>
              </a:rPr>
              <a:t>    "--optional-count", dest="optional_count", type=intx, </a:t>
            </a:r>
            <a:r>
              <a:rPr lang="en-US" sz="1300" b="1">
                <a:solidFill>
                  <a:srgbClr val="F5A524"/>
                </a:solidFill>
                <a:latin typeface="Consolas" panose="020B0609020204030204" pitchFamily="49" charset="0"/>
              </a:rPr>
              <a:t>default=20</a:t>
            </a:r>
            <a:r>
              <a:rPr lang="en-US" sz="1300">
                <a:solidFill>
                  <a:srgbClr val="CBD5E1"/>
                </a:solidFill>
                <a:latin typeface="Consolas" panose="020B0609020204030204" pitchFamily="49" charset="0"/>
              </a:rPr>
              <a:t>,</a:t>
            </a:r>
          </a:p>
          <a:p>
            <a:r>
              <a:rPr lang="en-US" sz="1300">
                <a:solidFill>
                  <a:srgbClr val="CBD5E1"/>
                </a:solidFill>
                <a:latin typeface="Consolas" panose="020B0609020204030204" pitchFamily="49" charset="0"/>
              </a:rPr>
              <a:t>    help="Set Optional count [default=%(default)r]")</a:t>
            </a:r>
            <a:endParaRPr lang="en-IN" sz="1300">
              <a:solidFill>
                <a:srgbClr val="CBD5E1"/>
              </a:solidFill>
              <a:latin typeface="Consolas" panose="020B0609020204030204" pitchFamily="49" charset="0"/>
            </a:endParaRPr>
          </a:p>
        </p:txBody>
      </p:sp>
      <p:sp>
        <p:nvSpPr>
          <p:cNvPr id="6" name="Rectangle: Rounded Corners 5">
            <a:extLst>
              <a:ext uri="{FF2B5EF4-FFF2-40B4-BE49-F238E27FC236}">
                <a16:creationId xmlns:a16="http://schemas.microsoft.com/office/drawing/2014/main" id="{C00F46DD-1ACD-BD25-A0A0-7351E63EE550}"/>
              </a:ext>
            </a:extLst>
          </p:cNvPr>
          <p:cNvSpPr/>
          <p:nvPr/>
        </p:nvSpPr>
        <p:spPr>
          <a:xfrm>
            <a:off x="609600" y="3327400"/>
            <a:ext cx="10972800" cy="2844800"/>
          </a:xfrm>
          <a:prstGeom prst="roundRect">
            <a:avLst>
              <a:gd name="adj" fmla="val 3000"/>
            </a:avLst>
          </a:prstGeom>
          <a:solidFill>
            <a:srgbClr val="0F223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23F51665-4D45-3C2A-DA07-DBE3C5A25316}"/>
              </a:ext>
            </a:extLst>
          </p:cNvPr>
          <p:cNvSpPr txBox="1"/>
          <p:nvPr/>
        </p:nvSpPr>
        <p:spPr>
          <a:xfrm>
            <a:off x="812800" y="3454400"/>
            <a:ext cx="10566400" cy="228600"/>
          </a:xfrm>
          <a:prstGeom prst="rect">
            <a:avLst/>
          </a:prstGeom>
          <a:noFill/>
        </p:spPr>
        <p:txBody>
          <a:bodyPr vert="horz" wrap="square" lIns="0" tIns="0" rIns="0" bIns="0" rtlCol="0" anchor="t">
            <a:noAutofit/>
          </a:bodyPr>
          <a:lstStyle/>
          <a:p>
            <a:r>
              <a:rPr lang="en-IN" sz="1100">
                <a:solidFill>
                  <a:srgbClr val="7DD3C8"/>
                </a:solidFill>
                <a:latin typeface="Calibri" panose="020F0502020204030204" pitchFamily="34" charset="0"/>
              </a:rPr>
              <a:t>terminal</a:t>
            </a:r>
          </a:p>
        </p:txBody>
      </p:sp>
      <p:sp>
        <p:nvSpPr>
          <p:cNvPr id="8" name="TextBox 7">
            <a:extLst>
              <a:ext uri="{FF2B5EF4-FFF2-40B4-BE49-F238E27FC236}">
                <a16:creationId xmlns:a16="http://schemas.microsoft.com/office/drawing/2014/main" id="{CA520927-4BF3-591F-4598-E7D30958E5DE}"/>
              </a:ext>
            </a:extLst>
          </p:cNvPr>
          <p:cNvSpPr txBox="1"/>
          <p:nvPr/>
        </p:nvSpPr>
        <p:spPr>
          <a:xfrm>
            <a:off x="812800" y="3733800"/>
            <a:ext cx="10566400" cy="2336800"/>
          </a:xfrm>
          <a:prstGeom prst="rect">
            <a:avLst/>
          </a:prstGeom>
          <a:noFill/>
        </p:spPr>
        <p:txBody>
          <a:bodyPr vert="horz" wrap="square" lIns="0" tIns="0" rIns="0" bIns="0" rtlCol="0" anchor="t">
            <a:noAutofit/>
          </a:bodyPr>
          <a:lstStyle/>
          <a:p>
            <a:r>
              <a:rPr lang="en-US" sz="1300">
                <a:solidFill>
                  <a:srgbClr val="CBD5E1"/>
                </a:solidFill>
                <a:latin typeface="Consolas" panose="020B0609020204030204" pitchFamily="49" charset="0"/>
              </a:rPr>
              <a:t>$ python3 test_required_parameter.py</a:t>
            </a:r>
          </a:p>
          <a:p>
            <a:r>
              <a:rPr lang="en-US" sz="1300">
                <a:solidFill>
                  <a:srgbClr val="CBD5E1"/>
                </a:solidFill>
                <a:latin typeface="Consolas" panose="020B0609020204030204" pitchFamily="49" charset="0"/>
              </a:rPr>
              <a:t>usage: test_required_parameter.py [-h] --required-count REQUIRED_COUNT [--optional-count OPTIONAL_COUNT]</a:t>
            </a:r>
          </a:p>
          <a:p>
            <a:r>
              <a:rPr lang="en-US" sz="1300">
                <a:solidFill>
                  <a:srgbClr val="CBD5E1"/>
                </a:solidFill>
                <a:latin typeface="Consolas" panose="020B0609020204030204" pitchFamily="49" charset="0"/>
              </a:rPr>
              <a:t>test_required_parameter.py: </a:t>
            </a:r>
            <a:r>
              <a:rPr lang="en-US" sz="1300" b="1">
                <a:solidFill>
                  <a:srgbClr val="F87171"/>
                </a:solidFill>
                <a:latin typeface="Consolas" panose="020B0609020204030204" pitchFamily="49" charset="0"/>
              </a:rPr>
              <a:t>error: the following arguments are required: --required-count</a:t>
            </a:r>
          </a:p>
          <a:p>
            <a:r>
              <a:rPr lang="en-US" sz="1300">
                <a:solidFill>
                  <a:srgbClr val="CBD5E1"/>
                </a:solidFill>
                <a:latin typeface="Consolas" panose="020B0609020204030204" pitchFamily="49" charset="0"/>
              </a:rPr>
              <a:t>(exit code 2)</a:t>
            </a:r>
          </a:p>
          <a:p>
            <a:endParaRPr lang="en-US" sz="1300">
              <a:solidFill>
                <a:srgbClr val="CBD5E1"/>
              </a:solidFill>
              <a:latin typeface="Consolas" panose="020B0609020204030204" pitchFamily="49" charset="0"/>
            </a:endParaRPr>
          </a:p>
          <a:p>
            <a:r>
              <a:rPr lang="en-US" sz="1300">
                <a:solidFill>
                  <a:srgbClr val="CBD5E1"/>
                </a:solidFill>
                <a:latin typeface="Consolas" panose="020B0609020204030204" pitchFamily="49" charset="0"/>
              </a:rPr>
              <a:t>$ python3 test_required_parameter.py --required-count 5</a:t>
            </a:r>
          </a:p>
          <a:p>
            <a:r>
              <a:rPr lang="en-US" sz="1300" b="1">
                <a:solidFill>
                  <a:srgbClr val="4ADE80"/>
                </a:solidFill>
                <a:latin typeface="Consolas" panose="020B0609020204030204" pitchFamily="49" charset="0"/>
              </a:rPr>
              <a:t>Press Enter to quit:</a:t>
            </a:r>
            <a:endParaRPr lang="en-IN" sz="1300" b="1">
              <a:solidFill>
                <a:srgbClr val="4ADE80"/>
              </a:solidFill>
              <a:latin typeface="Consolas" panose="020B0609020204030204" pitchFamily="49" charset="0"/>
            </a:endParaRPr>
          </a:p>
        </p:txBody>
      </p:sp>
      <p:sp>
        <p:nvSpPr>
          <p:cNvPr id="9" name="TextBox 8">
            <a:extLst>
              <a:ext uri="{FF2B5EF4-FFF2-40B4-BE49-F238E27FC236}">
                <a16:creationId xmlns:a16="http://schemas.microsoft.com/office/drawing/2014/main" id="{66C600F4-60D0-D7FA-EB63-EF7D0CDEE18E}"/>
              </a:ext>
            </a:extLst>
          </p:cNvPr>
          <p:cNvSpPr txBox="1"/>
          <p:nvPr/>
        </p:nvSpPr>
        <p:spPr>
          <a:xfrm>
            <a:off x="609600" y="6451600"/>
            <a:ext cx="7620000" cy="203200"/>
          </a:xfrm>
          <a:prstGeom prst="rect">
            <a:avLst/>
          </a:prstGeom>
          <a:noFill/>
        </p:spPr>
        <p:txBody>
          <a:bodyPr vert="horz" wrap="square" lIns="0" tIns="0" rIns="0" bIns="0" rtlCol="0" anchor="t">
            <a:noAutofit/>
          </a:bodyPr>
          <a:lstStyle/>
          <a:p>
            <a:r>
              <a:rPr lang="en-IN" sz="1100">
                <a:solidFill>
                  <a:srgbClr val="5B6B7B"/>
                </a:solidFill>
                <a:latin typeface="Calibri" panose="020F0502020204030204" pitchFamily="34" charset="0"/>
              </a:rPr>
              <a:t>Project g16  |  M2 report  |  GNU Radio Companion contribution</a:t>
            </a:r>
          </a:p>
        </p:txBody>
      </p:sp>
      <p:sp>
        <p:nvSpPr>
          <p:cNvPr id="10" name="TextBox 9">
            <a:extLst>
              <a:ext uri="{FF2B5EF4-FFF2-40B4-BE49-F238E27FC236}">
                <a16:creationId xmlns:a16="http://schemas.microsoft.com/office/drawing/2014/main" id="{EE8C66E8-B77C-3908-44B3-5622114C53CD}"/>
              </a:ext>
            </a:extLst>
          </p:cNvPr>
          <p:cNvSpPr txBox="1"/>
          <p:nvPr/>
        </p:nvSpPr>
        <p:spPr>
          <a:xfrm>
            <a:off x="10820400" y="6451600"/>
            <a:ext cx="762000" cy="203200"/>
          </a:xfrm>
          <a:prstGeom prst="rect">
            <a:avLst/>
          </a:prstGeom>
          <a:noFill/>
        </p:spPr>
        <p:txBody>
          <a:bodyPr vert="horz" wrap="square" lIns="0" tIns="0" rIns="0" bIns="0" rtlCol="0" anchor="t">
            <a:noAutofit/>
          </a:bodyPr>
          <a:lstStyle/>
          <a:p>
            <a:pPr algn="r"/>
            <a:r>
              <a:rPr lang="en-IN" sz="1100">
                <a:solidFill>
                  <a:srgbClr val="5B6B7B"/>
                </a:solidFill>
                <a:latin typeface="Calibri" panose="020F0502020204030204" pitchFamily="34" charset="0"/>
              </a:rPr>
              <a:t>9</a:t>
            </a:r>
          </a:p>
        </p:txBody>
      </p:sp>
    </p:spTree>
    <p:extLst>
      <p:ext uri="{BB962C8B-B14F-4D97-AF65-F5344CB8AC3E}">
        <p14:creationId xmlns:p14="http://schemas.microsoft.com/office/powerpoint/2010/main" val="16691131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5E8E9-4427-0003-9797-4A56F1DD5197}"/>
              </a:ext>
            </a:extLst>
          </p:cNvPr>
          <p:cNvSpPr>
            <a:spLocks noGrp="1"/>
          </p:cNvSpPr>
          <p:nvPr>
            <p:ph type="title"/>
          </p:nvPr>
        </p:nvSpPr>
        <p:spPr>
          <a:xfrm>
            <a:off x="609600" y="330200"/>
            <a:ext cx="10972800" cy="787400"/>
          </a:xfrm>
        </p:spPr>
        <p:txBody>
          <a:bodyPr lIns="0" anchor="ctr">
            <a:normAutofit/>
          </a:bodyPr>
          <a:lstStyle/>
          <a:p>
            <a:r>
              <a:rPr lang="en-US" sz="3400" b="1">
                <a:solidFill>
                  <a:srgbClr val="0B1F33"/>
                </a:solidFill>
                <a:latin typeface="Cambria" panose="02040503050406030204" pitchFamily="18" charset="0"/>
              </a:rPr>
              <a:t>Results: what passed and what did not run</a:t>
            </a:r>
            <a:endParaRPr lang="en-IN" sz="3400" b="1">
              <a:solidFill>
                <a:srgbClr val="0B1F33"/>
              </a:solidFill>
              <a:latin typeface="Cambria" panose="02040503050406030204" pitchFamily="18" charset="0"/>
            </a:endParaRPr>
          </a:p>
        </p:txBody>
      </p:sp>
      <p:graphicFrame>
        <p:nvGraphicFramePr>
          <p:cNvPr id="3" name="Table 2">
            <a:extLst>
              <a:ext uri="{FF2B5EF4-FFF2-40B4-BE49-F238E27FC236}">
                <a16:creationId xmlns:a16="http://schemas.microsoft.com/office/drawing/2014/main" id="{EBB14461-7968-1960-20AB-BCED78DBA871}"/>
              </a:ext>
            </a:extLst>
          </p:cNvPr>
          <p:cNvGraphicFramePr>
            <a:graphicFrameLocks noGrp="1"/>
          </p:cNvGraphicFramePr>
          <p:nvPr>
            <p:extLst>
              <p:ext uri="{D42A27DB-BD31-4B8C-83A1-F6EECF244321}">
                <p14:modId xmlns:p14="http://schemas.microsoft.com/office/powerpoint/2010/main" val="1948928745"/>
              </p:ext>
            </p:extLst>
          </p:nvPr>
        </p:nvGraphicFramePr>
        <p:xfrm>
          <a:off x="609600" y="1270000"/>
          <a:ext cx="10972800" cy="4800600"/>
        </p:xfrm>
        <a:graphic>
          <a:graphicData uri="http://schemas.openxmlformats.org/drawingml/2006/table">
            <a:tbl>
              <a:tblPr firstRow="1" bandRow="1">
                <a:tableStyleId>{2D5ABB26-0587-4C30-8999-92F81FD0307C}</a:tableStyleId>
              </a:tblPr>
              <a:tblGrid>
                <a:gridCol w="3683000">
                  <a:extLst>
                    <a:ext uri="{9D8B030D-6E8A-4147-A177-3AD203B41FA5}">
                      <a16:colId xmlns:a16="http://schemas.microsoft.com/office/drawing/2014/main" val="3852246881"/>
                    </a:ext>
                  </a:extLst>
                </a:gridCol>
                <a:gridCol w="1651000">
                  <a:extLst>
                    <a:ext uri="{9D8B030D-6E8A-4147-A177-3AD203B41FA5}">
                      <a16:colId xmlns:a16="http://schemas.microsoft.com/office/drawing/2014/main" val="4105867865"/>
                    </a:ext>
                  </a:extLst>
                </a:gridCol>
                <a:gridCol w="5638800">
                  <a:extLst>
                    <a:ext uri="{9D8B030D-6E8A-4147-A177-3AD203B41FA5}">
                      <a16:colId xmlns:a16="http://schemas.microsoft.com/office/drawing/2014/main" val="1893457682"/>
                    </a:ext>
                  </a:extLst>
                </a:gridCol>
              </a:tblGrid>
              <a:tr h="533400">
                <a:tc>
                  <a:txBody>
                    <a:bodyPr/>
                    <a:lstStyle/>
                    <a:p>
                      <a:r>
                        <a:rPr lang="en-IN" sz="1400" b="1">
                          <a:solidFill>
                            <a:srgbClr val="FFFFFF"/>
                          </a:solidFill>
                          <a:latin typeface="Calibri" panose="020F0502020204030204" pitchFamily="34" charset="0"/>
                        </a:rPr>
                        <a:t>Check</a:t>
                      </a:r>
                    </a:p>
                  </a:txBody>
                  <a:tcPr marL="127000" anchor="ctr">
                    <a:solidFill>
                      <a:srgbClr val="12304D"/>
                    </a:solidFill>
                  </a:tcPr>
                </a:tc>
                <a:tc>
                  <a:txBody>
                    <a:bodyPr/>
                    <a:lstStyle/>
                    <a:p>
                      <a:r>
                        <a:rPr lang="en-IN" sz="1400" b="1">
                          <a:solidFill>
                            <a:srgbClr val="FFFFFF"/>
                          </a:solidFill>
                          <a:latin typeface="Calibri" panose="020F0502020204030204" pitchFamily="34" charset="0"/>
                        </a:rPr>
                        <a:t>Result</a:t>
                      </a:r>
                    </a:p>
                  </a:txBody>
                  <a:tcPr marL="127000" anchor="ctr">
                    <a:solidFill>
                      <a:srgbClr val="12304D"/>
                    </a:solidFill>
                  </a:tcPr>
                </a:tc>
                <a:tc>
                  <a:txBody>
                    <a:bodyPr/>
                    <a:lstStyle/>
                    <a:p>
                      <a:r>
                        <a:rPr lang="en-IN" sz="1400" b="1">
                          <a:solidFill>
                            <a:srgbClr val="FFFFFF"/>
                          </a:solidFill>
                          <a:latin typeface="Calibri" panose="020F0502020204030204" pitchFamily="34" charset="0"/>
                        </a:rPr>
                        <a:t>Evidence</a:t>
                      </a:r>
                    </a:p>
                  </a:txBody>
                  <a:tcPr marL="127000" anchor="ctr">
                    <a:solidFill>
                      <a:srgbClr val="12304D"/>
                    </a:solidFill>
                  </a:tcPr>
                </a:tc>
                <a:extLst>
                  <a:ext uri="{0D108BD9-81ED-4DB2-BD59-A6C34878D82A}">
                    <a16:rowId xmlns:a16="http://schemas.microsoft.com/office/drawing/2014/main" val="2076587041"/>
                  </a:ext>
                </a:extLst>
              </a:tr>
              <a:tr h="533400">
                <a:tc>
                  <a:txBody>
                    <a:bodyPr/>
                    <a:lstStyle/>
                    <a:p>
                      <a:r>
                        <a:rPr lang="en-IN" sz="1400" b="0">
                          <a:solidFill>
                            <a:srgbClr val="0B1F33"/>
                          </a:solidFill>
                          <a:latin typeface="Calibri" panose="020F0502020204030204" pitchFamily="34" charset="0"/>
                        </a:rPr>
                        <a:t>Required argument omitted</a:t>
                      </a:r>
                    </a:p>
                  </a:txBody>
                  <a:tcPr marL="127000" anchor="ctr">
                    <a:solidFill>
                      <a:srgbClr val="F4F7FA"/>
                    </a:solidFill>
                  </a:tcPr>
                </a:tc>
                <a:tc>
                  <a:txBody>
                    <a:bodyPr/>
                    <a:lstStyle/>
                    <a:p>
                      <a:r>
                        <a:rPr lang="en-IN" sz="1400" b="1">
                          <a:solidFill>
                            <a:srgbClr val="11693A"/>
                          </a:solidFill>
                          <a:latin typeface="Calibri" panose="020F0502020204030204" pitchFamily="34" charset="0"/>
                        </a:rPr>
                        <a:t>Passed</a:t>
                      </a:r>
                    </a:p>
                  </a:txBody>
                  <a:tcPr marL="127000" anchor="ctr">
                    <a:solidFill>
                      <a:srgbClr val="D7F3E3"/>
                    </a:solidFill>
                  </a:tcPr>
                </a:tc>
                <a:tc>
                  <a:txBody>
                    <a:bodyPr/>
                    <a:lstStyle/>
                    <a:p>
                      <a:r>
                        <a:rPr lang="en-IN" sz="1400" b="0">
                          <a:solidFill>
                            <a:srgbClr val="0B1F33"/>
                          </a:solidFill>
                          <a:latin typeface="Calibri" panose="020F0502020204030204" pitchFamily="34" charset="0"/>
                        </a:rPr>
                        <a:t>Parser error, exit code 2</a:t>
                      </a:r>
                    </a:p>
                  </a:txBody>
                  <a:tcPr marL="127000" anchor="ctr">
                    <a:solidFill>
                      <a:srgbClr val="F4F7FA"/>
                    </a:solidFill>
                  </a:tcPr>
                </a:tc>
                <a:extLst>
                  <a:ext uri="{0D108BD9-81ED-4DB2-BD59-A6C34878D82A}">
                    <a16:rowId xmlns:a16="http://schemas.microsoft.com/office/drawing/2014/main" val="678937296"/>
                  </a:ext>
                </a:extLst>
              </a:tr>
              <a:tr h="533400">
                <a:tc>
                  <a:txBody>
                    <a:bodyPr/>
                    <a:lstStyle/>
                    <a:p>
                      <a:r>
                        <a:rPr lang="en-IN" sz="1400" b="0">
                          <a:solidFill>
                            <a:srgbClr val="0B1F33"/>
                          </a:solidFill>
                          <a:latin typeface="Calibri" panose="020F0502020204030204" pitchFamily="34" charset="0"/>
                        </a:rPr>
                        <a:t>Required argument supplied</a:t>
                      </a:r>
                    </a:p>
                  </a:txBody>
                  <a:tcPr marL="127000" anchor="ctr">
                    <a:solidFill>
                      <a:srgbClr val="FFFFFF"/>
                    </a:solidFill>
                  </a:tcPr>
                </a:tc>
                <a:tc>
                  <a:txBody>
                    <a:bodyPr/>
                    <a:lstStyle/>
                    <a:p>
                      <a:r>
                        <a:rPr lang="en-IN" sz="1400" b="1">
                          <a:solidFill>
                            <a:srgbClr val="11693A"/>
                          </a:solidFill>
                          <a:latin typeface="Calibri" panose="020F0502020204030204" pitchFamily="34" charset="0"/>
                        </a:rPr>
                        <a:t>Passed</a:t>
                      </a:r>
                    </a:p>
                  </a:txBody>
                  <a:tcPr marL="127000" anchor="ctr">
                    <a:solidFill>
                      <a:srgbClr val="D7F3E3"/>
                    </a:solidFill>
                  </a:tcPr>
                </a:tc>
                <a:tc>
                  <a:txBody>
                    <a:bodyPr/>
                    <a:lstStyle/>
                    <a:p>
                      <a:r>
                        <a:rPr lang="en-US" sz="1400" b="0">
                          <a:solidFill>
                            <a:srgbClr val="0B1F33"/>
                          </a:solidFill>
                          <a:latin typeface="Calibri" panose="020F0502020204030204" pitchFamily="34" charset="0"/>
                        </a:rPr>
                        <a:t>Parsing accepted; script reached its prompt</a:t>
                      </a:r>
                      <a:endParaRPr lang="en-IN" sz="1400" b="0">
                        <a:solidFill>
                          <a:srgbClr val="0B1F33"/>
                        </a:solidFill>
                        <a:latin typeface="Calibri" panose="020F0502020204030204" pitchFamily="34" charset="0"/>
                      </a:endParaRPr>
                    </a:p>
                  </a:txBody>
                  <a:tcPr marL="127000" anchor="ctr">
                    <a:solidFill>
                      <a:srgbClr val="FFFFFF"/>
                    </a:solidFill>
                  </a:tcPr>
                </a:tc>
                <a:extLst>
                  <a:ext uri="{0D108BD9-81ED-4DB2-BD59-A6C34878D82A}">
                    <a16:rowId xmlns:a16="http://schemas.microsoft.com/office/drawing/2014/main" val="3277281302"/>
                  </a:ext>
                </a:extLst>
              </a:tr>
              <a:tr h="533400">
                <a:tc>
                  <a:txBody>
                    <a:bodyPr/>
                    <a:lstStyle/>
                    <a:p>
                      <a:r>
                        <a:rPr lang="en-IN" sz="1400" b="0">
                          <a:solidFill>
                            <a:srgbClr val="0B1F33"/>
                          </a:solidFill>
                          <a:latin typeface="Calibri" panose="020F0502020204030204" pitchFamily="34" charset="0"/>
                        </a:rPr>
                        <a:t>Optional default</a:t>
                      </a:r>
                    </a:p>
                  </a:txBody>
                  <a:tcPr marL="127000" anchor="ctr">
                    <a:solidFill>
                      <a:srgbClr val="F4F7FA"/>
                    </a:solidFill>
                  </a:tcPr>
                </a:tc>
                <a:tc>
                  <a:txBody>
                    <a:bodyPr/>
                    <a:lstStyle/>
                    <a:p>
                      <a:r>
                        <a:rPr lang="en-IN" sz="1400" b="1">
                          <a:solidFill>
                            <a:srgbClr val="11693A"/>
                          </a:solidFill>
                          <a:latin typeface="Calibri" panose="020F0502020204030204" pitchFamily="34" charset="0"/>
                        </a:rPr>
                        <a:t>Passed</a:t>
                      </a:r>
                    </a:p>
                  </a:txBody>
                  <a:tcPr marL="127000" anchor="ctr">
                    <a:solidFill>
                      <a:srgbClr val="D7F3E3"/>
                    </a:solidFill>
                  </a:tcPr>
                </a:tc>
                <a:tc>
                  <a:txBody>
                    <a:bodyPr/>
                    <a:lstStyle/>
                    <a:p>
                      <a:r>
                        <a:rPr lang="en-US" sz="1400" b="0">
                          <a:solidFill>
                            <a:srgbClr val="0B1F33"/>
                          </a:solidFill>
                          <a:latin typeface="Calibri" panose="020F0502020204030204" pitchFamily="34" charset="0"/>
                        </a:rPr>
                        <a:t>default=20 in code and in help text</a:t>
                      </a:r>
                      <a:endParaRPr lang="en-IN" sz="1400" b="0">
                        <a:solidFill>
                          <a:srgbClr val="0B1F33"/>
                        </a:solidFill>
                        <a:latin typeface="Calibri" panose="020F0502020204030204" pitchFamily="34" charset="0"/>
                      </a:endParaRPr>
                    </a:p>
                  </a:txBody>
                  <a:tcPr marL="127000" anchor="ctr">
                    <a:solidFill>
                      <a:srgbClr val="F4F7FA"/>
                    </a:solidFill>
                  </a:tcPr>
                </a:tc>
                <a:extLst>
                  <a:ext uri="{0D108BD9-81ED-4DB2-BD59-A6C34878D82A}">
                    <a16:rowId xmlns:a16="http://schemas.microsoft.com/office/drawing/2014/main" val="2271237691"/>
                  </a:ext>
                </a:extLst>
              </a:tr>
              <a:tr h="533400">
                <a:tc>
                  <a:txBody>
                    <a:bodyPr/>
                    <a:lstStyle/>
                    <a:p>
                      <a:r>
                        <a:rPr lang="en-IN" sz="1400" b="0">
                          <a:solidFill>
                            <a:srgbClr val="0B1F33"/>
                          </a:solidFill>
                          <a:latin typeface="Calibri" panose="020F0502020204030204" pitchFamily="34" charset="0"/>
                        </a:rPr>
                        <a:t>Help message</a:t>
                      </a:r>
                    </a:p>
                  </a:txBody>
                  <a:tcPr marL="127000" anchor="ctr">
                    <a:solidFill>
                      <a:srgbClr val="FFFFFF"/>
                    </a:solidFill>
                  </a:tcPr>
                </a:tc>
                <a:tc>
                  <a:txBody>
                    <a:bodyPr/>
                    <a:lstStyle/>
                    <a:p>
                      <a:r>
                        <a:rPr lang="en-IN" sz="1400" b="1">
                          <a:solidFill>
                            <a:srgbClr val="11693A"/>
                          </a:solidFill>
                          <a:latin typeface="Calibri" panose="020F0502020204030204" pitchFamily="34" charset="0"/>
                        </a:rPr>
                        <a:t>Passed</a:t>
                      </a:r>
                    </a:p>
                  </a:txBody>
                  <a:tcPr marL="127000" anchor="ctr">
                    <a:solidFill>
                      <a:srgbClr val="D7F3E3"/>
                    </a:solidFill>
                  </a:tcPr>
                </a:tc>
                <a:tc>
                  <a:txBody>
                    <a:bodyPr/>
                    <a:lstStyle/>
                    <a:p>
                      <a:r>
                        <a:rPr lang="en-US" sz="1400" b="0">
                          <a:solidFill>
                            <a:srgbClr val="0B1F33"/>
                          </a:solidFill>
                          <a:latin typeface="Calibri" panose="020F0502020204030204" pitchFamily="34" charset="0"/>
                        </a:rPr>
                        <a:t>Required shown without brackets, optional in brackets</a:t>
                      </a:r>
                      <a:endParaRPr lang="en-IN" sz="1400" b="0">
                        <a:solidFill>
                          <a:srgbClr val="0B1F33"/>
                        </a:solidFill>
                        <a:latin typeface="Calibri" panose="020F0502020204030204" pitchFamily="34" charset="0"/>
                      </a:endParaRPr>
                    </a:p>
                  </a:txBody>
                  <a:tcPr marL="127000" anchor="ctr">
                    <a:solidFill>
                      <a:srgbClr val="FFFFFF"/>
                    </a:solidFill>
                  </a:tcPr>
                </a:tc>
                <a:extLst>
                  <a:ext uri="{0D108BD9-81ED-4DB2-BD59-A6C34878D82A}">
                    <a16:rowId xmlns:a16="http://schemas.microsoft.com/office/drawing/2014/main" val="3151425158"/>
                  </a:ext>
                </a:extLst>
              </a:tr>
              <a:tr h="533400">
                <a:tc>
                  <a:txBody>
                    <a:bodyPr/>
                    <a:lstStyle/>
                    <a:p>
                      <a:r>
                        <a:rPr lang="en-IN" sz="1400" b="0">
                          <a:solidFill>
                            <a:srgbClr val="0B1F33"/>
                          </a:solidFill>
                          <a:latin typeface="Calibri" panose="020F0502020204030204" pitchFamily="34" charset="0"/>
                        </a:rPr>
                        <a:t>Python syntax</a:t>
                      </a:r>
                    </a:p>
                  </a:txBody>
                  <a:tcPr marL="127000" anchor="ctr">
                    <a:solidFill>
                      <a:srgbClr val="F4F7FA"/>
                    </a:solidFill>
                  </a:tcPr>
                </a:tc>
                <a:tc>
                  <a:txBody>
                    <a:bodyPr/>
                    <a:lstStyle/>
                    <a:p>
                      <a:r>
                        <a:rPr lang="en-IN" sz="1400" b="1">
                          <a:solidFill>
                            <a:srgbClr val="11693A"/>
                          </a:solidFill>
                          <a:latin typeface="Calibri" panose="020F0502020204030204" pitchFamily="34" charset="0"/>
                        </a:rPr>
                        <a:t>Passed</a:t>
                      </a:r>
                    </a:p>
                  </a:txBody>
                  <a:tcPr marL="127000" anchor="ctr">
                    <a:solidFill>
                      <a:srgbClr val="D7F3E3"/>
                    </a:solidFill>
                  </a:tcPr>
                </a:tc>
                <a:tc>
                  <a:txBody>
                    <a:bodyPr/>
                    <a:lstStyle/>
                    <a:p>
                      <a:r>
                        <a:rPr lang="en-US" sz="1400" b="0">
                          <a:solidFill>
                            <a:srgbClr val="0B1F33"/>
                          </a:solidFill>
                          <a:latin typeface="Calibri" panose="020F0502020204030204" pitchFamily="34" charset="0"/>
                        </a:rPr>
                        <a:t>py_compile finished without error</a:t>
                      </a:r>
                      <a:endParaRPr lang="en-IN" sz="1400" b="0">
                        <a:solidFill>
                          <a:srgbClr val="0B1F33"/>
                        </a:solidFill>
                        <a:latin typeface="Calibri" panose="020F0502020204030204" pitchFamily="34" charset="0"/>
                      </a:endParaRPr>
                    </a:p>
                  </a:txBody>
                  <a:tcPr marL="127000" anchor="ctr">
                    <a:solidFill>
                      <a:srgbClr val="F4F7FA"/>
                    </a:solidFill>
                  </a:tcPr>
                </a:tc>
                <a:extLst>
                  <a:ext uri="{0D108BD9-81ED-4DB2-BD59-A6C34878D82A}">
                    <a16:rowId xmlns:a16="http://schemas.microsoft.com/office/drawing/2014/main" val="1432533071"/>
                  </a:ext>
                </a:extLst>
              </a:tr>
              <a:tr h="533400">
                <a:tc>
                  <a:txBody>
                    <a:bodyPr/>
                    <a:lstStyle/>
                    <a:p>
                      <a:r>
                        <a:rPr lang="en-IN" sz="1400" b="0">
                          <a:solidFill>
                            <a:srgbClr val="0B1F33"/>
                          </a:solidFill>
                          <a:latin typeface="Calibri" panose="020F0502020204030204" pitchFamily="34" charset="0"/>
                        </a:rPr>
                        <a:t>Patch whitespace</a:t>
                      </a:r>
                    </a:p>
                  </a:txBody>
                  <a:tcPr marL="127000" anchor="ctr">
                    <a:solidFill>
                      <a:srgbClr val="FFFFFF"/>
                    </a:solidFill>
                  </a:tcPr>
                </a:tc>
                <a:tc>
                  <a:txBody>
                    <a:bodyPr/>
                    <a:lstStyle/>
                    <a:p>
                      <a:r>
                        <a:rPr lang="en-IN" sz="1400" b="1">
                          <a:solidFill>
                            <a:srgbClr val="11693A"/>
                          </a:solidFill>
                          <a:latin typeface="Calibri" panose="020F0502020204030204" pitchFamily="34" charset="0"/>
                        </a:rPr>
                        <a:t>Passed</a:t>
                      </a:r>
                    </a:p>
                  </a:txBody>
                  <a:tcPr marL="127000" anchor="ctr">
                    <a:solidFill>
                      <a:srgbClr val="D7F3E3"/>
                    </a:solidFill>
                  </a:tcPr>
                </a:tc>
                <a:tc>
                  <a:txBody>
                    <a:bodyPr/>
                    <a:lstStyle/>
                    <a:p>
                      <a:r>
                        <a:rPr lang="en-US" sz="1400" b="0">
                          <a:solidFill>
                            <a:srgbClr val="0B1F33"/>
                          </a:solidFill>
                          <a:latin typeface="Calibri" panose="020F0502020204030204" pitchFamily="34" charset="0"/>
                        </a:rPr>
                        <a:t>git diff --check printed nothing</a:t>
                      </a:r>
                      <a:endParaRPr lang="en-IN" sz="1400" b="0">
                        <a:solidFill>
                          <a:srgbClr val="0B1F33"/>
                        </a:solidFill>
                        <a:latin typeface="Calibri" panose="020F0502020204030204" pitchFamily="34" charset="0"/>
                      </a:endParaRPr>
                    </a:p>
                  </a:txBody>
                  <a:tcPr marL="127000" anchor="ctr">
                    <a:solidFill>
                      <a:srgbClr val="FFFFFF"/>
                    </a:solidFill>
                  </a:tcPr>
                </a:tc>
                <a:extLst>
                  <a:ext uri="{0D108BD9-81ED-4DB2-BD59-A6C34878D82A}">
                    <a16:rowId xmlns:a16="http://schemas.microsoft.com/office/drawing/2014/main" val="3394062587"/>
                  </a:ext>
                </a:extLst>
              </a:tr>
              <a:tr h="533400">
                <a:tc>
                  <a:txBody>
                    <a:bodyPr/>
                    <a:lstStyle/>
                    <a:p>
                      <a:r>
                        <a:rPr lang="en-US" sz="1400" b="0">
                          <a:solidFill>
                            <a:srgbClr val="0B1F33"/>
                          </a:solidFill>
                          <a:latin typeface="Calibri" panose="020F0502020204030204" pitchFamily="34" charset="0"/>
                        </a:rPr>
                        <a:t>Qt GUI and Bokeh GUI output</a:t>
                      </a:r>
                      <a:endParaRPr lang="en-IN" sz="1400" b="0">
                        <a:solidFill>
                          <a:srgbClr val="0B1F33"/>
                        </a:solidFill>
                        <a:latin typeface="Calibri" panose="020F0502020204030204" pitchFamily="34" charset="0"/>
                      </a:endParaRPr>
                    </a:p>
                  </a:txBody>
                  <a:tcPr marL="127000" anchor="ctr">
                    <a:solidFill>
                      <a:srgbClr val="F4F7FA"/>
                    </a:solidFill>
                  </a:tcPr>
                </a:tc>
                <a:tc>
                  <a:txBody>
                    <a:bodyPr/>
                    <a:lstStyle/>
                    <a:p>
                      <a:r>
                        <a:rPr lang="en-IN" sz="1400" b="1">
                          <a:solidFill>
                            <a:srgbClr val="8A5300"/>
                          </a:solidFill>
                          <a:latin typeface="Calibri" panose="020F0502020204030204" pitchFamily="34" charset="0"/>
                        </a:rPr>
                        <a:t>Not run</a:t>
                      </a:r>
                    </a:p>
                  </a:txBody>
                  <a:tcPr marL="127000" anchor="ctr">
                    <a:solidFill>
                      <a:srgbClr val="FCE8C3"/>
                    </a:solidFill>
                  </a:tcPr>
                </a:tc>
                <a:tc>
                  <a:txBody>
                    <a:bodyPr/>
                    <a:lstStyle/>
                    <a:p>
                      <a:r>
                        <a:rPr lang="en-US" sz="1400" b="0">
                          <a:solidFill>
                            <a:srgbClr val="0B1F33"/>
                          </a:solidFill>
                          <a:latin typeface="Calibri" panose="020F0502020204030204" pitchFamily="34" charset="0"/>
                        </a:rPr>
                        <a:t>Templates modified, output not generated</a:t>
                      </a:r>
                      <a:endParaRPr lang="en-IN" sz="1400" b="0">
                        <a:solidFill>
                          <a:srgbClr val="0B1F33"/>
                        </a:solidFill>
                        <a:latin typeface="Calibri" panose="020F0502020204030204" pitchFamily="34" charset="0"/>
                      </a:endParaRPr>
                    </a:p>
                  </a:txBody>
                  <a:tcPr marL="127000" anchor="ctr">
                    <a:solidFill>
                      <a:srgbClr val="F4F7FA"/>
                    </a:solidFill>
                  </a:tcPr>
                </a:tc>
                <a:extLst>
                  <a:ext uri="{0D108BD9-81ED-4DB2-BD59-A6C34878D82A}">
                    <a16:rowId xmlns:a16="http://schemas.microsoft.com/office/drawing/2014/main" val="1333146974"/>
                  </a:ext>
                </a:extLst>
              </a:tr>
              <a:tr h="533400">
                <a:tc>
                  <a:txBody>
                    <a:bodyPr/>
                    <a:lstStyle/>
                    <a:p>
                      <a:r>
                        <a:rPr lang="en-IN" sz="1400" b="0">
                          <a:solidFill>
                            <a:srgbClr val="0B1F33"/>
                          </a:solidFill>
                          <a:latin typeface="Calibri" panose="020F0502020204030204" pitchFamily="34" charset="0"/>
                        </a:rPr>
                        <a:t>Full GRC test suite</a:t>
                      </a:r>
                    </a:p>
                  </a:txBody>
                  <a:tcPr marL="127000" anchor="ctr">
                    <a:solidFill>
                      <a:srgbClr val="FFFFFF"/>
                    </a:solidFill>
                  </a:tcPr>
                </a:tc>
                <a:tc>
                  <a:txBody>
                    <a:bodyPr/>
                    <a:lstStyle/>
                    <a:p>
                      <a:r>
                        <a:rPr lang="en-IN" sz="1400" b="1">
                          <a:solidFill>
                            <a:srgbClr val="8A5300"/>
                          </a:solidFill>
                          <a:latin typeface="Calibri" panose="020F0502020204030204" pitchFamily="34" charset="0"/>
                        </a:rPr>
                        <a:t>Not run</a:t>
                      </a:r>
                    </a:p>
                  </a:txBody>
                  <a:tcPr marL="127000" anchor="ctr">
                    <a:solidFill>
                      <a:srgbClr val="FCE8C3"/>
                    </a:solidFill>
                  </a:tcPr>
                </a:tc>
                <a:tc>
                  <a:txBody>
                    <a:bodyPr/>
                    <a:lstStyle/>
                    <a:p>
                      <a:r>
                        <a:rPr lang="en-IN" sz="1400" b="0">
                          <a:solidFill>
                            <a:srgbClr val="0B1F33"/>
                          </a:solidFill>
                          <a:latin typeface="Calibri" panose="020F0502020204030204" pitchFamily="34" charset="0"/>
                        </a:rPr>
                        <a:t>No module named pytest</a:t>
                      </a:r>
                    </a:p>
                  </a:txBody>
                  <a:tcPr marL="127000" anchor="ctr">
                    <a:solidFill>
                      <a:srgbClr val="FFFFFF"/>
                    </a:solidFill>
                  </a:tcPr>
                </a:tc>
                <a:extLst>
                  <a:ext uri="{0D108BD9-81ED-4DB2-BD59-A6C34878D82A}">
                    <a16:rowId xmlns:a16="http://schemas.microsoft.com/office/drawing/2014/main" val="1938471964"/>
                  </a:ext>
                </a:extLst>
              </a:tr>
            </a:tbl>
          </a:graphicData>
        </a:graphic>
      </p:graphicFrame>
      <p:sp>
        <p:nvSpPr>
          <p:cNvPr id="4" name="TextBox 3">
            <a:extLst>
              <a:ext uri="{FF2B5EF4-FFF2-40B4-BE49-F238E27FC236}">
                <a16:creationId xmlns:a16="http://schemas.microsoft.com/office/drawing/2014/main" id="{0BB4A01A-FCB2-5FA7-8CA7-9CACA2D12938}"/>
              </a:ext>
            </a:extLst>
          </p:cNvPr>
          <p:cNvSpPr txBox="1"/>
          <p:nvPr/>
        </p:nvSpPr>
        <p:spPr>
          <a:xfrm>
            <a:off x="609600" y="6451600"/>
            <a:ext cx="7620000" cy="203200"/>
          </a:xfrm>
          <a:prstGeom prst="rect">
            <a:avLst/>
          </a:prstGeom>
          <a:noFill/>
        </p:spPr>
        <p:txBody>
          <a:bodyPr vert="horz" wrap="square" lIns="0" tIns="0" rIns="0" bIns="0" rtlCol="0" anchor="t">
            <a:noAutofit/>
          </a:bodyPr>
          <a:lstStyle/>
          <a:p>
            <a:r>
              <a:rPr lang="en-IN" sz="1100">
                <a:solidFill>
                  <a:srgbClr val="5B6B7B"/>
                </a:solidFill>
                <a:latin typeface="Calibri" panose="020F0502020204030204" pitchFamily="34" charset="0"/>
              </a:rPr>
              <a:t>Project g16  |  M2 report  |  GNU Radio Companion contribution</a:t>
            </a:r>
          </a:p>
        </p:txBody>
      </p:sp>
      <p:sp>
        <p:nvSpPr>
          <p:cNvPr id="5" name="TextBox 4">
            <a:extLst>
              <a:ext uri="{FF2B5EF4-FFF2-40B4-BE49-F238E27FC236}">
                <a16:creationId xmlns:a16="http://schemas.microsoft.com/office/drawing/2014/main" id="{663A14DF-343A-BE5A-0181-8AD9FCF2F067}"/>
              </a:ext>
            </a:extLst>
          </p:cNvPr>
          <p:cNvSpPr txBox="1"/>
          <p:nvPr/>
        </p:nvSpPr>
        <p:spPr>
          <a:xfrm>
            <a:off x="10820400" y="6451600"/>
            <a:ext cx="762000" cy="203200"/>
          </a:xfrm>
          <a:prstGeom prst="rect">
            <a:avLst/>
          </a:prstGeom>
          <a:noFill/>
        </p:spPr>
        <p:txBody>
          <a:bodyPr vert="horz" wrap="square" lIns="0" tIns="0" rIns="0" bIns="0" rtlCol="0" anchor="t">
            <a:noAutofit/>
          </a:bodyPr>
          <a:lstStyle/>
          <a:p>
            <a:pPr algn="r"/>
            <a:r>
              <a:rPr lang="en-IN" sz="1100">
                <a:solidFill>
                  <a:srgbClr val="5B6B7B"/>
                </a:solidFill>
                <a:latin typeface="Calibri" panose="020F0502020204030204" pitchFamily="34" charset="0"/>
              </a:rPr>
              <a:t>10</a:t>
            </a:r>
          </a:p>
        </p:txBody>
      </p:sp>
    </p:spTree>
    <p:extLst>
      <p:ext uri="{BB962C8B-B14F-4D97-AF65-F5344CB8AC3E}">
        <p14:creationId xmlns:p14="http://schemas.microsoft.com/office/powerpoint/2010/main" val="23531166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26519-1B94-E719-8721-E1B739A1AF55}"/>
              </a:ext>
            </a:extLst>
          </p:cNvPr>
          <p:cNvSpPr>
            <a:spLocks noGrp="1"/>
          </p:cNvSpPr>
          <p:nvPr>
            <p:ph type="title"/>
          </p:nvPr>
        </p:nvSpPr>
        <p:spPr>
          <a:xfrm>
            <a:off x="609600" y="330200"/>
            <a:ext cx="10972800" cy="787400"/>
          </a:xfrm>
        </p:spPr>
        <p:txBody>
          <a:bodyPr lIns="0" anchor="ctr">
            <a:normAutofit/>
          </a:bodyPr>
          <a:lstStyle/>
          <a:p>
            <a:r>
              <a:rPr lang="en-US" sz="3400" b="1">
                <a:solidFill>
                  <a:srgbClr val="0B1F33"/>
                </a:solidFill>
                <a:latin typeface="Cambria" panose="02040503050406030204" pitchFamily="18" charset="0"/>
              </a:rPr>
              <a:t>Older flowgraphs should still load</a:t>
            </a:r>
            <a:endParaRPr lang="en-IN" sz="3400" b="1">
              <a:solidFill>
                <a:srgbClr val="0B1F33"/>
              </a:solidFill>
              <a:latin typeface="Cambria" panose="02040503050406030204" pitchFamily="18" charset="0"/>
            </a:endParaRPr>
          </a:p>
        </p:txBody>
      </p:sp>
      <p:sp>
        <p:nvSpPr>
          <p:cNvPr id="3" name="Rectangle: Rounded Corners 2">
            <a:extLst>
              <a:ext uri="{FF2B5EF4-FFF2-40B4-BE49-F238E27FC236}">
                <a16:creationId xmlns:a16="http://schemas.microsoft.com/office/drawing/2014/main" id="{57FC1173-AE21-A5B6-D762-C93A38C96A73}"/>
              </a:ext>
            </a:extLst>
          </p:cNvPr>
          <p:cNvSpPr/>
          <p:nvPr/>
        </p:nvSpPr>
        <p:spPr>
          <a:xfrm>
            <a:off x="609600" y="1270000"/>
            <a:ext cx="5969000" cy="2413000"/>
          </a:xfrm>
          <a:prstGeom prst="roundRect">
            <a:avLst>
              <a:gd name="adj" fmla="val 3000"/>
            </a:avLst>
          </a:prstGeom>
          <a:solidFill>
            <a:srgbClr val="0F223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89CA2E9C-E7B8-78F1-F250-CEB7E741A3BC}"/>
              </a:ext>
            </a:extLst>
          </p:cNvPr>
          <p:cNvSpPr txBox="1"/>
          <p:nvPr/>
        </p:nvSpPr>
        <p:spPr>
          <a:xfrm>
            <a:off x="812800" y="1397000"/>
            <a:ext cx="5562600" cy="228600"/>
          </a:xfrm>
          <a:prstGeom prst="rect">
            <a:avLst/>
          </a:prstGeom>
          <a:noFill/>
        </p:spPr>
        <p:txBody>
          <a:bodyPr vert="horz" wrap="square" lIns="0" tIns="0" rIns="0" bIns="0" rtlCol="0" anchor="t">
            <a:noAutofit/>
          </a:bodyPr>
          <a:lstStyle/>
          <a:p>
            <a:r>
              <a:rPr lang="en-US" sz="1100">
                <a:solidFill>
                  <a:srgbClr val="7DD3C8"/>
                </a:solidFill>
                <a:latin typeface="Calibri" panose="020F0502020204030204" pitchFamily="34" charset="0"/>
              </a:rPr>
              <a:t>grc/core/blocks/block.py, import_data()</a:t>
            </a:r>
            <a:endParaRPr lang="en-IN" sz="1100">
              <a:solidFill>
                <a:srgbClr val="7DD3C8"/>
              </a:solidFill>
              <a:latin typeface="Calibri" panose="020F0502020204030204" pitchFamily="34" charset="0"/>
            </a:endParaRPr>
          </a:p>
        </p:txBody>
      </p:sp>
      <p:sp>
        <p:nvSpPr>
          <p:cNvPr id="5" name="TextBox 4">
            <a:extLst>
              <a:ext uri="{FF2B5EF4-FFF2-40B4-BE49-F238E27FC236}">
                <a16:creationId xmlns:a16="http://schemas.microsoft.com/office/drawing/2014/main" id="{8496E6F7-38F8-3214-500D-1EFA1470A859}"/>
              </a:ext>
            </a:extLst>
          </p:cNvPr>
          <p:cNvSpPr txBox="1"/>
          <p:nvPr/>
        </p:nvSpPr>
        <p:spPr>
          <a:xfrm>
            <a:off x="812800" y="1676400"/>
            <a:ext cx="5562600" cy="1905000"/>
          </a:xfrm>
          <a:prstGeom prst="rect">
            <a:avLst/>
          </a:prstGeom>
          <a:noFill/>
        </p:spPr>
        <p:txBody>
          <a:bodyPr vert="horz" wrap="square" lIns="0" tIns="0" rIns="0" bIns="0" rtlCol="0" anchor="t">
            <a:noAutofit/>
          </a:bodyPr>
          <a:lstStyle/>
          <a:p>
            <a:r>
              <a:rPr lang="en-US" sz="1500">
                <a:solidFill>
                  <a:srgbClr val="CBD5E1"/>
                </a:solidFill>
                <a:latin typeface="Consolas" panose="020B0609020204030204" pitchFamily="49" charset="0"/>
              </a:rPr>
              <a:t>for key, value in parameters.items():</a:t>
            </a:r>
          </a:p>
          <a:p>
            <a:r>
              <a:rPr lang="en-US" sz="1500">
                <a:solidFill>
                  <a:srgbClr val="CBD5E1"/>
                </a:solidFill>
                <a:latin typeface="Consolas" panose="020B0609020204030204" pitchFamily="49" charset="0"/>
              </a:rPr>
              <a:t>    try:</a:t>
            </a:r>
          </a:p>
          <a:p>
            <a:r>
              <a:rPr lang="en-US" sz="1500">
                <a:solidFill>
                  <a:srgbClr val="CBD5E1"/>
                </a:solidFill>
                <a:latin typeface="Consolas" panose="020B0609020204030204" pitchFamily="49" charset="0"/>
              </a:rPr>
              <a:t>        self.params[key].set_value(value)</a:t>
            </a:r>
          </a:p>
          <a:p>
            <a:r>
              <a:rPr lang="en-US" sz="1500">
                <a:solidFill>
                  <a:srgbClr val="CBD5E1"/>
                </a:solidFill>
                <a:latin typeface="Consolas" panose="020B0609020204030204" pitchFamily="49" charset="0"/>
              </a:rPr>
              <a:t>    </a:t>
            </a:r>
            <a:r>
              <a:rPr lang="en-US" sz="1500" b="1">
                <a:solidFill>
                  <a:srgbClr val="F5A524"/>
                </a:solidFill>
                <a:latin typeface="Consolas" panose="020B0609020204030204" pitchFamily="49" charset="0"/>
              </a:rPr>
              <a:t>except KeyError</a:t>
            </a:r>
            <a:r>
              <a:rPr lang="en-US" sz="1500">
                <a:solidFill>
                  <a:srgbClr val="CBD5E1"/>
                </a:solidFill>
                <a:latin typeface="Consolas" panose="020B0609020204030204" pitchFamily="49" charset="0"/>
              </a:rPr>
              <a:t>:</a:t>
            </a:r>
          </a:p>
          <a:p>
            <a:r>
              <a:rPr lang="en-US" sz="1500">
                <a:solidFill>
                  <a:srgbClr val="CBD5E1"/>
                </a:solidFill>
                <a:latin typeface="Consolas" panose="020B0609020204030204" pitchFamily="49" charset="0"/>
              </a:rPr>
              <a:t>        continue</a:t>
            </a:r>
            <a:endParaRPr lang="en-IN" sz="1500">
              <a:solidFill>
                <a:srgbClr val="CBD5E1"/>
              </a:solidFill>
              <a:latin typeface="Consolas" panose="020B0609020204030204" pitchFamily="49" charset="0"/>
            </a:endParaRPr>
          </a:p>
        </p:txBody>
      </p:sp>
      <p:sp>
        <p:nvSpPr>
          <p:cNvPr id="6" name="TextBox 5">
            <a:extLst>
              <a:ext uri="{FF2B5EF4-FFF2-40B4-BE49-F238E27FC236}">
                <a16:creationId xmlns:a16="http://schemas.microsoft.com/office/drawing/2014/main" id="{BA3C3182-091B-F588-CAF1-65F9BA73243E}"/>
              </a:ext>
            </a:extLst>
          </p:cNvPr>
          <p:cNvSpPr txBox="1"/>
          <p:nvPr/>
        </p:nvSpPr>
        <p:spPr>
          <a:xfrm>
            <a:off x="6858000" y="1320800"/>
            <a:ext cx="4724400" cy="2540000"/>
          </a:xfrm>
          <a:prstGeom prst="rect">
            <a:avLst/>
          </a:prstGeom>
          <a:noFill/>
        </p:spPr>
        <p:txBody>
          <a:bodyPr vert="horz" wrap="square" lIns="0" tIns="0" rIns="0" bIns="0" rtlCol="0" anchor="t">
            <a:noAutofit/>
          </a:bodyPr>
          <a:lstStyle/>
          <a:p>
            <a:r>
              <a:rPr lang="en-US" sz="1700">
                <a:solidFill>
                  <a:srgbClr val="0B1F33"/>
                </a:solidFill>
                <a:latin typeface="Calibri" panose="020F0502020204030204" pitchFamily="34" charset="0"/>
              </a:rPr>
              <a:t>An older saved flowgraph has no required key. GRC creates the block from the current definition, so the new field keeps its default, False, and the parameter stays optional.</a:t>
            </a:r>
            <a:endParaRPr lang="en-IN" sz="1700">
              <a:solidFill>
                <a:srgbClr val="0B1F33"/>
              </a:solidFill>
              <a:latin typeface="Calibri" panose="020F0502020204030204" pitchFamily="34" charset="0"/>
            </a:endParaRPr>
          </a:p>
        </p:txBody>
      </p:sp>
      <p:sp>
        <p:nvSpPr>
          <p:cNvPr id="7" name="Rectangle: Rounded Corners 6">
            <a:extLst>
              <a:ext uri="{FF2B5EF4-FFF2-40B4-BE49-F238E27FC236}">
                <a16:creationId xmlns:a16="http://schemas.microsoft.com/office/drawing/2014/main" id="{44B9917E-97BD-4DF4-AC74-8162B0187258}"/>
              </a:ext>
            </a:extLst>
          </p:cNvPr>
          <p:cNvSpPr/>
          <p:nvPr/>
        </p:nvSpPr>
        <p:spPr>
          <a:xfrm>
            <a:off x="609600" y="4013200"/>
            <a:ext cx="10972800" cy="2032000"/>
          </a:xfrm>
          <a:prstGeom prst="roundRect">
            <a:avLst>
              <a:gd name="adj" fmla="val 6000"/>
            </a:avLst>
          </a:prstGeom>
          <a:solidFill>
            <a:srgbClr val="F4F7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35591CAC-8E67-EA74-8AB2-0F779810C1C9}"/>
              </a:ext>
            </a:extLst>
          </p:cNvPr>
          <p:cNvSpPr txBox="1"/>
          <p:nvPr/>
        </p:nvSpPr>
        <p:spPr>
          <a:xfrm>
            <a:off x="889000" y="4191000"/>
            <a:ext cx="10414000" cy="330200"/>
          </a:xfrm>
          <a:prstGeom prst="rect">
            <a:avLst/>
          </a:prstGeom>
          <a:noFill/>
        </p:spPr>
        <p:txBody>
          <a:bodyPr vert="horz" wrap="square" lIns="0" tIns="0" rIns="0" bIns="0" rtlCol="0" anchor="t">
            <a:noAutofit/>
          </a:bodyPr>
          <a:lstStyle/>
          <a:p>
            <a:r>
              <a:rPr lang="en-IN" sz="2000" b="1">
                <a:solidFill>
                  <a:srgbClr val="0B1F33"/>
                </a:solidFill>
                <a:latin typeface="Cambria" panose="02040503050406030204" pitchFamily="18" charset="0"/>
              </a:rPr>
              <a:t>Status</a:t>
            </a:r>
          </a:p>
        </p:txBody>
      </p:sp>
      <p:sp>
        <p:nvSpPr>
          <p:cNvPr id="9" name="TextBox 8">
            <a:extLst>
              <a:ext uri="{FF2B5EF4-FFF2-40B4-BE49-F238E27FC236}">
                <a16:creationId xmlns:a16="http://schemas.microsoft.com/office/drawing/2014/main" id="{CC055C97-4C97-F28D-F6C1-6F725E00B537}"/>
              </a:ext>
            </a:extLst>
          </p:cNvPr>
          <p:cNvSpPr txBox="1"/>
          <p:nvPr/>
        </p:nvSpPr>
        <p:spPr>
          <a:xfrm>
            <a:off x="889000" y="4648200"/>
            <a:ext cx="10414000" cy="1270000"/>
          </a:xfrm>
          <a:prstGeom prst="rect">
            <a:avLst/>
          </a:prstGeom>
          <a:noFill/>
        </p:spPr>
        <p:txBody>
          <a:bodyPr vert="horz" wrap="square" lIns="0" tIns="0" rIns="0" bIns="0" rtlCol="0" anchor="t">
            <a:noAutofit/>
          </a:bodyPr>
          <a:lstStyle/>
          <a:p>
            <a:pPr marL="203200" indent="-203200">
              <a:spcAft>
                <a:spcPts val="800"/>
              </a:spcAft>
              <a:buClr>
                <a:srgbClr val="0E7C70"/>
              </a:buClr>
              <a:buFont typeface="+mj-lt"/>
              <a:buChar char="•"/>
            </a:pPr>
            <a:r>
              <a:rPr lang="en-US" sz="1600">
                <a:solidFill>
                  <a:srgbClr val="0B1F33"/>
                </a:solidFill>
                <a:latin typeface="Calibri" panose="020F0502020204030204" pitchFamily="34" charset="0"/>
              </a:rPr>
              <a:t>Assessed by reading the import code</a:t>
            </a:r>
          </a:p>
          <a:p>
            <a:pPr marL="203200" indent="-203200">
              <a:spcAft>
                <a:spcPts val="800"/>
              </a:spcAft>
              <a:buClr>
                <a:srgbClr val="0E7C70"/>
              </a:buClr>
              <a:buFont typeface="+mj-lt"/>
              <a:buChar char="•"/>
            </a:pPr>
            <a:r>
              <a:rPr lang="en-US" sz="1600">
                <a:solidFill>
                  <a:srgbClr val="0B1F33"/>
                </a:solidFill>
                <a:latin typeface="Calibri" panose="020F0502020204030204" pitchFamily="34" charset="0"/>
              </a:rPr>
              <a:t>No automated test loads an old flowgraph without the field yet</a:t>
            </a:r>
          </a:p>
          <a:p>
            <a:pPr marL="203200" indent="-203200">
              <a:spcAft>
                <a:spcPts val="800"/>
              </a:spcAft>
              <a:buClr>
                <a:srgbClr val="0E7C70"/>
              </a:buClr>
              <a:buFont typeface="+mj-lt"/>
              <a:buChar char="•"/>
            </a:pPr>
            <a:r>
              <a:rPr lang="en-US" sz="1600">
                <a:solidFill>
                  <a:srgbClr val="0B1F33"/>
                </a:solidFill>
                <a:latin typeface="Calibri" panose="020F0502020204030204" pitchFamily="34" charset="0"/>
              </a:rPr>
              <a:t>That regression test is on the to-do list before M3</a:t>
            </a:r>
            <a:endParaRPr lang="en-IN" sz="1600">
              <a:solidFill>
                <a:srgbClr val="0B1F33"/>
              </a:solidFill>
              <a:latin typeface="Calibri" panose="020F0502020204030204" pitchFamily="34" charset="0"/>
            </a:endParaRPr>
          </a:p>
        </p:txBody>
      </p:sp>
      <p:sp>
        <p:nvSpPr>
          <p:cNvPr id="10" name="TextBox 9">
            <a:extLst>
              <a:ext uri="{FF2B5EF4-FFF2-40B4-BE49-F238E27FC236}">
                <a16:creationId xmlns:a16="http://schemas.microsoft.com/office/drawing/2014/main" id="{E52C9188-C85A-5AF6-59F9-7B99CDDFD5C0}"/>
              </a:ext>
            </a:extLst>
          </p:cNvPr>
          <p:cNvSpPr txBox="1"/>
          <p:nvPr/>
        </p:nvSpPr>
        <p:spPr>
          <a:xfrm>
            <a:off x="609600" y="6451600"/>
            <a:ext cx="7620000" cy="203200"/>
          </a:xfrm>
          <a:prstGeom prst="rect">
            <a:avLst/>
          </a:prstGeom>
          <a:noFill/>
        </p:spPr>
        <p:txBody>
          <a:bodyPr vert="horz" wrap="square" lIns="0" tIns="0" rIns="0" bIns="0" rtlCol="0" anchor="t">
            <a:noAutofit/>
          </a:bodyPr>
          <a:lstStyle/>
          <a:p>
            <a:r>
              <a:rPr lang="en-IN" sz="1100">
                <a:solidFill>
                  <a:srgbClr val="5B6B7B"/>
                </a:solidFill>
                <a:latin typeface="Calibri" panose="020F0502020204030204" pitchFamily="34" charset="0"/>
              </a:rPr>
              <a:t>Project g16  |  M2 report  |  GNU Radio Companion contribution</a:t>
            </a:r>
          </a:p>
        </p:txBody>
      </p:sp>
      <p:sp>
        <p:nvSpPr>
          <p:cNvPr id="11" name="TextBox 10">
            <a:extLst>
              <a:ext uri="{FF2B5EF4-FFF2-40B4-BE49-F238E27FC236}">
                <a16:creationId xmlns:a16="http://schemas.microsoft.com/office/drawing/2014/main" id="{3A96955B-8D7E-05DD-90A0-6282DFC5E27E}"/>
              </a:ext>
            </a:extLst>
          </p:cNvPr>
          <p:cNvSpPr txBox="1"/>
          <p:nvPr/>
        </p:nvSpPr>
        <p:spPr>
          <a:xfrm>
            <a:off x="10820400" y="6451600"/>
            <a:ext cx="762000" cy="203200"/>
          </a:xfrm>
          <a:prstGeom prst="rect">
            <a:avLst/>
          </a:prstGeom>
          <a:noFill/>
        </p:spPr>
        <p:txBody>
          <a:bodyPr vert="horz" wrap="square" lIns="0" tIns="0" rIns="0" bIns="0" rtlCol="0" anchor="t">
            <a:noAutofit/>
          </a:bodyPr>
          <a:lstStyle/>
          <a:p>
            <a:pPr algn="r"/>
            <a:r>
              <a:rPr lang="en-IN" sz="1100">
                <a:solidFill>
                  <a:srgbClr val="5B6B7B"/>
                </a:solidFill>
                <a:latin typeface="Calibri" panose="020F0502020204030204" pitchFamily="34" charset="0"/>
              </a:rPr>
              <a:t>11</a:t>
            </a:r>
          </a:p>
        </p:txBody>
      </p:sp>
    </p:spTree>
    <p:extLst>
      <p:ext uri="{BB962C8B-B14F-4D97-AF65-F5344CB8AC3E}">
        <p14:creationId xmlns:p14="http://schemas.microsoft.com/office/powerpoint/2010/main" val="8147259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C42F4-3467-F470-CCDA-4919C78C1BF7}"/>
              </a:ext>
            </a:extLst>
          </p:cNvPr>
          <p:cNvSpPr>
            <a:spLocks noGrp="1"/>
          </p:cNvSpPr>
          <p:nvPr>
            <p:ph type="title"/>
          </p:nvPr>
        </p:nvSpPr>
        <p:spPr>
          <a:xfrm>
            <a:off x="609600" y="330200"/>
            <a:ext cx="10972800" cy="787400"/>
          </a:xfrm>
        </p:spPr>
        <p:txBody>
          <a:bodyPr lIns="0" anchor="ctr">
            <a:normAutofit/>
          </a:bodyPr>
          <a:lstStyle/>
          <a:p>
            <a:r>
              <a:rPr lang="en-US" sz="3400" b="1">
                <a:solidFill>
                  <a:srgbClr val="0B1F33"/>
                </a:solidFill>
                <a:latin typeface="Cambria" panose="02040503050406030204" pitchFamily="18" charset="0"/>
              </a:rPr>
              <a:t>From local branch to pull request</a:t>
            </a:r>
            <a:endParaRPr lang="en-IN" sz="3400" b="1">
              <a:solidFill>
                <a:srgbClr val="0B1F33"/>
              </a:solidFill>
              <a:latin typeface="Cambria" panose="02040503050406030204" pitchFamily="18" charset="0"/>
            </a:endParaRPr>
          </a:p>
        </p:txBody>
      </p:sp>
      <p:sp>
        <p:nvSpPr>
          <p:cNvPr id="3" name="Rectangle: Rounded Corners 2">
            <a:extLst>
              <a:ext uri="{FF2B5EF4-FFF2-40B4-BE49-F238E27FC236}">
                <a16:creationId xmlns:a16="http://schemas.microsoft.com/office/drawing/2014/main" id="{B503E4BC-11C7-D6CD-D56B-F6F26BAE9B52}"/>
              </a:ext>
            </a:extLst>
          </p:cNvPr>
          <p:cNvSpPr/>
          <p:nvPr/>
        </p:nvSpPr>
        <p:spPr>
          <a:xfrm>
            <a:off x="609600" y="1270000"/>
            <a:ext cx="2032000" cy="1651000"/>
          </a:xfrm>
          <a:prstGeom prst="roundRect">
            <a:avLst>
              <a:gd name="adj" fmla="val 6000"/>
            </a:avLst>
          </a:prstGeom>
          <a:solidFill>
            <a:srgbClr val="F4F7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Oval 3">
            <a:extLst>
              <a:ext uri="{FF2B5EF4-FFF2-40B4-BE49-F238E27FC236}">
                <a16:creationId xmlns:a16="http://schemas.microsoft.com/office/drawing/2014/main" id="{BE85A4A1-D077-341C-238B-2B1D99C85B03}"/>
              </a:ext>
            </a:extLst>
          </p:cNvPr>
          <p:cNvSpPr/>
          <p:nvPr/>
        </p:nvSpPr>
        <p:spPr>
          <a:xfrm>
            <a:off x="787400" y="1422400"/>
            <a:ext cx="431800" cy="431800"/>
          </a:xfrm>
          <a:prstGeom prst="ellipse">
            <a:avLst/>
          </a:prstGeom>
          <a:solidFill>
            <a:srgbClr val="14B8A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500" b="1">
                <a:solidFill>
                  <a:srgbClr val="0B1F33"/>
                </a:solidFill>
                <a:latin typeface="Cambria" panose="02040503050406030204" pitchFamily="18" charset="0"/>
              </a:rPr>
              <a:t>1</a:t>
            </a:r>
          </a:p>
        </p:txBody>
      </p:sp>
      <p:sp>
        <p:nvSpPr>
          <p:cNvPr id="5" name="TextBox 4">
            <a:extLst>
              <a:ext uri="{FF2B5EF4-FFF2-40B4-BE49-F238E27FC236}">
                <a16:creationId xmlns:a16="http://schemas.microsoft.com/office/drawing/2014/main" id="{548AE9B9-E0A3-5E30-7B14-D6E5C78F02ED}"/>
              </a:ext>
            </a:extLst>
          </p:cNvPr>
          <p:cNvSpPr txBox="1"/>
          <p:nvPr/>
        </p:nvSpPr>
        <p:spPr>
          <a:xfrm>
            <a:off x="787400" y="1955800"/>
            <a:ext cx="1701800" cy="279400"/>
          </a:xfrm>
          <a:prstGeom prst="rect">
            <a:avLst/>
          </a:prstGeom>
          <a:noFill/>
        </p:spPr>
        <p:txBody>
          <a:bodyPr vert="horz" wrap="square" lIns="0" tIns="0" rIns="0" bIns="0" rtlCol="0" anchor="t">
            <a:noAutofit/>
          </a:bodyPr>
          <a:lstStyle/>
          <a:p>
            <a:r>
              <a:rPr lang="en-IN" sz="1600" b="1">
                <a:solidFill>
                  <a:srgbClr val="0B1F33"/>
                </a:solidFill>
                <a:latin typeface="Cambria" panose="02040503050406030204" pitchFamily="18" charset="0"/>
              </a:rPr>
              <a:t>Branch</a:t>
            </a:r>
          </a:p>
        </p:txBody>
      </p:sp>
      <p:sp>
        <p:nvSpPr>
          <p:cNvPr id="6" name="TextBox 5">
            <a:extLst>
              <a:ext uri="{FF2B5EF4-FFF2-40B4-BE49-F238E27FC236}">
                <a16:creationId xmlns:a16="http://schemas.microsoft.com/office/drawing/2014/main" id="{79BA2D22-EE31-D990-1061-19FAC8B9F6AB}"/>
              </a:ext>
            </a:extLst>
          </p:cNvPr>
          <p:cNvSpPr txBox="1"/>
          <p:nvPr/>
        </p:nvSpPr>
        <p:spPr>
          <a:xfrm>
            <a:off x="787400" y="2286000"/>
            <a:ext cx="1701800" cy="584200"/>
          </a:xfrm>
          <a:prstGeom prst="rect">
            <a:avLst/>
          </a:prstGeom>
          <a:noFill/>
        </p:spPr>
        <p:txBody>
          <a:bodyPr vert="horz" wrap="square" lIns="0" tIns="0" rIns="0" bIns="0" rtlCol="0" anchor="t">
            <a:noAutofit/>
          </a:bodyPr>
          <a:lstStyle/>
          <a:p>
            <a:r>
              <a:rPr lang="en-IN" sz="1300">
                <a:solidFill>
                  <a:srgbClr val="5B6B7B"/>
                </a:solidFill>
                <a:latin typeface="Calibri" panose="020F0502020204030204" pitchFamily="34" charset="0"/>
              </a:rPr>
              <a:t>grc-required-parameters</a:t>
            </a:r>
          </a:p>
        </p:txBody>
      </p:sp>
      <p:sp>
        <p:nvSpPr>
          <p:cNvPr id="7" name="Rectangle: Rounded Corners 6">
            <a:extLst>
              <a:ext uri="{FF2B5EF4-FFF2-40B4-BE49-F238E27FC236}">
                <a16:creationId xmlns:a16="http://schemas.microsoft.com/office/drawing/2014/main" id="{59ABEA47-6D73-D4ED-0506-A89D8A336CE8}"/>
              </a:ext>
            </a:extLst>
          </p:cNvPr>
          <p:cNvSpPr/>
          <p:nvPr/>
        </p:nvSpPr>
        <p:spPr>
          <a:xfrm>
            <a:off x="2844800" y="1270000"/>
            <a:ext cx="2032000" cy="1651000"/>
          </a:xfrm>
          <a:prstGeom prst="roundRect">
            <a:avLst>
              <a:gd name="adj" fmla="val 6000"/>
            </a:avLst>
          </a:prstGeom>
          <a:solidFill>
            <a:srgbClr val="F4F7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id="{237266FC-570C-B8A3-D864-E12B01BBDD09}"/>
              </a:ext>
            </a:extLst>
          </p:cNvPr>
          <p:cNvSpPr/>
          <p:nvPr/>
        </p:nvSpPr>
        <p:spPr>
          <a:xfrm>
            <a:off x="3022600" y="1422400"/>
            <a:ext cx="431800" cy="431800"/>
          </a:xfrm>
          <a:prstGeom prst="ellipse">
            <a:avLst/>
          </a:prstGeom>
          <a:solidFill>
            <a:srgbClr val="14B8A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500" b="1">
                <a:solidFill>
                  <a:srgbClr val="0B1F33"/>
                </a:solidFill>
                <a:latin typeface="Cambria" panose="02040503050406030204" pitchFamily="18" charset="0"/>
              </a:rPr>
              <a:t>2</a:t>
            </a:r>
          </a:p>
        </p:txBody>
      </p:sp>
      <p:sp>
        <p:nvSpPr>
          <p:cNvPr id="9" name="TextBox 8">
            <a:extLst>
              <a:ext uri="{FF2B5EF4-FFF2-40B4-BE49-F238E27FC236}">
                <a16:creationId xmlns:a16="http://schemas.microsoft.com/office/drawing/2014/main" id="{72483E0B-7849-7B01-4E1D-45AB607BD10E}"/>
              </a:ext>
            </a:extLst>
          </p:cNvPr>
          <p:cNvSpPr txBox="1"/>
          <p:nvPr/>
        </p:nvSpPr>
        <p:spPr>
          <a:xfrm>
            <a:off x="3022600" y="1955800"/>
            <a:ext cx="1701800" cy="279400"/>
          </a:xfrm>
          <a:prstGeom prst="rect">
            <a:avLst/>
          </a:prstGeom>
          <a:noFill/>
        </p:spPr>
        <p:txBody>
          <a:bodyPr vert="horz" wrap="square" lIns="0" tIns="0" rIns="0" bIns="0" rtlCol="0" anchor="t">
            <a:noAutofit/>
          </a:bodyPr>
          <a:lstStyle/>
          <a:p>
            <a:r>
              <a:rPr lang="en-IN" sz="1600" b="1">
                <a:solidFill>
                  <a:srgbClr val="0B1F33"/>
                </a:solidFill>
                <a:latin typeface="Cambria" panose="02040503050406030204" pitchFamily="18" charset="0"/>
              </a:rPr>
              <a:t>Commit</a:t>
            </a:r>
          </a:p>
        </p:txBody>
      </p:sp>
      <p:sp>
        <p:nvSpPr>
          <p:cNvPr id="10" name="TextBox 9">
            <a:extLst>
              <a:ext uri="{FF2B5EF4-FFF2-40B4-BE49-F238E27FC236}">
                <a16:creationId xmlns:a16="http://schemas.microsoft.com/office/drawing/2014/main" id="{2AD1B7BC-CAB5-FBF4-0EB9-8FE7DDE515D2}"/>
              </a:ext>
            </a:extLst>
          </p:cNvPr>
          <p:cNvSpPr txBox="1"/>
          <p:nvPr/>
        </p:nvSpPr>
        <p:spPr>
          <a:xfrm>
            <a:off x="3022600" y="2286000"/>
            <a:ext cx="1701800" cy="584200"/>
          </a:xfrm>
          <a:prstGeom prst="rect">
            <a:avLst/>
          </a:prstGeom>
          <a:noFill/>
        </p:spPr>
        <p:txBody>
          <a:bodyPr vert="horz" wrap="square" lIns="0" tIns="0" rIns="0" bIns="0" rtlCol="0" anchor="t">
            <a:noAutofit/>
          </a:bodyPr>
          <a:lstStyle/>
          <a:p>
            <a:r>
              <a:rPr lang="en-IN" sz="1300">
                <a:solidFill>
                  <a:srgbClr val="5B6B7B"/>
                </a:solidFill>
                <a:latin typeface="Calibri" panose="020F0502020204030204" pitchFamily="34" charset="0"/>
              </a:rPr>
              <a:t>031c8ac51</a:t>
            </a:r>
          </a:p>
        </p:txBody>
      </p:sp>
      <p:sp>
        <p:nvSpPr>
          <p:cNvPr id="11" name="Rectangle: Rounded Corners 10">
            <a:extLst>
              <a:ext uri="{FF2B5EF4-FFF2-40B4-BE49-F238E27FC236}">
                <a16:creationId xmlns:a16="http://schemas.microsoft.com/office/drawing/2014/main" id="{1CC5F18E-6BC9-02AF-B2F3-A65D28DB1255}"/>
              </a:ext>
            </a:extLst>
          </p:cNvPr>
          <p:cNvSpPr/>
          <p:nvPr/>
        </p:nvSpPr>
        <p:spPr>
          <a:xfrm>
            <a:off x="5080000" y="1270000"/>
            <a:ext cx="2032000" cy="1651000"/>
          </a:xfrm>
          <a:prstGeom prst="roundRect">
            <a:avLst>
              <a:gd name="adj" fmla="val 6000"/>
            </a:avLst>
          </a:prstGeom>
          <a:solidFill>
            <a:srgbClr val="F4F7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val 11">
            <a:extLst>
              <a:ext uri="{FF2B5EF4-FFF2-40B4-BE49-F238E27FC236}">
                <a16:creationId xmlns:a16="http://schemas.microsoft.com/office/drawing/2014/main" id="{CC574451-9EEE-4DBA-5208-75F21D536095}"/>
              </a:ext>
            </a:extLst>
          </p:cNvPr>
          <p:cNvSpPr/>
          <p:nvPr/>
        </p:nvSpPr>
        <p:spPr>
          <a:xfrm>
            <a:off x="5257800" y="1422400"/>
            <a:ext cx="431800" cy="431800"/>
          </a:xfrm>
          <a:prstGeom prst="ellipse">
            <a:avLst/>
          </a:prstGeom>
          <a:solidFill>
            <a:srgbClr val="14B8A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500" b="1">
                <a:solidFill>
                  <a:srgbClr val="0B1F33"/>
                </a:solidFill>
                <a:latin typeface="Cambria" panose="02040503050406030204" pitchFamily="18" charset="0"/>
              </a:rPr>
              <a:t>3</a:t>
            </a:r>
          </a:p>
        </p:txBody>
      </p:sp>
      <p:sp>
        <p:nvSpPr>
          <p:cNvPr id="13" name="TextBox 12">
            <a:extLst>
              <a:ext uri="{FF2B5EF4-FFF2-40B4-BE49-F238E27FC236}">
                <a16:creationId xmlns:a16="http://schemas.microsoft.com/office/drawing/2014/main" id="{FEB566BC-EDDD-C704-CB78-A93C5B3292AD}"/>
              </a:ext>
            </a:extLst>
          </p:cNvPr>
          <p:cNvSpPr txBox="1"/>
          <p:nvPr/>
        </p:nvSpPr>
        <p:spPr>
          <a:xfrm>
            <a:off x="5257800" y="1955800"/>
            <a:ext cx="1701800" cy="279400"/>
          </a:xfrm>
          <a:prstGeom prst="rect">
            <a:avLst/>
          </a:prstGeom>
          <a:noFill/>
        </p:spPr>
        <p:txBody>
          <a:bodyPr vert="horz" wrap="square" lIns="0" tIns="0" rIns="0" bIns="0" rtlCol="0" anchor="t">
            <a:noAutofit/>
          </a:bodyPr>
          <a:lstStyle/>
          <a:p>
            <a:r>
              <a:rPr lang="en-IN" sz="1600" b="1">
                <a:solidFill>
                  <a:srgbClr val="0B1F33"/>
                </a:solidFill>
                <a:latin typeface="Cambria" panose="02040503050406030204" pitchFamily="18" charset="0"/>
              </a:rPr>
              <a:t>DCO sign-off</a:t>
            </a:r>
          </a:p>
        </p:txBody>
      </p:sp>
      <p:sp>
        <p:nvSpPr>
          <p:cNvPr id="14" name="TextBox 13">
            <a:extLst>
              <a:ext uri="{FF2B5EF4-FFF2-40B4-BE49-F238E27FC236}">
                <a16:creationId xmlns:a16="http://schemas.microsoft.com/office/drawing/2014/main" id="{3DD6DDD5-5145-E417-D16F-3B8B6F543700}"/>
              </a:ext>
            </a:extLst>
          </p:cNvPr>
          <p:cNvSpPr txBox="1"/>
          <p:nvPr/>
        </p:nvSpPr>
        <p:spPr>
          <a:xfrm>
            <a:off x="5257800" y="2286000"/>
            <a:ext cx="1701800" cy="584200"/>
          </a:xfrm>
          <a:prstGeom prst="rect">
            <a:avLst/>
          </a:prstGeom>
          <a:noFill/>
        </p:spPr>
        <p:txBody>
          <a:bodyPr vert="horz" wrap="square" lIns="0" tIns="0" rIns="0" bIns="0" rtlCol="0" anchor="t">
            <a:noAutofit/>
          </a:bodyPr>
          <a:lstStyle/>
          <a:p>
            <a:r>
              <a:rPr lang="en-IN" sz="1300">
                <a:solidFill>
                  <a:srgbClr val="5B6B7B"/>
                </a:solidFill>
                <a:latin typeface="Calibri" panose="020F0502020204030204" pitchFamily="34" charset="0"/>
              </a:rPr>
              <a:t>amended to f7afafee6</a:t>
            </a:r>
          </a:p>
        </p:txBody>
      </p:sp>
      <p:sp>
        <p:nvSpPr>
          <p:cNvPr id="15" name="Rectangle: Rounded Corners 14">
            <a:extLst>
              <a:ext uri="{FF2B5EF4-FFF2-40B4-BE49-F238E27FC236}">
                <a16:creationId xmlns:a16="http://schemas.microsoft.com/office/drawing/2014/main" id="{3CE7946A-1B2F-648E-C641-F114E714435A}"/>
              </a:ext>
            </a:extLst>
          </p:cNvPr>
          <p:cNvSpPr/>
          <p:nvPr/>
        </p:nvSpPr>
        <p:spPr>
          <a:xfrm>
            <a:off x="7315200" y="1270000"/>
            <a:ext cx="2032000" cy="1651000"/>
          </a:xfrm>
          <a:prstGeom prst="roundRect">
            <a:avLst>
              <a:gd name="adj" fmla="val 6000"/>
            </a:avLst>
          </a:prstGeom>
          <a:solidFill>
            <a:srgbClr val="F4F7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Oval 15">
            <a:extLst>
              <a:ext uri="{FF2B5EF4-FFF2-40B4-BE49-F238E27FC236}">
                <a16:creationId xmlns:a16="http://schemas.microsoft.com/office/drawing/2014/main" id="{0881BABC-3E84-E37C-7DA2-1FAB7C3C76E4}"/>
              </a:ext>
            </a:extLst>
          </p:cNvPr>
          <p:cNvSpPr/>
          <p:nvPr/>
        </p:nvSpPr>
        <p:spPr>
          <a:xfrm>
            <a:off x="7493000" y="1422400"/>
            <a:ext cx="431800" cy="431800"/>
          </a:xfrm>
          <a:prstGeom prst="ellipse">
            <a:avLst/>
          </a:prstGeom>
          <a:solidFill>
            <a:srgbClr val="14B8A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500" b="1">
                <a:solidFill>
                  <a:srgbClr val="0B1F33"/>
                </a:solidFill>
                <a:latin typeface="Cambria" panose="02040503050406030204" pitchFamily="18" charset="0"/>
              </a:rPr>
              <a:t>4</a:t>
            </a:r>
          </a:p>
        </p:txBody>
      </p:sp>
      <p:sp>
        <p:nvSpPr>
          <p:cNvPr id="17" name="TextBox 16">
            <a:extLst>
              <a:ext uri="{FF2B5EF4-FFF2-40B4-BE49-F238E27FC236}">
                <a16:creationId xmlns:a16="http://schemas.microsoft.com/office/drawing/2014/main" id="{9CDC20A1-9C14-82FD-A389-11CB6242D713}"/>
              </a:ext>
            </a:extLst>
          </p:cNvPr>
          <p:cNvSpPr txBox="1"/>
          <p:nvPr/>
        </p:nvSpPr>
        <p:spPr>
          <a:xfrm>
            <a:off x="7493000" y="1955800"/>
            <a:ext cx="1701800" cy="279400"/>
          </a:xfrm>
          <a:prstGeom prst="rect">
            <a:avLst/>
          </a:prstGeom>
          <a:noFill/>
        </p:spPr>
        <p:txBody>
          <a:bodyPr vert="horz" wrap="square" lIns="0" tIns="0" rIns="0" bIns="0" rtlCol="0" anchor="t">
            <a:noAutofit/>
          </a:bodyPr>
          <a:lstStyle/>
          <a:p>
            <a:r>
              <a:rPr lang="en-IN" sz="1600" b="1">
                <a:solidFill>
                  <a:srgbClr val="0B1F33"/>
                </a:solidFill>
                <a:latin typeface="Cambria" panose="02040503050406030204" pitchFamily="18" charset="0"/>
              </a:rPr>
              <a:t>Push</a:t>
            </a:r>
          </a:p>
        </p:txBody>
      </p:sp>
      <p:sp>
        <p:nvSpPr>
          <p:cNvPr id="18" name="TextBox 17">
            <a:extLst>
              <a:ext uri="{FF2B5EF4-FFF2-40B4-BE49-F238E27FC236}">
                <a16:creationId xmlns:a16="http://schemas.microsoft.com/office/drawing/2014/main" id="{E750B52D-C643-22B6-ADCB-052F58F77B9F}"/>
              </a:ext>
            </a:extLst>
          </p:cNvPr>
          <p:cNvSpPr txBox="1"/>
          <p:nvPr/>
        </p:nvSpPr>
        <p:spPr>
          <a:xfrm>
            <a:off x="7493000" y="2286000"/>
            <a:ext cx="1701800" cy="584200"/>
          </a:xfrm>
          <a:prstGeom prst="rect">
            <a:avLst/>
          </a:prstGeom>
          <a:noFill/>
        </p:spPr>
        <p:txBody>
          <a:bodyPr vert="horz" wrap="square" lIns="0" tIns="0" rIns="0" bIns="0" rtlCol="0" anchor="t">
            <a:noAutofit/>
          </a:bodyPr>
          <a:lstStyle/>
          <a:p>
            <a:r>
              <a:rPr lang="en-IN" sz="1300">
                <a:solidFill>
                  <a:srgbClr val="5B6B7B"/>
                </a:solidFill>
                <a:latin typeface="Calibri" panose="020F0502020204030204" pitchFamily="34" charset="0"/>
              </a:rPr>
              <a:t>to my fork, origin</a:t>
            </a:r>
          </a:p>
        </p:txBody>
      </p:sp>
      <p:sp>
        <p:nvSpPr>
          <p:cNvPr id="19" name="Rectangle: Rounded Corners 18">
            <a:extLst>
              <a:ext uri="{FF2B5EF4-FFF2-40B4-BE49-F238E27FC236}">
                <a16:creationId xmlns:a16="http://schemas.microsoft.com/office/drawing/2014/main" id="{2131BD7B-9AD8-50E2-9730-4795300E1498}"/>
              </a:ext>
            </a:extLst>
          </p:cNvPr>
          <p:cNvSpPr/>
          <p:nvPr/>
        </p:nvSpPr>
        <p:spPr>
          <a:xfrm>
            <a:off x="9550400" y="1270000"/>
            <a:ext cx="2032000" cy="1651000"/>
          </a:xfrm>
          <a:prstGeom prst="roundRect">
            <a:avLst>
              <a:gd name="adj" fmla="val 6000"/>
            </a:avLst>
          </a:prstGeom>
          <a:solidFill>
            <a:srgbClr val="F4F7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Oval 19">
            <a:extLst>
              <a:ext uri="{FF2B5EF4-FFF2-40B4-BE49-F238E27FC236}">
                <a16:creationId xmlns:a16="http://schemas.microsoft.com/office/drawing/2014/main" id="{63A51D9D-5D35-C8E5-F613-FD610ABC20A7}"/>
              </a:ext>
            </a:extLst>
          </p:cNvPr>
          <p:cNvSpPr/>
          <p:nvPr/>
        </p:nvSpPr>
        <p:spPr>
          <a:xfrm>
            <a:off x="9728200" y="1422400"/>
            <a:ext cx="431800" cy="431800"/>
          </a:xfrm>
          <a:prstGeom prst="ellipse">
            <a:avLst/>
          </a:prstGeom>
          <a:solidFill>
            <a:srgbClr val="14B8A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500" b="1">
                <a:solidFill>
                  <a:srgbClr val="0B1F33"/>
                </a:solidFill>
                <a:latin typeface="Cambria" panose="02040503050406030204" pitchFamily="18" charset="0"/>
              </a:rPr>
              <a:t>5</a:t>
            </a:r>
          </a:p>
        </p:txBody>
      </p:sp>
      <p:sp>
        <p:nvSpPr>
          <p:cNvPr id="21" name="TextBox 20">
            <a:extLst>
              <a:ext uri="{FF2B5EF4-FFF2-40B4-BE49-F238E27FC236}">
                <a16:creationId xmlns:a16="http://schemas.microsoft.com/office/drawing/2014/main" id="{7E30A74E-216A-449F-4DB8-45FA867BCCB7}"/>
              </a:ext>
            </a:extLst>
          </p:cNvPr>
          <p:cNvSpPr txBox="1"/>
          <p:nvPr/>
        </p:nvSpPr>
        <p:spPr>
          <a:xfrm>
            <a:off x="9728200" y="1955800"/>
            <a:ext cx="1701800" cy="279400"/>
          </a:xfrm>
          <a:prstGeom prst="rect">
            <a:avLst/>
          </a:prstGeom>
          <a:noFill/>
        </p:spPr>
        <p:txBody>
          <a:bodyPr vert="horz" wrap="square" lIns="0" tIns="0" rIns="0" bIns="0" rtlCol="0" anchor="t">
            <a:noAutofit/>
          </a:bodyPr>
          <a:lstStyle/>
          <a:p>
            <a:r>
              <a:rPr lang="en-IN" sz="1600" b="1">
                <a:solidFill>
                  <a:srgbClr val="0B1F33"/>
                </a:solidFill>
                <a:latin typeface="Cambria" panose="02040503050406030204" pitchFamily="18" charset="0"/>
              </a:rPr>
              <a:t>Pull request</a:t>
            </a:r>
          </a:p>
        </p:txBody>
      </p:sp>
      <p:sp>
        <p:nvSpPr>
          <p:cNvPr id="22" name="TextBox 21">
            <a:extLst>
              <a:ext uri="{FF2B5EF4-FFF2-40B4-BE49-F238E27FC236}">
                <a16:creationId xmlns:a16="http://schemas.microsoft.com/office/drawing/2014/main" id="{BBAF2135-8B5E-C80D-CFEB-88542AE2291C}"/>
              </a:ext>
            </a:extLst>
          </p:cNvPr>
          <p:cNvSpPr txBox="1"/>
          <p:nvPr/>
        </p:nvSpPr>
        <p:spPr>
          <a:xfrm>
            <a:off x="9728200" y="2286000"/>
            <a:ext cx="1701800" cy="584200"/>
          </a:xfrm>
          <a:prstGeom prst="rect">
            <a:avLst/>
          </a:prstGeom>
          <a:noFill/>
        </p:spPr>
        <p:txBody>
          <a:bodyPr vert="horz" wrap="square" lIns="0" tIns="0" rIns="0" bIns="0" rtlCol="0" anchor="t">
            <a:noAutofit/>
          </a:bodyPr>
          <a:lstStyle/>
          <a:p>
            <a:r>
              <a:rPr lang="en-IN" sz="1300">
                <a:solidFill>
                  <a:srgbClr val="5B6B7B"/>
                </a:solidFill>
                <a:latin typeface="Calibri" panose="020F0502020204030204" pitchFamily="34" charset="0"/>
              </a:rPr>
              <a:t>#8233, closes #5096</a:t>
            </a:r>
          </a:p>
        </p:txBody>
      </p:sp>
      <p:sp>
        <p:nvSpPr>
          <p:cNvPr id="23" name="Rectangle: Rounded Corners 22">
            <a:extLst>
              <a:ext uri="{FF2B5EF4-FFF2-40B4-BE49-F238E27FC236}">
                <a16:creationId xmlns:a16="http://schemas.microsoft.com/office/drawing/2014/main" id="{8D7005A4-2D52-9031-3CA9-85346125C645}"/>
              </a:ext>
            </a:extLst>
          </p:cNvPr>
          <p:cNvSpPr/>
          <p:nvPr/>
        </p:nvSpPr>
        <p:spPr>
          <a:xfrm>
            <a:off x="609600" y="3124200"/>
            <a:ext cx="10972800" cy="1219200"/>
          </a:xfrm>
          <a:prstGeom prst="roundRect">
            <a:avLst>
              <a:gd name="adj" fmla="val 3000"/>
            </a:avLst>
          </a:prstGeom>
          <a:solidFill>
            <a:srgbClr val="0F223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TextBox 23">
            <a:extLst>
              <a:ext uri="{FF2B5EF4-FFF2-40B4-BE49-F238E27FC236}">
                <a16:creationId xmlns:a16="http://schemas.microsoft.com/office/drawing/2014/main" id="{BEDCFCA3-541F-339B-88C6-F53B3542D661}"/>
              </a:ext>
            </a:extLst>
          </p:cNvPr>
          <p:cNvSpPr txBox="1"/>
          <p:nvPr/>
        </p:nvSpPr>
        <p:spPr>
          <a:xfrm>
            <a:off x="812800" y="3251200"/>
            <a:ext cx="10566400" cy="228600"/>
          </a:xfrm>
          <a:prstGeom prst="rect">
            <a:avLst/>
          </a:prstGeom>
          <a:noFill/>
        </p:spPr>
        <p:txBody>
          <a:bodyPr vert="horz" wrap="square" lIns="0" tIns="0" rIns="0" bIns="0" rtlCol="0" anchor="t">
            <a:noAutofit/>
          </a:bodyPr>
          <a:lstStyle/>
          <a:p>
            <a:r>
              <a:rPr lang="en-IN" sz="1100">
                <a:solidFill>
                  <a:srgbClr val="7DD3C8"/>
                </a:solidFill>
                <a:latin typeface="Calibri" panose="020F0502020204030204" pitchFamily="34" charset="0"/>
              </a:rPr>
              <a:t>commands</a:t>
            </a:r>
          </a:p>
        </p:txBody>
      </p:sp>
      <p:sp>
        <p:nvSpPr>
          <p:cNvPr id="25" name="TextBox 24">
            <a:extLst>
              <a:ext uri="{FF2B5EF4-FFF2-40B4-BE49-F238E27FC236}">
                <a16:creationId xmlns:a16="http://schemas.microsoft.com/office/drawing/2014/main" id="{6A800BC8-8FC6-9854-1317-56E8B6CB62BC}"/>
              </a:ext>
            </a:extLst>
          </p:cNvPr>
          <p:cNvSpPr txBox="1"/>
          <p:nvPr/>
        </p:nvSpPr>
        <p:spPr>
          <a:xfrm>
            <a:off x="812800" y="3530600"/>
            <a:ext cx="10566400" cy="711200"/>
          </a:xfrm>
          <a:prstGeom prst="rect">
            <a:avLst/>
          </a:prstGeom>
          <a:noFill/>
        </p:spPr>
        <p:txBody>
          <a:bodyPr vert="horz" wrap="square" lIns="0" tIns="0" rIns="0" bIns="0" rtlCol="0" anchor="t">
            <a:noAutofit/>
          </a:bodyPr>
          <a:lstStyle/>
          <a:p>
            <a:r>
              <a:rPr lang="en-US" sz="1400">
                <a:solidFill>
                  <a:srgbClr val="CBD5E1"/>
                </a:solidFill>
                <a:latin typeface="Consolas" panose="020B0609020204030204" pitchFamily="49" charset="0"/>
              </a:rPr>
              <a:t>git commit -m "grc: add required option to parameter block"</a:t>
            </a:r>
          </a:p>
          <a:p>
            <a:r>
              <a:rPr lang="en-US" sz="1400">
                <a:solidFill>
                  <a:srgbClr val="CBD5E1"/>
                </a:solidFill>
                <a:latin typeface="Consolas" panose="020B0609020204030204" pitchFamily="49" charset="0"/>
              </a:rPr>
              <a:t>git commit --amend --no-edit </a:t>
            </a:r>
            <a:r>
              <a:rPr lang="en-US" sz="1400" b="1">
                <a:solidFill>
                  <a:srgbClr val="F5A524"/>
                </a:solidFill>
                <a:latin typeface="Consolas" panose="020B0609020204030204" pitchFamily="49" charset="0"/>
              </a:rPr>
              <a:t>--signoff</a:t>
            </a:r>
          </a:p>
          <a:p>
            <a:r>
              <a:rPr lang="en-US" sz="1400">
                <a:solidFill>
                  <a:srgbClr val="CBD5E1"/>
                </a:solidFill>
                <a:latin typeface="Consolas" panose="020B0609020204030204" pitchFamily="49" charset="0"/>
              </a:rPr>
              <a:t>git push -u origin grc-required-parameters</a:t>
            </a:r>
            <a:endParaRPr lang="en-IN" sz="1400">
              <a:solidFill>
                <a:srgbClr val="CBD5E1"/>
              </a:solidFill>
              <a:latin typeface="Consolas" panose="020B0609020204030204" pitchFamily="49" charset="0"/>
            </a:endParaRPr>
          </a:p>
        </p:txBody>
      </p:sp>
      <p:graphicFrame>
        <p:nvGraphicFramePr>
          <p:cNvPr id="26" name="Table 25">
            <a:extLst>
              <a:ext uri="{FF2B5EF4-FFF2-40B4-BE49-F238E27FC236}">
                <a16:creationId xmlns:a16="http://schemas.microsoft.com/office/drawing/2014/main" id="{C8095389-2315-2553-DEFF-7E11AA7F581E}"/>
              </a:ext>
            </a:extLst>
          </p:cNvPr>
          <p:cNvGraphicFramePr>
            <a:graphicFrameLocks noGrp="1"/>
          </p:cNvGraphicFramePr>
          <p:nvPr>
            <p:extLst>
              <p:ext uri="{D42A27DB-BD31-4B8C-83A1-F6EECF244321}">
                <p14:modId xmlns:p14="http://schemas.microsoft.com/office/powerpoint/2010/main" val="3782103970"/>
              </p:ext>
            </p:extLst>
          </p:nvPr>
        </p:nvGraphicFramePr>
        <p:xfrm>
          <a:off x="609600" y="4597400"/>
          <a:ext cx="10972800" cy="1295400"/>
        </p:xfrm>
        <a:graphic>
          <a:graphicData uri="http://schemas.openxmlformats.org/drawingml/2006/table">
            <a:tbl>
              <a:tblPr firstRow="1" bandRow="1">
                <a:tableStyleId>{2D5ABB26-0587-4C30-8999-92F81FD0307C}</a:tableStyleId>
              </a:tblPr>
              <a:tblGrid>
                <a:gridCol w="3048000">
                  <a:extLst>
                    <a:ext uri="{9D8B030D-6E8A-4147-A177-3AD203B41FA5}">
                      <a16:colId xmlns:a16="http://schemas.microsoft.com/office/drawing/2014/main" val="2130286164"/>
                    </a:ext>
                  </a:extLst>
                </a:gridCol>
                <a:gridCol w="7924800">
                  <a:extLst>
                    <a:ext uri="{9D8B030D-6E8A-4147-A177-3AD203B41FA5}">
                      <a16:colId xmlns:a16="http://schemas.microsoft.com/office/drawing/2014/main" val="1244582090"/>
                    </a:ext>
                  </a:extLst>
                </a:gridCol>
              </a:tblGrid>
              <a:tr h="431800">
                <a:tc>
                  <a:txBody>
                    <a:bodyPr/>
                    <a:lstStyle/>
                    <a:p>
                      <a:r>
                        <a:rPr lang="en-IN" sz="1400" b="1">
                          <a:solidFill>
                            <a:srgbClr val="FFFFFF"/>
                          </a:solidFill>
                          <a:latin typeface="Calibri" panose="020F0502020204030204" pitchFamily="34" charset="0"/>
                        </a:rPr>
                        <a:t>Remote</a:t>
                      </a:r>
                    </a:p>
                  </a:txBody>
                  <a:tcPr marL="127000" anchor="ctr">
                    <a:solidFill>
                      <a:srgbClr val="12304D"/>
                    </a:solidFill>
                  </a:tcPr>
                </a:tc>
                <a:tc>
                  <a:txBody>
                    <a:bodyPr/>
                    <a:lstStyle/>
                    <a:p>
                      <a:r>
                        <a:rPr lang="en-IN" sz="1400" b="1">
                          <a:solidFill>
                            <a:srgbClr val="FFFFFF"/>
                          </a:solidFill>
                          <a:latin typeface="Calibri" panose="020F0502020204030204" pitchFamily="34" charset="0"/>
                        </a:rPr>
                        <a:t>URL</a:t>
                      </a:r>
                    </a:p>
                  </a:txBody>
                  <a:tcPr marL="127000" anchor="ctr">
                    <a:solidFill>
                      <a:srgbClr val="12304D"/>
                    </a:solidFill>
                  </a:tcPr>
                </a:tc>
                <a:extLst>
                  <a:ext uri="{0D108BD9-81ED-4DB2-BD59-A6C34878D82A}">
                    <a16:rowId xmlns:a16="http://schemas.microsoft.com/office/drawing/2014/main" val="1860011880"/>
                  </a:ext>
                </a:extLst>
              </a:tr>
              <a:tr h="431800">
                <a:tc>
                  <a:txBody>
                    <a:bodyPr/>
                    <a:lstStyle/>
                    <a:p>
                      <a:r>
                        <a:rPr lang="en-IN" sz="1400" b="0">
                          <a:solidFill>
                            <a:srgbClr val="0B1F33"/>
                          </a:solidFill>
                          <a:latin typeface="Calibri" panose="020F0502020204030204" pitchFamily="34" charset="0"/>
                        </a:rPr>
                        <a:t>origin (my fork)</a:t>
                      </a:r>
                    </a:p>
                  </a:txBody>
                  <a:tcPr marL="127000" anchor="ctr">
                    <a:solidFill>
                      <a:srgbClr val="F4F7FA"/>
                    </a:solidFill>
                  </a:tcPr>
                </a:tc>
                <a:tc>
                  <a:txBody>
                    <a:bodyPr/>
                    <a:lstStyle/>
                    <a:p>
                      <a:r>
                        <a:rPr lang="en-IN" sz="1400" b="0">
                          <a:solidFill>
                            <a:srgbClr val="0B1F33"/>
                          </a:solidFill>
                          <a:latin typeface="Calibri" panose="020F0502020204030204" pitchFamily="34" charset="0"/>
                        </a:rPr>
                        <a:t>github.com/MuchhalAkshita/gnuradio</a:t>
                      </a:r>
                    </a:p>
                  </a:txBody>
                  <a:tcPr marL="127000" anchor="ctr">
                    <a:solidFill>
                      <a:srgbClr val="F4F7FA"/>
                    </a:solidFill>
                  </a:tcPr>
                </a:tc>
                <a:extLst>
                  <a:ext uri="{0D108BD9-81ED-4DB2-BD59-A6C34878D82A}">
                    <a16:rowId xmlns:a16="http://schemas.microsoft.com/office/drawing/2014/main" val="1991508315"/>
                  </a:ext>
                </a:extLst>
              </a:tr>
              <a:tr h="431800">
                <a:tc>
                  <a:txBody>
                    <a:bodyPr/>
                    <a:lstStyle/>
                    <a:p>
                      <a:r>
                        <a:rPr lang="en-IN" sz="1400" b="0">
                          <a:solidFill>
                            <a:srgbClr val="0B1F33"/>
                          </a:solidFill>
                          <a:latin typeface="Calibri" panose="020F0502020204030204" pitchFamily="34" charset="0"/>
                        </a:rPr>
                        <a:t>upstream</a:t>
                      </a:r>
                    </a:p>
                  </a:txBody>
                  <a:tcPr marL="127000" anchor="ctr">
                    <a:solidFill>
                      <a:srgbClr val="FFFFFF"/>
                    </a:solidFill>
                  </a:tcPr>
                </a:tc>
                <a:tc>
                  <a:txBody>
                    <a:bodyPr/>
                    <a:lstStyle/>
                    <a:p>
                      <a:r>
                        <a:rPr lang="en-IN" sz="1400" b="0">
                          <a:solidFill>
                            <a:srgbClr val="0B1F33"/>
                          </a:solidFill>
                          <a:latin typeface="Calibri" panose="020F0502020204030204" pitchFamily="34" charset="0"/>
                        </a:rPr>
                        <a:t>github.com/gnuradio/gnuradio</a:t>
                      </a:r>
                    </a:p>
                  </a:txBody>
                  <a:tcPr marL="127000" anchor="ctr">
                    <a:solidFill>
                      <a:srgbClr val="FFFFFF"/>
                    </a:solidFill>
                  </a:tcPr>
                </a:tc>
                <a:extLst>
                  <a:ext uri="{0D108BD9-81ED-4DB2-BD59-A6C34878D82A}">
                    <a16:rowId xmlns:a16="http://schemas.microsoft.com/office/drawing/2014/main" val="3838115076"/>
                  </a:ext>
                </a:extLst>
              </a:tr>
            </a:tbl>
          </a:graphicData>
        </a:graphic>
      </p:graphicFrame>
      <p:sp>
        <p:nvSpPr>
          <p:cNvPr id="27" name="TextBox 26">
            <a:extLst>
              <a:ext uri="{FF2B5EF4-FFF2-40B4-BE49-F238E27FC236}">
                <a16:creationId xmlns:a16="http://schemas.microsoft.com/office/drawing/2014/main" id="{89CC61BD-49D2-7D12-1814-2234709C1FC3}"/>
              </a:ext>
            </a:extLst>
          </p:cNvPr>
          <p:cNvSpPr txBox="1"/>
          <p:nvPr/>
        </p:nvSpPr>
        <p:spPr>
          <a:xfrm>
            <a:off x="609600" y="6451600"/>
            <a:ext cx="7620000" cy="203200"/>
          </a:xfrm>
          <a:prstGeom prst="rect">
            <a:avLst/>
          </a:prstGeom>
          <a:noFill/>
        </p:spPr>
        <p:txBody>
          <a:bodyPr vert="horz" wrap="square" lIns="0" tIns="0" rIns="0" bIns="0" rtlCol="0" anchor="t">
            <a:noAutofit/>
          </a:bodyPr>
          <a:lstStyle/>
          <a:p>
            <a:r>
              <a:rPr lang="en-IN" sz="1100">
                <a:solidFill>
                  <a:srgbClr val="5B6B7B"/>
                </a:solidFill>
                <a:latin typeface="Calibri" panose="020F0502020204030204" pitchFamily="34" charset="0"/>
              </a:rPr>
              <a:t>Project g16  |  M2 report  |  GNU Radio Companion contribution</a:t>
            </a:r>
          </a:p>
        </p:txBody>
      </p:sp>
      <p:sp>
        <p:nvSpPr>
          <p:cNvPr id="28" name="TextBox 27">
            <a:extLst>
              <a:ext uri="{FF2B5EF4-FFF2-40B4-BE49-F238E27FC236}">
                <a16:creationId xmlns:a16="http://schemas.microsoft.com/office/drawing/2014/main" id="{909BD542-3E11-A4D1-C096-8056B0E5AD35}"/>
              </a:ext>
            </a:extLst>
          </p:cNvPr>
          <p:cNvSpPr txBox="1"/>
          <p:nvPr/>
        </p:nvSpPr>
        <p:spPr>
          <a:xfrm>
            <a:off x="10820400" y="6451600"/>
            <a:ext cx="762000" cy="203200"/>
          </a:xfrm>
          <a:prstGeom prst="rect">
            <a:avLst/>
          </a:prstGeom>
          <a:noFill/>
        </p:spPr>
        <p:txBody>
          <a:bodyPr vert="horz" wrap="square" lIns="0" tIns="0" rIns="0" bIns="0" rtlCol="0" anchor="t">
            <a:noAutofit/>
          </a:bodyPr>
          <a:lstStyle/>
          <a:p>
            <a:pPr algn="r"/>
            <a:r>
              <a:rPr lang="en-IN" sz="1100">
                <a:solidFill>
                  <a:srgbClr val="5B6B7B"/>
                </a:solidFill>
                <a:latin typeface="Calibri" panose="020F0502020204030204" pitchFamily="34" charset="0"/>
              </a:rPr>
              <a:t>12</a:t>
            </a:r>
          </a:p>
        </p:txBody>
      </p:sp>
    </p:spTree>
    <p:extLst>
      <p:ext uri="{BB962C8B-B14F-4D97-AF65-F5344CB8AC3E}">
        <p14:creationId xmlns:p14="http://schemas.microsoft.com/office/powerpoint/2010/main" val="5073686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FFE93-7A63-A490-E8DA-DA9B25D924D7}"/>
              </a:ext>
            </a:extLst>
          </p:cNvPr>
          <p:cNvSpPr>
            <a:spLocks noGrp="1"/>
          </p:cNvSpPr>
          <p:nvPr>
            <p:ph type="title"/>
          </p:nvPr>
        </p:nvSpPr>
        <p:spPr>
          <a:xfrm>
            <a:off x="609600" y="330200"/>
            <a:ext cx="10972800" cy="787400"/>
          </a:xfrm>
        </p:spPr>
        <p:txBody>
          <a:bodyPr lIns="0" anchor="ctr">
            <a:normAutofit/>
          </a:bodyPr>
          <a:lstStyle/>
          <a:p>
            <a:r>
              <a:rPr lang="en-US" sz="3400" b="1">
                <a:solidFill>
                  <a:srgbClr val="0B1F33"/>
                </a:solidFill>
                <a:latin typeface="Cambria" panose="02040503050406030204" pitchFamily="18" charset="0"/>
              </a:rPr>
              <a:t>What got in the way</a:t>
            </a:r>
            <a:endParaRPr lang="en-IN" sz="3400" b="1">
              <a:solidFill>
                <a:srgbClr val="0B1F33"/>
              </a:solidFill>
              <a:latin typeface="Cambria" panose="02040503050406030204" pitchFamily="18" charset="0"/>
            </a:endParaRPr>
          </a:p>
        </p:txBody>
      </p:sp>
      <p:sp>
        <p:nvSpPr>
          <p:cNvPr id="3" name="Rectangle: Rounded Corners 2">
            <a:extLst>
              <a:ext uri="{FF2B5EF4-FFF2-40B4-BE49-F238E27FC236}">
                <a16:creationId xmlns:a16="http://schemas.microsoft.com/office/drawing/2014/main" id="{945F316B-2254-D317-CE92-AD165B9EE14F}"/>
              </a:ext>
            </a:extLst>
          </p:cNvPr>
          <p:cNvSpPr/>
          <p:nvPr/>
        </p:nvSpPr>
        <p:spPr>
          <a:xfrm>
            <a:off x="609600" y="1320800"/>
            <a:ext cx="5384800" cy="2184400"/>
          </a:xfrm>
          <a:prstGeom prst="roundRect">
            <a:avLst>
              <a:gd name="adj" fmla="val 6000"/>
            </a:avLst>
          </a:prstGeom>
          <a:solidFill>
            <a:srgbClr val="F4F7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Oval 3">
            <a:extLst>
              <a:ext uri="{FF2B5EF4-FFF2-40B4-BE49-F238E27FC236}">
                <a16:creationId xmlns:a16="http://schemas.microsoft.com/office/drawing/2014/main" id="{4BEE8DA5-52E4-06B3-5199-9B78D323FC76}"/>
              </a:ext>
            </a:extLst>
          </p:cNvPr>
          <p:cNvSpPr/>
          <p:nvPr/>
        </p:nvSpPr>
        <p:spPr>
          <a:xfrm>
            <a:off x="838200" y="1524000"/>
            <a:ext cx="457200" cy="457200"/>
          </a:xfrm>
          <a:prstGeom prst="ellipse">
            <a:avLst/>
          </a:prstGeom>
          <a:solidFill>
            <a:srgbClr val="12304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600" b="1">
                <a:solidFill>
                  <a:srgbClr val="FFFFFF"/>
                </a:solidFill>
                <a:latin typeface="Cambria" panose="02040503050406030204" pitchFamily="18" charset="0"/>
              </a:rPr>
              <a:t>1</a:t>
            </a:r>
          </a:p>
        </p:txBody>
      </p:sp>
      <p:sp>
        <p:nvSpPr>
          <p:cNvPr id="5" name="TextBox 4">
            <a:extLst>
              <a:ext uri="{FF2B5EF4-FFF2-40B4-BE49-F238E27FC236}">
                <a16:creationId xmlns:a16="http://schemas.microsoft.com/office/drawing/2014/main" id="{C31750B8-2401-8300-09F9-6301474E82D9}"/>
              </a:ext>
            </a:extLst>
          </p:cNvPr>
          <p:cNvSpPr txBox="1"/>
          <p:nvPr/>
        </p:nvSpPr>
        <p:spPr>
          <a:xfrm>
            <a:off x="1473200" y="1574800"/>
            <a:ext cx="4318000" cy="355600"/>
          </a:xfrm>
          <a:prstGeom prst="rect">
            <a:avLst/>
          </a:prstGeom>
          <a:noFill/>
        </p:spPr>
        <p:txBody>
          <a:bodyPr vert="horz" wrap="square" lIns="0" tIns="0" rIns="0" bIns="0" rtlCol="0" anchor="t">
            <a:noAutofit/>
          </a:bodyPr>
          <a:lstStyle/>
          <a:p>
            <a:r>
              <a:rPr lang="en-US" b="1">
                <a:solidFill>
                  <a:srgbClr val="0B1F33"/>
                </a:solidFill>
                <a:latin typeface="Cambria" panose="02040503050406030204" pitchFamily="18" charset="0"/>
              </a:rPr>
              <a:t>Source tree or installed code?</a:t>
            </a:r>
            <a:endParaRPr lang="en-IN" b="1">
              <a:solidFill>
                <a:srgbClr val="0B1F33"/>
              </a:solidFill>
              <a:latin typeface="Cambria" panose="02040503050406030204" pitchFamily="18" charset="0"/>
            </a:endParaRPr>
          </a:p>
        </p:txBody>
      </p:sp>
      <p:sp>
        <p:nvSpPr>
          <p:cNvPr id="6" name="TextBox 5">
            <a:extLst>
              <a:ext uri="{FF2B5EF4-FFF2-40B4-BE49-F238E27FC236}">
                <a16:creationId xmlns:a16="http://schemas.microsoft.com/office/drawing/2014/main" id="{3508DDF2-0A50-0A00-7140-6B3686E1FAF3}"/>
              </a:ext>
            </a:extLst>
          </p:cNvPr>
          <p:cNvSpPr txBox="1"/>
          <p:nvPr/>
        </p:nvSpPr>
        <p:spPr>
          <a:xfrm>
            <a:off x="838200" y="2159000"/>
            <a:ext cx="4927600" cy="1270000"/>
          </a:xfrm>
          <a:prstGeom prst="rect">
            <a:avLst/>
          </a:prstGeom>
          <a:noFill/>
        </p:spPr>
        <p:txBody>
          <a:bodyPr vert="horz" wrap="square" lIns="0" tIns="0" rIns="0" bIns="0" rtlCol="0" anchor="t">
            <a:noAutofit/>
          </a:bodyPr>
          <a:lstStyle/>
          <a:p>
            <a:r>
              <a:rPr lang="en-US" sz="1500">
                <a:solidFill>
                  <a:srgbClr val="5B6B7B"/>
                </a:solidFill>
                <a:latin typeface="Calibri" panose="020F0502020204030204" pitchFamily="34" charset="0"/>
              </a:rPr>
              <a:t>The regular compiler reported 3.10.12.0 and used installed blocks. I loaded the source workflow and grc/blocks directly to test my change.</a:t>
            </a:r>
            <a:endParaRPr lang="en-IN" sz="1500">
              <a:solidFill>
                <a:srgbClr val="5B6B7B"/>
              </a:solidFill>
              <a:latin typeface="Calibri" panose="020F0502020204030204" pitchFamily="34" charset="0"/>
            </a:endParaRPr>
          </a:p>
        </p:txBody>
      </p:sp>
      <p:sp>
        <p:nvSpPr>
          <p:cNvPr id="7" name="Rectangle: Rounded Corners 6">
            <a:extLst>
              <a:ext uri="{FF2B5EF4-FFF2-40B4-BE49-F238E27FC236}">
                <a16:creationId xmlns:a16="http://schemas.microsoft.com/office/drawing/2014/main" id="{01677A8A-8982-5BC7-FD12-A69EC17DF9F6}"/>
              </a:ext>
            </a:extLst>
          </p:cNvPr>
          <p:cNvSpPr/>
          <p:nvPr/>
        </p:nvSpPr>
        <p:spPr>
          <a:xfrm>
            <a:off x="6197600" y="1320800"/>
            <a:ext cx="5384800" cy="2184400"/>
          </a:xfrm>
          <a:prstGeom prst="roundRect">
            <a:avLst>
              <a:gd name="adj" fmla="val 6000"/>
            </a:avLst>
          </a:prstGeom>
          <a:solidFill>
            <a:srgbClr val="F4F7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id="{15C82A22-A240-876B-F424-03983449E99C}"/>
              </a:ext>
            </a:extLst>
          </p:cNvPr>
          <p:cNvSpPr/>
          <p:nvPr/>
        </p:nvSpPr>
        <p:spPr>
          <a:xfrm>
            <a:off x="6426200" y="1524000"/>
            <a:ext cx="457200" cy="457200"/>
          </a:xfrm>
          <a:prstGeom prst="ellipse">
            <a:avLst/>
          </a:prstGeom>
          <a:solidFill>
            <a:srgbClr val="12304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600" b="1">
                <a:solidFill>
                  <a:srgbClr val="FFFFFF"/>
                </a:solidFill>
                <a:latin typeface="Cambria" panose="02040503050406030204" pitchFamily="18" charset="0"/>
              </a:rPr>
              <a:t>2</a:t>
            </a:r>
          </a:p>
        </p:txBody>
      </p:sp>
      <p:sp>
        <p:nvSpPr>
          <p:cNvPr id="9" name="TextBox 8">
            <a:extLst>
              <a:ext uri="{FF2B5EF4-FFF2-40B4-BE49-F238E27FC236}">
                <a16:creationId xmlns:a16="http://schemas.microsoft.com/office/drawing/2014/main" id="{A3FBB6C3-92F2-48DB-AD24-71B26D4F6A80}"/>
              </a:ext>
            </a:extLst>
          </p:cNvPr>
          <p:cNvSpPr txBox="1"/>
          <p:nvPr/>
        </p:nvSpPr>
        <p:spPr>
          <a:xfrm>
            <a:off x="7061200" y="1574800"/>
            <a:ext cx="4318000" cy="355600"/>
          </a:xfrm>
          <a:prstGeom prst="rect">
            <a:avLst/>
          </a:prstGeom>
          <a:noFill/>
        </p:spPr>
        <p:txBody>
          <a:bodyPr vert="horz" wrap="square" lIns="0" tIns="0" rIns="0" bIns="0" rtlCol="0" anchor="t">
            <a:noAutofit/>
          </a:bodyPr>
          <a:lstStyle/>
          <a:p>
            <a:r>
              <a:rPr lang="en-IN" b="1">
                <a:solidFill>
                  <a:srgbClr val="0B1F33"/>
                </a:solidFill>
                <a:latin typeface="Cambria" panose="02040503050406030204" pitchFamily="18" charset="0"/>
              </a:rPr>
              <a:t>No pytest</a:t>
            </a:r>
          </a:p>
        </p:txBody>
      </p:sp>
      <p:sp>
        <p:nvSpPr>
          <p:cNvPr id="10" name="TextBox 9">
            <a:extLst>
              <a:ext uri="{FF2B5EF4-FFF2-40B4-BE49-F238E27FC236}">
                <a16:creationId xmlns:a16="http://schemas.microsoft.com/office/drawing/2014/main" id="{1FC963E1-774A-D90C-EB33-34CEAC4275AE}"/>
              </a:ext>
            </a:extLst>
          </p:cNvPr>
          <p:cNvSpPr txBox="1"/>
          <p:nvPr/>
        </p:nvSpPr>
        <p:spPr>
          <a:xfrm>
            <a:off x="6426200" y="2159000"/>
            <a:ext cx="4927600" cy="1270000"/>
          </a:xfrm>
          <a:prstGeom prst="rect">
            <a:avLst/>
          </a:prstGeom>
          <a:noFill/>
        </p:spPr>
        <p:txBody>
          <a:bodyPr vert="horz" wrap="square" lIns="0" tIns="0" rIns="0" bIns="0" rtlCol="0" anchor="t">
            <a:noAutofit/>
          </a:bodyPr>
          <a:lstStyle/>
          <a:p>
            <a:r>
              <a:rPr lang="en-US" sz="1500">
                <a:solidFill>
                  <a:srgbClr val="5B6B7B"/>
                </a:solidFill>
                <a:latin typeface="Calibri" panose="020F0502020204030204" pitchFamily="34" charset="0"/>
              </a:rPr>
              <a:t>python3 -m pytest grc/tests failed with "No module named pytest", so I tested with a generated flowgraph instead.</a:t>
            </a:r>
            <a:endParaRPr lang="en-IN" sz="1500">
              <a:solidFill>
                <a:srgbClr val="5B6B7B"/>
              </a:solidFill>
              <a:latin typeface="Calibri" panose="020F0502020204030204" pitchFamily="34" charset="0"/>
            </a:endParaRPr>
          </a:p>
        </p:txBody>
      </p:sp>
      <p:sp>
        <p:nvSpPr>
          <p:cNvPr id="11" name="Rectangle: Rounded Corners 10">
            <a:extLst>
              <a:ext uri="{FF2B5EF4-FFF2-40B4-BE49-F238E27FC236}">
                <a16:creationId xmlns:a16="http://schemas.microsoft.com/office/drawing/2014/main" id="{8734A0FF-E887-7FD0-3249-0E9545CC126F}"/>
              </a:ext>
            </a:extLst>
          </p:cNvPr>
          <p:cNvSpPr/>
          <p:nvPr/>
        </p:nvSpPr>
        <p:spPr>
          <a:xfrm>
            <a:off x="609600" y="3733800"/>
            <a:ext cx="5384800" cy="2184400"/>
          </a:xfrm>
          <a:prstGeom prst="roundRect">
            <a:avLst>
              <a:gd name="adj" fmla="val 6000"/>
            </a:avLst>
          </a:prstGeom>
          <a:solidFill>
            <a:srgbClr val="F4F7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val 11">
            <a:extLst>
              <a:ext uri="{FF2B5EF4-FFF2-40B4-BE49-F238E27FC236}">
                <a16:creationId xmlns:a16="http://schemas.microsoft.com/office/drawing/2014/main" id="{2AE2FC88-6A8C-8BA2-A322-D35EE203AF68}"/>
              </a:ext>
            </a:extLst>
          </p:cNvPr>
          <p:cNvSpPr/>
          <p:nvPr/>
        </p:nvSpPr>
        <p:spPr>
          <a:xfrm>
            <a:off x="838200" y="3937000"/>
            <a:ext cx="457200" cy="457200"/>
          </a:xfrm>
          <a:prstGeom prst="ellipse">
            <a:avLst/>
          </a:prstGeom>
          <a:solidFill>
            <a:srgbClr val="12304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600" b="1">
                <a:solidFill>
                  <a:srgbClr val="FFFFFF"/>
                </a:solidFill>
                <a:latin typeface="Cambria" panose="02040503050406030204" pitchFamily="18" charset="0"/>
              </a:rPr>
              <a:t>3</a:t>
            </a:r>
          </a:p>
        </p:txBody>
      </p:sp>
      <p:sp>
        <p:nvSpPr>
          <p:cNvPr id="13" name="TextBox 12">
            <a:extLst>
              <a:ext uri="{FF2B5EF4-FFF2-40B4-BE49-F238E27FC236}">
                <a16:creationId xmlns:a16="http://schemas.microsoft.com/office/drawing/2014/main" id="{8AAF57B5-4FAB-16AB-2E21-C1874144F163}"/>
              </a:ext>
            </a:extLst>
          </p:cNvPr>
          <p:cNvSpPr txBox="1"/>
          <p:nvPr/>
        </p:nvSpPr>
        <p:spPr>
          <a:xfrm>
            <a:off x="1473200" y="3987800"/>
            <a:ext cx="4318000" cy="355600"/>
          </a:xfrm>
          <a:prstGeom prst="rect">
            <a:avLst/>
          </a:prstGeom>
          <a:noFill/>
        </p:spPr>
        <p:txBody>
          <a:bodyPr vert="horz" wrap="square" lIns="0" tIns="0" rIns="0" bIns="0" rtlCol="0" anchor="t">
            <a:noAutofit/>
          </a:bodyPr>
          <a:lstStyle/>
          <a:p>
            <a:r>
              <a:rPr lang="en-IN" b="1">
                <a:solidFill>
                  <a:srgbClr val="0B1F33"/>
                </a:solidFill>
                <a:latin typeface="Cambria" panose="02040503050406030204" pitchFamily="18" charset="0"/>
              </a:rPr>
              <a:t>Silent password prompt</a:t>
            </a:r>
          </a:p>
        </p:txBody>
      </p:sp>
      <p:sp>
        <p:nvSpPr>
          <p:cNvPr id="14" name="TextBox 13">
            <a:extLst>
              <a:ext uri="{FF2B5EF4-FFF2-40B4-BE49-F238E27FC236}">
                <a16:creationId xmlns:a16="http://schemas.microsoft.com/office/drawing/2014/main" id="{C7172A72-7BDD-FBF7-C182-868629BCAD96}"/>
              </a:ext>
            </a:extLst>
          </p:cNvPr>
          <p:cNvSpPr txBox="1"/>
          <p:nvPr/>
        </p:nvSpPr>
        <p:spPr>
          <a:xfrm>
            <a:off x="838200" y="4572000"/>
            <a:ext cx="4927600" cy="1270000"/>
          </a:xfrm>
          <a:prstGeom prst="rect">
            <a:avLst/>
          </a:prstGeom>
          <a:noFill/>
        </p:spPr>
        <p:txBody>
          <a:bodyPr vert="horz" wrap="square" lIns="0" tIns="0" rIns="0" bIns="0" rtlCol="0" anchor="t">
            <a:noAutofit/>
          </a:bodyPr>
          <a:lstStyle/>
          <a:p>
            <a:r>
              <a:rPr lang="en-US" sz="1500">
                <a:solidFill>
                  <a:srgbClr val="5B6B7B"/>
                </a:solidFill>
                <a:latin typeface="Calibri" panose="020F0502020204030204" pitchFamily="34" charset="0"/>
              </a:rPr>
              <a:t>The terminal shows no characters while typing a password. GitHub HTTPS also needs a personal access token, not the account password.</a:t>
            </a:r>
            <a:endParaRPr lang="en-IN" sz="1500">
              <a:solidFill>
                <a:srgbClr val="5B6B7B"/>
              </a:solidFill>
              <a:latin typeface="Calibri" panose="020F0502020204030204" pitchFamily="34" charset="0"/>
            </a:endParaRPr>
          </a:p>
        </p:txBody>
      </p:sp>
      <p:sp>
        <p:nvSpPr>
          <p:cNvPr id="15" name="Rectangle: Rounded Corners 14">
            <a:extLst>
              <a:ext uri="{FF2B5EF4-FFF2-40B4-BE49-F238E27FC236}">
                <a16:creationId xmlns:a16="http://schemas.microsoft.com/office/drawing/2014/main" id="{EFDA4454-D13D-9E68-CFA3-9A2B1EFB1E52}"/>
              </a:ext>
            </a:extLst>
          </p:cNvPr>
          <p:cNvSpPr/>
          <p:nvPr/>
        </p:nvSpPr>
        <p:spPr>
          <a:xfrm>
            <a:off x="6197600" y="3733800"/>
            <a:ext cx="5384800" cy="2184400"/>
          </a:xfrm>
          <a:prstGeom prst="roundRect">
            <a:avLst>
              <a:gd name="adj" fmla="val 6000"/>
            </a:avLst>
          </a:prstGeom>
          <a:solidFill>
            <a:srgbClr val="F4F7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Oval 15">
            <a:extLst>
              <a:ext uri="{FF2B5EF4-FFF2-40B4-BE49-F238E27FC236}">
                <a16:creationId xmlns:a16="http://schemas.microsoft.com/office/drawing/2014/main" id="{D245D162-3231-BA49-09B7-DD74FFFE58D8}"/>
              </a:ext>
            </a:extLst>
          </p:cNvPr>
          <p:cNvSpPr/>
          <p:nvPr/>
        </p:nvSpPr>
        <p:spPr>
          <a:xfrm>
            <a:off x="6426200" y="3937000"/>
            <a:ext cx="457200" cy="457200"/>
          </a:xfrm>
          <a:prstGeom prst="ellipse">
            <a:avLst/>
          </a:prstGeom>
          <a:solidFill>
            <a:srgbClr val="12304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600" b="1">
                <a:solidFill>
                  <a:srgbClr val="FFFFFF"/>
                </a:solidFill>
                <a:latin typeface="Cambria" panose="02040503050406030204" pitchFamily="18" charset="0"/>
              </a:rPr>
              <a:t>4</a:t>
            </a:r>
          </a:p>
        </p:txBody>
      </p:sp>
      <p:sp>
        <p:nvSpPr>
          <p:cNvPr id="17" name="TextBox 16">
            <a:extLst>
              <a:ext uri="{FF2B5EF4-FFF2-40B4-BE49-F238E27FC236}">
                <a16:creationId xmlns:a16="http://schemas.microsoft.com/office/drawing/2014/main" id="{1799D1CD-AD73-ABC6-0BC5-B1932BC753F2}"/>
              </a:ext>
            </a:extLst>
          </p:cNvPr>
          <p:cNvSpPr txBox="1"/>
          <p:nvPr/>
        </p:nvSpPr>
        <p:spPr>
          <a:xfrm>
            <a:off x="7061200" y="3987800"/>
            <a:ext cx="4318000" cy="355600"/>
          </a:xfrm>
          <a:prstGeom prst="rect">
            <a:avLst/>
          </a:prstGeom>
          <a:noFill/>
        </p:spPr>
        <p:txBody>
          <a:bodyPr vert="horz" wrap="square" lIns="0" tIns="0" rIns="0" bIns="0" rtlCol="0" anchor="t">
            <a:noAutofit/>
          </a:bodyPr>
          <a:lstStyle/>
          <a:p>
            <a:r>
              <a:rPr lang="en-IN" b="1">
                <a:solidFill>
                  <a:srgbClr val="0B1F33"/>
                </a:solidFill>
                <a:latin typeface="Cambria" panose="02040503050406030204" pitchFamily="18" charset="0"/>
              </a:rPr>
              <a:t>Network failure on push</a:t>
            </a:r>
          </a:p>
        </p:txBody>
      </p:sp>
      <p:sp>
        <p:nvSpPr>
          <p:cNvPr id="18" name="TextBox 17">
            <a:extLst>
              <a:ext uri="{FF2B5EF4-FFF2-40B4-BE49-F238E27FC236}">
                <a16:creationId xmlns:a16="http://schemas.microsoft.com/office/drawing/2014/main" id="{93106082-BBE4-B2AE-1D42-8A43D8B25932}"/>
              </a:ext>
            </a:extLst>
          </p:cNvPr>
          <p:cNvSpPr txBox="1"/>
          <p:nvPr/>
        </p:nvSpPr>
        <p:spPr>
          <a:xfrm>
            <a:off x="6426200" y="4572000"/>
            <a:ext cx="4927600" cy="1270000"/>
          </a:xfrm>
          <a:prstGeom prst="rect">
            <a:avLst/>
          </a:prstGeom>
          <a:noFill/>
        </p:spPr>
        <p:txBody>
          <a:bodyPr vert="horz" wrap="square" lIns="0" tIns="0" rIns="0" bIns="0" rtlCol="0" anchor="t">
            <a:noAutofit/>
          </a:bodyPr>
          <a:lstStyle/>
          <a:p>
            <a:r>
              <a:rPr lang="en-US" sz="1500">
                <a:solidFill>
                  <a:srgbClr val="5B6B7B"/>
                </a:solidFill>
                <a:latin typeface="Calibri" panose="020F0502020204030204" pitchFamily="34" charset="0"/>
              </a:rPr>
              <a:t>The first push failed with "Could not resolve host: github.com". A later attempt worked without recreating the commit.</a:t>
            </a:r>
            <a:endParaRPr lang="en-IN" sz="1500">
              <a:solidFill>
                <a:srgbClr val="5B6B7B"/>
              </a:solidFill>
              <a:latin typeface="Calibri" panose="020F0502020204030204" pitchFamily="34" charset="0"/>
            </a:endParaRPr>
          </a:p>
        </p:txBody>
      </p:sp>
      <p:sp>
        <p:nvSpPr>
          <p:cNvPr id="19" name="TextBox 18">
            <a:extLst>
              <a:ext uri="{FF2B5EF4-FFF2-40B4-BE49-F238E27FC236}">
                <a16:creationId xmlns:a16="http://schemas.microsoft.com/office/drawing/2014/main" id="{7CC6D4FC-D9FA-0A07-7E7B-AD3EF9BB98A7}"/>
              </a:ext>
            </a:extLst>
          </p:cNvPr>
          <p:cNvSpPr txBox="1"/>
          <p:nvPr/>
        </p:nvSpPr>
        <p:spPr>
          <a:xfrm>
            <a:off x="609600" y="6451600"/>
            <a:ext cx="7620000" cy="203200"/>
          </a:xfrm>
          <a:prstGeom prst="rect">
            <a:avLst/>
          </a:prstGeom>
          <a:noFill/>
        </p:spPr>
        <p:txBody>
          <a:bodyPr vert="horz" wrap="square" lIns="0" tIns="0" rIns="0" bIns="0" rtlCol="0" anchor="t">
            <a:noAutofit/>
          </a:bodyPr>
          <a:lstStyle/>
          <a:p>
            <a:r>
              <a:rPr lang="en-IN" sz="1100">
                <a:solidFill>
                  <a:srgbClr val="5B6B7B"/>
                </a:solidFill>
                <a:latin typeface="Calibri" panose="020F0502020204030204" pitchFamily="34" charset="0"/>
              </a:rPr>
              <a:t>Project g16  |  M2 report  |  GNU Radio Companion contribution</a:t>
            </a:r>
          </a:p>
        </p:txBody>
      </p:sp>
      <p:sp>
        <p:nvSpPr>
          <p:cNvPr id="20" name="TextBox 19">
            <a:extLst>
              <a:ext uri="{FF2B5EF4-FFF2-40B4-BE49-F238E27FC236}">
                <a16:creationId xmlns:a16="http://schemas.microsoft.com/office/drawing/2014/main" id="{D785D4DE-098F-547C-C467-AB5E52B03FE1}"/>
              </a:ext>
            </a:extLst>
          </p:cNvPr>
          <p:cNvSpPr txBox="1"/>
          <p:nvPr/>
        </p:nvSpPr>
        <p:spPr>
          <a:xfrm>
            <a:off x="10820400" y="6451600"/>
            <a:ext cx="762000" cy="203200"/>
          </a:xfrm>
          <a:prstGeom prst="rect">
            <a:avLst/>
          </a:prstGeom>
          <a:noFill/>
        </p:spPr>
        <p:txBody>
          <a:bodyPr vert="horz" wrap="square" lIns="0" tIns="0" rIns="0" bIns="0" rtlCol="0" anchor="t">
            <a:noAutofit/>
          </a:bodyPr>
          <a:lstStyle/>
          <a:p>
            <a:pPr algn="r"/>
            <a:r>
              <a:rPr lang="en-IN" sz="1100">
                <a:solidFill>
                  <a:srgbClr val="5B6B7B"/>
                </a:solidFill>
                <a:latin typeface="Calibri" panose="020F0502020204030204" pitchFamily="34" charset="0"/>
              </a:rPr>
              <a:t>13</a:t>
            </a:r>
          </a:p>
        </p:txBody>
      </p:sp>
    </p:spTree>
    <p:extLst>
      <p:ext uri="{BB962C8B-B14F-4D97-AF65-F5344CB8AC3E}">
        <p14:creationId xmlns:p14="http://schemas.microsoft.com/office/powerpoint/2010/main" val="26317234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FB1EF-183D-473A-34B4-8A7879013AEF}"/>
              </a:ext>
            </a:extLst>
          </p:cNvPr>
          <p:cNvSpPr>
            <a:spLocks noGrp="1"/>
          </p:cNvSpPr>
          <p:nvPr>
            <p:ph type="title"/>
          </p:nvPr>
        </p:nvSpPr>
        <p:spPr>
          <a:xfrm>
            <a:off x="609600" y="330200"/>
            <a:ext cx="10972800" cy="787400"/>
          </a:xfrm>
        </p:spPr>
        <p:txBody>
          <a:bodyPr lIns="0" anchor="ctr">
            <a:normAutofit/>
          </a:bodyPr>
          <a:lstStyle/>
          <a:p>
            <a:r>
              <a:rPr lang="en-US" sz="3400" b="1">
                <a:solidFill>
                  <a:srgbClr val="0B1F33"/>
                </a:solidFill>
                <a:latin typeface="Cambria" panose="02040503050406030204" pitchFamily="18" charset="0"/>
              </a:rPr>
              <a:t>Why the change matters, and the response so far</a:t>
            </a:r>
            <a:endParaRPr lang="en-IN" sz="3400" b="1">
              <a:solidFill>
                <a:srgbClr val="0B1F33"/>
              </a:solidFill>
              <a:latin typeface="Cambria" panose="02040503050406030204" pitchFamily="18" charset="0"/>
            </a:endParaRPr>
          </a:p>
        </p:txBody>
      </p:sp>
      <p:sp>
        <p:nvSpPr>
          <p:cNvPr id="3" name="Rectangle: Rounded Corners 2">
            <a:extLst>
              <a:ext uri="{FF2B5EF4-FFF2-40B4-BE49-F238E27FC236}">
                <a16:creationId xmlns:a16="http://schemas.microsoft.com/office/drawing/2014/main" id="{8A82C916-1AC6-3E24-E3E2-01380F1F1993}"/>
              </a:ext>
            </a:extLst>
          </p:cNvPr>
          <p:cNvSpPr/>
          <p:nvPr/>
        </p:nvSpPr>
        <p:spPr>
          <a:xfrm>
            <a:off x="609600" y="1270000"/>
            <a:ext cx="6604000" cy="4826000"/>
          </a:xfrm>
          <a:prstGeom prst="roundRect">
            <a:avLst>
              <a:gd name="adj" fmla="val 6000"/>
            </a:avLst>
          </a:prstGeom>
          <a:solidFill>
            <a:srgbClr val="F4F7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F15DFD7D-5D41-2DB6-5CEB-7EC427CD5DB3}"/>
              </a:ext>
            </a:extLst>
          </p:cNvPr>
          <p:cNvSpPr txBox="1"/>
          <p:nvPr/>
        </p:nvSpPr>
        <p:spPr>
          <a:xfrm>
            <a:off x="889000" y="1447800"/>
            <a:ext cx="6096000" cy="330200"/>
          </a:xfrm>
          <a:prstGeom prst="rect">
            <a:avLst/>
          </a:prstGeom>
          <a:noFill/>
        </p:spPr>
        <p:txBody>
          <a:bodyPr vert="horz" wrap="square" lIns="0" tIns="0" rIns="0" bIns="0" rtlCol="0" anchor="t">
            <a:noAutofit/>
          </a:bodyPr>
          <a:lstStyle/>
          <a:p>
            <a:r>
              <a:rPr lang="en-US" sz="2000" b="1">
                <a:solidFill>
                  <a:srgbClr val="0B1F33"/>
                </a:solidFill>
                <a:latin typeface="Cambria" panose="02040503050406030204" pitchFamily="18" charset="0"/>
              </a:rPr>
              <a:t>Why it is technically meaningful</a:t>
            </a:r>
            <a:endParaRPr lang="en-IN" sz="2000" b="1">
              <a:solidFill>
                <a:srgbClr val="0B1F33"/>
              </a:solidFill>
              <a:latin typeface="Cambria" panose="02040503050406030204" pitchFamily="18" charset="0"/>
            </a:endParaRPr>
          </a:p>
        </p:txBody>
      </p:sp>
      <p:sp>
        <p:nvSpPr>
          <p:cNvPr id="5" name="TextBox 4">
            <a:extLst>
              <a:ext uri="{FF2B5EF4-FFF2-40B4-BE49-F238E27FC236}">
                <a16:creationId xmlns:a16="http://schemas.microsoft.com/office/drawing/2014/main" id="{705D91BF-7231-03C4-532E-31AB1F0F87B8}"/>
              </a:ext>
            </a:extLst>
          </p:cNvPr>
          <p:cNvSpPr txBox="1"/>
          <p:nvPr/>
        </p:nvSpPr>
        <p:spPr>
          <a:xfrm>
            <a:off x="889000" y="1930400"/>
            <a:ext cx="6045200" cy="4064000"/>
          </a:xfrm>
          <a:prstGeom prst="rect">
            <a:avLst/>
          </a:prstGeom>
          <a:noFill/>
        </p:spPr>
        <p:txBody>
          <a:bodyPr vert="horz" wrap="square" lIns="0" tIns="0" rIns="0" bIns="0" rtlCol="0" anchor="t">
            <a:noAutofit/>
          </a:bodyPr>
          <a:lstStyle/>
          <a:p>
            <a:pPr marL="203200" indent="-203200">
              <a:spcAft>
                <a:spcPts val="800"/>
              </a:spcAft>
              <a:buClr>
                <a:srgbClr val="0E7C70"/>
              </a:buClr>
              <a:buFont typeface="+mj-lt"/>
              <a:buChar char="•"/>
            </a:pPr>
            <a:r>
              <a:rPr lang="en-US">
                <a:solidFill>
                  <a:srgbClr val="0B1F33"/>
                </a:solidFill>
                <a:latin typeface="Calibri" panose="020F0502020204030204" pitchFamily="34" charset="0"/>
              </a:rPr>
              <a:t>A flowgraph can refuse to start without an input it cannot guess, instead of quietly using a default.</a:t>
            </a:r>
          </a:p>
          <a:p>
            <a:pPr marL="203200" indent="-203200">
              <a:spcAft>
                <a:spcPts val="800"/>
              </a:spcAft>
              <a:buClr>
                <a:srgbClr val="0E7C70"/>
              </a:buClr>
              <a:buFont typeface="+mj-lt"/>
              <a:buChar char="•"/>
            </a:pPr>
            <a:r>
              <a:rPr lang="en-US">
                <a:solidFill>
                  <a:srgbClr val="0B1F33"/>
                </a:solidFill>
                <a:latin typeface="Calibri" panose="020F0502020204030204" pitchFamily="34" charset="0"/>
              </a:rPr>
              <a:t>The YAML field alone does nothing. The templates must read it, so the fix sits in the code generator.</a:t>
            </a:r>
          </a:p>
          <a:p>
            <a:pPr marL="203200" indent="-203200">
              <a:spcAft>
                <a:spcPts val="800"/>
              </a:spcAft>
              <a:buClr>
                <a:srgbClr val="0E7C70"/>
              </a:buClr>
              <a:buFont typeface="+mj-lt"/>
              <a:buChar char="•"/>
            </a:pPr>
            <a:r>
              <a:rPr lang="en-US">
                <a:solidFill>
                  <a:srgbClr val="0B1F33"/>
                </a:solidFill>
                <a:latin typeface="Calibri" panose="020F0502020204030204" pitchFamily="34" charset="0"/>
              </a:rPr>
              <a:t>All three Python workflows get the same rule.</a:t>
            </a:r>
          </a:p>
          <a:p>
            <a:pPr marL="203200" indent="-203200">
              <a:spcAft>
                <a:spcPts val="800"/>
              </a:spcAft>
              <a:buClr>
                <a:srgbClr val="0E7C70"/>
              </a:buClr>
              <a:buFont typeface="+mj-lt"/>
              <a:buChar char="•"/>
            </a:pPr>
            <a:r>
              <a:rPr lang="en-US">
                <a:solidFill>
                  <a:srgbClr val="0B1F33"/>
                </a:solidFill>
                <a:latin typeface="Calibri" panose="020F0502020204030204" pitchFamily="34" charset="0"/>
              </a:rPr>
              <a:t>The default is Optional, so existing flowgraphs behave as before.</a:t>
            </a:r>
            <a:endParaRPr lang="en-IN">
              <a:solidFill>
                <a:srgbClr val="0B1F33"/>
              </a:solidFill>
              <a:latin typeface="Calibri" panose="020F0502020204030204" pitchFamily="34" charset="0"/>
            </a:endParaRPr>
          </a:p>
        </p:txBody>
      </p:sp>
      <p:sp>
        <p:nvSpPr>
          <p:cNvPr id="6" name="Rectangle: Rounded Corners 5">
            <a:extLst>
              <a:ext uri="{FF2B5EF4-FFF2-40B4-BE49-F238E27FC236}">
                <a16:creationId xmlns:a16="http://schemas.microsoft.com/office/drawing/2014/main" id="{05D3E1BA-0E54-D23B-64D0-A98B0052BEBE}"/>
              </a:ext>
            </a:extLst>
          </p:cNvPr>
          <p:cNvSpPr/>
          <p:nvPr/>
        </p:nvSpPr>
        <p:spPr>
          <a:xfrm>
            <a:off x="7467600" y="1270000"/>
            <a:ext cx="4114800" cy="4826000"/>
          </a:xfrm>
          <a:prstGeom prst="roundRect">
            <a:avLst>
              <a:gd name="adj" fmla="val 6000"/>
            </a:avLst>
          </a:prstGeom>
          <a:solidFill>
            <a:srgbClr val="12304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CDDE296F-4048-6ED4-7C54-A42AE1F3161C}"/>
              </a:ext>
            </a:extLst>
          </p:cNvPr>
          <p:cNvSpPr txBox="1"/>
          <p:nvPr/>
        </p:nvSpPr>
        <p:spPr>
          <a:xfrm>
            <a:off x="7721600" y="1447800"/>
            <a:ext cx="3606800" cy="330200"/>
          </a:xfrm>
          <a:prstGeom prst="rect">
            <a:avLst/>
          </a:prstGeom>
          <a:noFill/>
        </p:spPr>
        <p:txBody>
          <a:bodyPr vert="horz" wrap="square" lIns="0" tIns="0" rIns="0" bIns="0" rtlCol="0" anchor="t">
            <a:noAutofit/>
          </a:bodyPr>
          <a:lstStyle/>
          <a:p>
            <a:r>
              <a:rPr lang="en-IN" sz="2000" b="1">
                <a:solidFill>
                  <a:srgbClr val="FFFFFF"/>
                </a:solidFill>
                <a:latin typeface="Cambria" panose="02040503050406030204" pitchFamily="18" charset="0"/>
              </a:rPr>
              <a:t>Maintainer and community</a:t>
            </a:r>
          </a:p>
        </p:txBody>
      </p:sp>
      <p:sp>
        <p:nvSpPr>
          <p:cNvPr id="8" name="TextBox 7">
            <a:extLst>
              <a:ext uri="{FF2B5EF4-FFF2-40B4-BE49-F238E27FC236}">
                <a16:creationId xmlns:a16="http://schemas.microsoft.com/office/drawing/2014/main" id="{10B42B8E-364B-F9BC-EAD2-5F788345DB18}"/>
              </a:ext>
            </a:extLst>
          </p:cNvPr>
          <p:cNvSpPr txBox="1"/>
          <p:nvPr/>
        </p:nvSpPr>
        <p:spPr>
          <a:xfrm>
            <a:off x="7721600" y="1930400"/>
            <a:ext cx="3606800" cy="2667000"/>
          </a:xfrm>
          <a:prstGeom prst="rect">
            <a:avLst/>
          </a:prstGeom>
          <a:noFill/>
        </p:spPr>
        <p:txBody>
          <a:bodyPr vert="horz" wrap="square" lIns="0" tIns="0" rIns="0" bIns="0" rtlCol="0" anchor="t">
            <a:noAutofit/>
          </a:bodyPr>
          <a:lstStyle/>
          <a:p>
            <a:r>
              <a:rPr lang="en-US" sz="1600">
                <a:solidFill>
                  <a:srgbClr val="E2E8F0"/>
                </a:solidFill>
                <a:latin typeface="Calibri" panose="020F0502020204030204" pitchFamily="34" charset="0"/>
              </a:rPr>
              <a:t>PR #8233 is submitted to gnuradio/gnuradio and linked to issue #5096.</a:t>
            </a:r>
          </a:p>
          <a:p>
            <a:endParaRPr lang="en-US" sz="1600">
              <a:solidFill>
                <a:srgbClr val="E2E8F0"/>
              </a:solidFill>
              <a:latin typeface="Calibri" panose="020F0502020204030204" pitchFamily="34" charset="0"/>
            </a:endParaRPr>
          </a:p>
          <a:p>
            <a:r>
              <a:rPr lang="en-US" sz="1600">
                <a:solidFill>
                  <a:srgbClr val="E2E8F0"/>
                </a:solidFill>
                <a:latin typeface="Calibri" panose="020F0502020204030204" pitchFamily="34" charset="0"/>
              </a:rPr>
              <a:t>Review comments, CI results and merge status have not been checked yet.</a:t>
            </a:r>
            <a:endParaRPr lang="en-IN" sz="1600">
              <a:solidFill>
                <a:srgbClr val="E2E8F0"/>
              </a:solidFill>
              <a:latin typeface="Calibri" panose="020F0502020204030204" pitchFamily="34" charset="0"/>
            </a:endParaRPr>
          </a:p>
        </p:txBody>
      </p:sp>
      <p:sp>
        <p:nvSpPr>
          <p:cNvPr id="9" name="Rectangle: Rounded Corners 8">
            <a:extLst>
              <a:ext uri="{FF2B5EF4-FFF2-40B4-BE49-F238E27FC236}">
                <a16:creationId xmlns:a16="http://schemas.microsoft.com/office/drawing/2014/main" id="{609EAA2E-6CCF-5EC8-4BB7-D23604F44B5A}"/>
              </a:ext>
            </a:extLst>
          </p:cNvPr>
          <p:cNvSpPr/>
          <p:nvPr/>
        </p:nvSpPr>
        <p:spPr>
          <a:xfrm>
            <a:off x="7721600" y="5207000"/>
            <a:ext cx="1905000" cy="381000"/>
          </a:xfrm>
          <a:prstGeom prst="roundRect">
            <a:avLst>
              <a:gd name="adj" fmla="val 50000"/>
            </a:avLst>
          </a:prstGeom>
          <a:solidFill>
            <a:srgbClr val="F5A5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0" rIns="50800" bIns="0" rtlCol="0" anchor="ctr"/>
          <a:lstStyle/>
          <a:p>
            <a:pPr algn="ctr"/>
            <a:r>
              <a:rPr lang="en-IN" sz="1300" b="1">
                <a:solidFill>
                  <a:srgbClr val="0B1F33"/>
                </a:solidFill>
                <a:latin typeface="Calibri" panose="020F0502020204030204" pitchFamily="34" charset="0"/>
              </a:rPr>
              <a:t>Status: to verify</a:t>
            </a:r>
          </a:p>
        </p:txBody>
      </p:sp>
      <p:sp>
        <p:nvSpPr>
          <p:cNvPr id="10" name="TextBox 9">
            <a:extLst>
              <a:ext uri="{FF2B5EF4-FFF2-40B4-BE49-F238E27FC236}">
                <a16:creationId xmlns:a16="http://schemas.microsoft.com/office/drawing/2014/main" id="{A2960BD8-ACC3-2CB2-EEB9-6EF879607014}"/>
              </a:ext>
            </a:extLst>
          </p:cNvPr>
          <p:cNvSpPr txBox="1"/>
          <p:nvPr/>
        </p:nvSpPr>
        <p:spPr>
          <a:xfrm>
            <a:off x="609600" y="6451600"/>
            <a:ext cx="7620000" cy="203200"/>
          </a:xfrm>
          <a:prstGeom prst="rect">
            <a:avLst/>
          </a:prstGeom>
          <a:noFill/>
        </p:spPr>
        <p:txBody>
          <a:bodyPr vert="horz" wrap="square" lIns="0" tIns="0" rIns="0" bIns="0" rtlCol="0" anchor="t">
            <a:noAutofit/>
          </a:bodyPr>
          <a:lstStyle/>
          <a:p>
            <a:r>
              <a:rPr lang="en-IN" sz="1100">
                <a:solidFill>
                  <a:srgbClr val="5B6B7B"/>
                </a:solidFill>
                <a:latin typeface="Calibri" panose="020F0502020204030204" pitchFamily="34" charset="0"/>
              </a:rPr>
              <a:t>Project g16  |  M2 report  |  GNU Radio Companion contribution</a:t>
            </a:r>
          </a:p>
        </p:txBody>
      </p:sp>
      <p:sp>
        <p:nvSpPr>
          <p:cNvPr id="11" name="TextBox 10">
            <a:extLst>
              <a:ext uri="{FF2B5EF4-FFF2-40B4-BE49-F238E27FC236}">
                <a16:creationId xmlns:a16="http://schemas.microsoft.com/office/drawing/2014/main" id="{AB5B348F-198D-5D64-8F5F-A70514678E1E}"/>
              </a:ext>
            </a:extLst>
          </p:cNvPr>
          <p:cNvSpPr txBox="1"/>
          <p:nvPr/>
        </p:nvSpPr>
        <p:spPr>
          <a:xfrm>
            <a:off x="10820400" y="6451600"/>
            <a:ext cx="762000" cy="203200"/>
          </a:xfrm>
          <a:prstGeom prst="rect">
            <a:avLst/>
          </a:prstGeom>
          <a:noFill/>
        </p:spPr>
        <p:txBody>
          <a:bodyPr vert="horz" wrap="square" lIns="0" tIns="0" rIns="0" bIns="0" rtlCol="0" anchor="t">
            <a:noAutofit/>
          </a:bodyPr>
          <a:lstStyle/>
          <a:p>
            <a:pPr algn="r"/>
            <a:r>
              <a:rPr lang="en-IN" sz="1100">
                <a:solidFill>
                  <a:srgbClr val="5B6B7B"/>
                </a:solidFill>
                <a:latin typeface="Calibri" panose="020F0502020204030204" pitchFamily="34" charset="0"/>
              </a:rPr>
              <a:t>14</a:t>
            </a:r>
          </a:p>
        </p:txBody>
      </p:sp>
    </p:spTree>
    <p:extLst>
      <p:ext uri="{BB962C8B-B14F-4D97-AF65-F5344CB8AC3E}">
        <p14:creationId xmlns:p14="http://schemas.microsoft.com/office/powerpoint/2010/main" val="22639561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C7FE5-8A6F-2B0D-C8F6-B9C0CB7FDB37}"/>
              </a:ext>
            </a:extLst>
          </p:cNvPr>
          <p:cNvSpPr>
            <a:spLocks noGrp="1"/>
          </p:cNvSpPr>
          <p:nvPr>
            <p:ph type="title"/>
          </p:nvPr>
        </p:nvSpPr>
        <p:spPr>
          <a:xfrm>
            <a:off x="609600" y="330200"/>
            <a:ext cx="10972800" cy="787400"/>
          </a:xfrm>
        </p:spPr>
        <p:txBody>
          <a:bodyPr lIns="0" anchor="ctr">
            <a:normAutofit/>
          </a:bodyPr>
          <a:lstStyle/>
          <a:p>
            <a:r>
              <a:rPr lang="en-US" sz="3400" b="1">
                <a:solidFill>
                  <a:srgbClr val="0B1F33"/>
                </a:solidFill>
                <a:latin typeface="Cambria" panose="02040503050406030204" pitchFamily="18" charset="0"/>
              </a:rPr>
              <a:t>SOTA positioning: the ISAC gap is still open</a:t>
            </a:r>
            <a:endParaRPr lang="en-IN" sz="3400" b="1">
              <a:solidFill>
                <a:srgbClr val="0B1F33"/>
              </a:solidFill>
              <a:latin typeface="Cambria" panose="02040503050406030204" pitchFamily="18" charset="0"/>
            </a:endParaRPr>
          </a:p>
        </p:txBody>
      </p:sp>
      <p:graphicFrame>
        <p:nvGraphicFramePr>
          <p:cNvPr id="3" name="Table 2">
            <a:extLst>
              <a:ext uri="{FF2B5EF4-FFF2-40B4-BE49-F238E27FC236}">
                <a16:creationId xmlns:a16="http://schemas.microsoft.com/office/drawing/2014/main" id="{0FCDED15-E83A-235A-2B21-17955F06A46E}"/>
              </a:ext>
            </a:extLst>
          </p:cNvPr>
          <p:cNvGraphicFramePr>
            <a:graphicFrameLocks noGrp="1"/>
          </p:cNvGraphicFramePr>
          <p:nvPr>
            <p:extLst>
              <p:ext uri="{D42A27DB-BD31-4B8C-83A1-F6EECF244321}">
                <p14:modId xmlns:p14="http://schemas.microsoft.com/office/powerpoint/2010/main" val="2257627027"/>
              </p:ext>
            </p:extLst>
          </p:nvPr>
        </p:nvGraphicFramePr>
        <p:xfrm>
          <a:off x="609600" y="1244600"/>
          <a:ext cx="10972800" cy="3810000"/>
        </p:xfrm>
        <a:graphic>
          <a:graphicData uri="http://schemas.openxmlformats.org/drawingml/2006/table">
            <a:tbl>
              <a:tblPr firstRow="1" bandRow="1">
                <a:tableStyleId>{2D5ABB26-0587-4C30-8999-92F81FD0307C}</a:tableStyleId>
              </a:tblPr>
              <a:tblGrid>
                <a:gridCol w="3175000">
                  <a:extLst>
                    <a:ext uri="{9D8B030D-6E8A-4147-A177-3AD203B41FA5}">
                      <a16:colId xmlns:a16="http://schemas.microsoft.com/office/drawing/2014/main" val="542825306"/>
                    </a:ext>
                  </a:extLst>
                </a:gridCol>
                <a:gridCol w="1270000">
                  <a:extLst>
                    <a:ext uri="{9D8B030D-6E8A-4147-A177-3AD203B41FA5}">
                      <a16:colId xmlns:a16="http://schemas.microsoft.com/office/drawing/2014/main" val="3986428287"/>
                    </a:ext>
                  </a:extLst>
                </a:gridCol>
                <a:gridCol w="1397000">
                  <a:extLst>
                    <a:ext uri="{9D8B030D-6E8A-4147-A177-3AD203B41FA5}">
                      <a16:colId xmlns:a16="http://schemas.microsoft.com/office/drawing/2014/main" val="2689867769"/>
                    </a:ext>
                  </a:extLst>
                </a:gridCol>
                <a:gridCol w="1905000">
                  <a:extLst>
                    <a:ext uri="{9D8B030D-6E8A-4147-A177-3AD203B41FA5}">
                      <a16:colId xmlns:a16="http://schemas.microsoft.com/office/drawing/2014/main" val="1731936613"/>
                    </a:ext>
                  </a:extLst>
                </a:gridCol>
                <a:gridCol w="1651000">
                  <a:extLst>
                    <a:ext uri="{9D8B030D-6E8A-4147-A177-3AD203B41FA5}">
                      <a16:colId xmlns:a16="http://schemas.microsoft.com/office/drawing/2014/main" val="627954006"/>
                    </a:ext>
                  </a:extLst>
                </a:gridCol>
                <a:gridCol w="1574800">
                  <a:extLst>
                    <a:ext uri="{9D8B030D-6E8A-4147-A177-3AD203B41FA5}">
                      <a16:colId xmlns:a16="http://schemas.microsoft.com/office/drawing/2014/main" val="1041390626"/>
                    </a:ext>
                  </a:extLst>
                </a:gridCol>
              </a:tblGrid>
              <a:tr h="381000">
                <a:tc>
                  <a:txBody>
                    <a:bodyPr/>
                    <a:lstStyle/>
                    <a:p>
                      <a:r>
                        <a:rPr lang="en-IN" sz="1300" b="1">
                          <a:solidFill>
                            <a:srgbClr val="FFFFFF"/>
                          </a:solidFill>
                          <a:latin typeface="Calibri" panose="020F0502020204030204" pitchFamily="34" charset="0"/>
                        </a:rPr>
                        <a:t>Work</a:t>
                      </a:r>
                    </a:p>
                  </a:txBody>
                  <a:tcPr marL="127000" anchor="ctr">
                    <a:solidFill>
                      <a:srgbClr val="12304D"/>
                    </a:solidFill>
                  </a:tcPr>
                </a:tc>
                <a:tc>
                  <a:txBody>
                    <a:bodyPr/>
                    <a:lstStyle/>
                    <a:p>
                      <a:r>
                        <a:rPr lang="en-IN" sz="1300" b="1">
                          <a:solidFill>
                            <a:srgbClr val="FFFFFF"/>
                          </a:solidFill>
                          <a:latin typeface="Calibri" panose="020F0502020204030204" pitchFamily="34" charset="0"/>
                        </a:rPr>
                        <a:t>OFDM</a:t>
                      </a:r>
                    </a:p>
                  </a:txBody>
                  <a:tcPr marL="127000" anchor="ctr">
                    <a:solidFill>
                      <a:srgbClr val="12304D"/>
                    </a:solidFill>
                  </a:tcPr>
                </a:tc>
                <a:tc>
                  <a:txBody>
                    <a:bodyPr/>
                    <a:lstStyle/>
                    <a:p>
                      <a:r>
                        <a:rPr lang="en-IN" sz="1300" b="1">
                          <a:solidFill>
                            <a:srgbClr val="FFFFFF"/>
                          </a:solidFill>
                          <a:latin typeface="Calibri" panose="020F0502020204030204" pitchFamily="34" charset="0"/>
                        </a:rPr>
                        <a:t>GNU Radio</a:t>
                      </a:r>
                    </a:p>
                  </a:txBody>
                  <a:tcPr marL="127000" anchor="ctr">
                    <a:solidFill>
                      <a:srgbClr val="12304D"/>
                    </a:solidFill>
                  </a:tcPr>
                </a:tc>
                <a:tc>
                  <a:txBody>
                    <a:bodyPr/>
                    <a:lstStyle/>
                    <a:p>
                      <a:r>
                        <a:rPr lang="en-IN" sz="1300" b="1">
                          <a:solidFill>
                            <a:srgbClr val="FFFFFF"/>
                          </a:solidFill>
                          <a:latin typeface="Calibri" panose="020F0502020204030204" pitchFamily="34" charset="0"/>
                        </a:rPr>
                        <a:t>Sync/CFO robustness</a:t>
                      </a:r>
                    </a:p>
                  </a:txBody>
                  <a:tcPr marL="127000" anchor="ctr">
                    <a:solidFill>
                      <a:srgbClr val="12304D"/>
                    </a:solidFill>
                  </a:tcPr>
                </a:tc>
                <a:tc>
                  <a:txBody>
                    <a:bodyPr/>
                    <a:lstStyle/>
                    <a:p>
                      <a:r>
                        <a:rPr lang="en-IN" sz="1300" b="1">
                          <a:solidFill>
                            <a:srgbClr val="FFFFFF"/>
                          </a:solidFill>
                          <a:latin typeface="Calibri" panose="020F0502020204030204" pitchFamily="34" charset="0"/>
                        </a:rPr>
                        <a:t>Radar range</a:t>
                      </a:r>
                    </a:p>
                  </a:txBody>
                  <a:tcPr marL="127000" anchor="ctr">
                    <a:solidFill>
                      <a:srgbClr val="12304D"/>
                    </a:solidFill>
                  </a:tcPr>
                </a:tc>
                <a:tc>
                  <a:txBody>
                    <a:bodyPr/>
                    <a:lstStyle/>
                    <a:p>
                      <a:r>
                        <a:rPr lang="en-IN" sz="1300" b="1">
                          <a:solidFill>
                            <a:srgbClr val="FFFFFF"/>
                          </a:solidFill>
                          <a:latin typeface="Calibri" panose="020F0502020204030204" pitchFamily="34" charset="0"/>
                        </a:rPr>
                        <a:t>Joint eval</a:t>
                      </a:r>
                    </a:p>
                  </a:txBody>
                  <a:tcPr marL="127000" anchor="ctr">
                    <a:solidFill>
                      <a:srgbClr val="12304D"/>
                    </a:solidFill>
                  </a:tcPr>
                </a:tc>
                <a:extLst>
                  <a:ext uri="{0D108BD9-81ED-4DB2-BD59-A6C34878D82A}">
                    <a16:rowId xmlns:a16="http://schemas.microsoft.com/office/drawing/2014/main" val="1131645281"/>
                  </a:ext>
                </a:extLst>
              </a:tr>
              <a:tr h="381000">
                <a:tc>
                  <a:txBody>
                    <a:bodyPr/>
                    <a:lstStyle/>
                    <a:p>
                      <a:r>
                        <a:rPr lang="en-IN" sz="1300" b="0">
                          <a:solidFill>
                            <a:srgbClr val="0B1F33"/>
                          </a:solidFill>
                          <a:latin typeface="Calibri" panose="020F0502020204030204" pitchFamily="34" charset="0"/>
                        </a:rPr>
                        <a:t>Sturm &amp; Wiesbeck (2011)</a:t>
                      </a:r>
                    </a:p>
                  </a:txBody>
                  <a:tcPr marL="127000" anchor="ctr">
                    <a:solidFill>
                      <a:srgbClr val="F4F7FA"/>
                    </a:solidFill>
                  </a:tcPr>
                </a:tc>
                <a:tc>
                  <a:txBody>
                    <a:bodyPr/>
                    <a:lstStyle/>
                    <a:p>
                      <a:r>
                        <a:rPr lang="en-IN" sz="1300" b="0">
                          <a:solidFill>
                            <a:srgbClr val="0B1F33"/>
                          </a:solidFill>
                          <a:latin typeface="Calibri" panose="020F0502020204030204" pitchFamily="34" charset="0"/>
                        </a:rPr>
                        <a:t>Yes</a:t>
                      </a:r>
                    </a:p>
                  </a:txBody>
                  <a:tcPr marL="127000" anchor="ctr">
                    <a:solidFill>
                      <a:srgbClr val="F4F7FA"/>
                    </a:solidFill>
                  </a:tcPr>
                </a:tc>
                <a:tc>
                  <a:txBody>
                    <a:bodyPr/>
                    <a:lstStyle/>
                    <a:p>
                      <a:r>
                        <a:rPr lang="en-IN" sz="1300" b="0">
                          <a:solidFill>
                            <a:srgbClr val="0B1F33"/>
                          </a:solidFill>
                          <a:latin typeface="Calibri" panose="020F0502020204030204" pitchFamily="34" charset="0"/>
                        </a:rPr>
                        <a:t>No</a:t>
                      </a:r>
                    </a:p>
                  </a:txBody>
                  <a:tcPr marL="127000" anchor="ctr">
                    <a:solidFill>
                      <a:srgbClr val="F4F7FA"/>
                    </a:solidFill>
                  </a:tcPr>
                </a:tc>
                <a:tc>
                  <a:txBody>
                    <a:bodyPr/>
                    <a:lstStyle/>
                    <a:p>
                      <a:r>
                        <a:rPr lang="en-IN" sz="1300" b="0">
                          <a:solidFill>
                            <a:srgbClr val="0B1F33"/>
                          </a:solidFill>
                          <a:latin typeface="Calibri" panose="020F0502020204030204" pitchFamily="34" charset="0"/>
                        </a:rPr>
                        <a:t>No</a:t>
                      </a:r>
                    </a:p>
                  </a:txBody>
                  <a:tcPr marL="127000" anchor="ctr">
                    <a:solidFill>
                      <a:srgbClr val="F4F7FA"/>
                    </a:solidFill>
                  </a:tcPr>
                </a:tc>
                <a:tc>
                  <a:txBody>
                    <a:bodyPr/>
                    <a:lstStyle/>
                    <a:p>
                      <a:r>
                        <a:rPr lang="en-IN" sz="1300" b="0">
                          <a:solidFill>
                            <a:srgbClr val="0B1F33"/>
                          </a:solidFill>
                          <a:latin typeface="Calibri" panose="020F0502020204030204" pitchFamily="34" charset="0"/>
                        </a:rPr>
                        <a:t>Yes</a:t>
                      </a:r>
                    </a:p>
                  </a:txBody>
                  <a:tcPr marL="127000" anchor="ctr">
                    <a:solidFill>
                      <a:srgbClr val="F4F7FA"/>
                    </a:solidFill>
                  </a:tcPr>
                </a:tc>
                <a:tc>
                  <a:txBody>
                    <a:bodyPr/>
                    <a:lstStyle/>
                    <a:p>
                      <a:r>
                        <a:rPr lang="en-IN" sz="1300" b="0">
                          <a:solidFill>
                            <a:srgbClr val="0B1F33"/>
                          </a:solidFill>
                          <a:latin typeface="Calibri" panose="020F0502020204030204" pitchFamily="34" charset="0"/>
                        </a:rPr>
                        <a:t>No</a:t>
                      </a:r>
                    </a:p>
                  </a:txBody>
                  <a:tcPr marL="127000" anchor="ctr">
                    <a:solidFill>
                      <a:srgbClr val="F4F7FA"/>
                    </a:solidFill>
                  </a:tcPr>
                </a:tc>
                <a:extLst>
                  <a:ext uri="{0D108BD9-81ED-4DB2-BD59-A6C34878D82A}">
                    <a16:rowId xmlns:a16="http://schemas.microsoft.com/office/drawing/2014/main" val="3569276948"/>
                  </a:ext>
                </a:extLst>
              </a:tr>
              <a:tr h="381000">
                <a:tc>
                  <a:txBody>
                    <a:bodyPr/>
                    <a:lstStyle/>
                    <a:p>
                      <a:r>
                        <a:rPr lang="en-IN" sz="1300" b="0">
                          <a:solidFill>
                            <a:srgbClr val="0B1F33"/>
                          </a:solidFill>
                          <a:latin typeface="Calibri" panose="020F0502020204030204" pitchFamily="34" charset="0"/>
                        </a:rPr>
                        <a:t>Liu et al. (2020)</a:t>
                      </a:r>
                    </a:p>
                  </a:txBody>
                  <a:tcPr marL="127000" anchor="ctr">
                    <a:solidFill>
                      <a:srgbClr val="FFFFFF"/>
                    </a:solidFill>
                  </a:tcPr>
                </a:tc>
                <a:tc>
                  <a:txBody>
                    <a:bodyPr/>
                    <a:lstStyle/>
                    <a:p>
                      <a:r>
                        <a:rPr lang="en-IN" sz="1300" b="0">
                          <a:solidFill>
                            <a:srgbClr val="0B1F33"/>
                          </a:solidFill>
                          <a:latin typeface="Calibri" panose="020F0502020204030204" pitchFamily="34" charset="0"/>
                        </a:rPr>
                        <a:t>Survey</a:t>
                      </a:r>
                    </a:p>
                  </a:txBody>
                  <a:tcPr marL="127000" anchor="ctr">
                    <a:solidFill>
                      <a:srgbClr val="FFFFFF"/>
                    </a:solidFill>
                  </a:tcPr>
                </a:tc>
                <a:tc>
                  <a:txBody>
                    <a:bodyPr/>
                    <a:lstStyle/>
                    <a:p>
                      <a:r>
                        <a:rPr lang="en-IN" sz="1300" b="0">
                          <a:solidFill>
                            <a:srgbClr val="0B1F33"/>
                          </a:solidFill>
                          <a:latin typeface="Calibri" panose="020F0502020204030204" pitchFamily="34" charset="0"/>
                        </a:rPr>
                        <a:t>No</a:t>
                      </a:r>
                    </a:p>
                  </a:txBody>
                  <a:tcPr marL="127000" anchor="ctr">
                    <a:solidFill>
                      <a:srgbClr val="FFFFFF"/>
                    </a:solidFill>
                  </a:tcPr>
                </a:tc>
                <a:tc>
                  <a:txBody>
                    <a:bodyPr/>
                    <a:lstStyle/>
                    <a:p>
                      <a:r>
                        <a:rPr lang="en-IN" sz="1300" b="0">
                          <a:solidFill>
                            <a:srgbClr val="0B1F33"/>
                          </a:solidFill>
                          <a:latin typeface="Calibri" panose="020F0502020204030204" pitchFamily="34" charset="0"/>
                        </a:rPr>
                        <a:t>No</a:t>
                      </a:r>
                    </a:p>
                  </a:txBody>
                  <a:tcPr marL="127000" anchor="ctr">
                    <a:solidFill>
                      <a:srgbClr val="FFFFFF"/>
                    </a:solidFill>
                  </a:tcPr>
                </a:tc>
                <a:tc>
                  <a:txBody>
                    <a:bodyPr/>
                    <a:lstStyle/>
                    <a:p>
                      <a:r>
                        <a:rPr lang="en-IN" sz="1300" b="0">
                          <a:solidFill>
                            <a:srgbClr val="0B1F33"/>
                          </a:solidFill>
                          <a:latin typeface="Calibri" panose="020F0502020204030204" pitchFamily="34" charset="0"/>
                        </a:rPr>
                        <a:t>Survey</a:t>
                      </a:r>
                    </a:p>
                  </a:txBody>
                  <a:tcPr marL="127000" anchor="ctr">
                    <a:solidFill>
                      <a:srgbClr val="FFFFFF"/>
                    </a:solidFill>
                  </a:tcPr>
                </a:tc>
                <a:tc>
                  <a:txBody>
                    <a:bodyPr/>
                    <a:lstStyle/>
                    <a:p>
                      <a:r>
                        <a:rPr lang="en-IN" sz="1300" b="0">
                          <a:solidFill>
                            <a:srgbClr val="0B1F33"/>
                          </a:solidFill>
                          <a:latin typeface="Calibri" panose="020F0502020204030204" pitchFamily="34" charset="0"/>
                        </a:rPr>
                        <a:t>No</a:t>
                      </a:r>
                    </a:p>
                  </a:txBody>
                  <a:tcPr marL="127000" anchor="ctr">
                    <a:solidFill>
                      <a:srgbClr val="FFFFFF"/>
                    </a:solidFill>
                  </a:tcPr>
                </a:tc>
                <a:extLst>
                  <a:ext uri="{0D108BD9-81ED-4DB2-BD59-A6C34878D82A}">
                    <a16:rowId xmlns:a16="http://schemas.microsoft.com/office/drawing/2014/main" val="1591302590"/>
                  </a:ext>
                </a:extLst>
              </a:tr>
              <a:tr h="381000">
                <a:tc>
                  <a:txBody>
                    <a:bodyPr/>
                    <a:lstStyle/>
                    <a:p>
                      <a:r>
                        <a:rPr lang="en-IN" sz="1300" b="0">
                          <a:solidFill>
                            <a:srgbClr val="0B1F33"/>
                          </a:solidFill>
                          <a:latin typeface="Calibri" panose="020F0502020204030204" pitchFamily="34" charset="0"/>
                        </a:rPr>
                        <a:t>Liu et al. (2022)</a:t>
                      </a:r>
                    </a:p>
                  </a:txBody>
                  <a:tcPr marL="127000" anchor="ctr">
                    <a:solidFill>
                      <a:srgbClr val="F4F7FA"/>
                    </a:solidFill>
                  </a:tcPr>
                </a:tc>
                <a:tc>
                  <a:txBody>
                    <a:bodyPr/>
                    <a:lstStyle/>
                    <a:p>
                      <a:r>
                        <a:rPr lang="en-IN" sz="1300" b="0">
                          <a:solidFill>
                            <a:srgbClr val="0B1F33"/>
                          </a:solidFill>
                          <a:latin typeface="Calibri" panose="020F0502020204030204" pitchFamily="34" charset="0"/>
                        </a:rPr>
                        <a:t>Survey</a:t>
                      </a:r>
                    </a:p>
                  </a:txBody>
                  <a:tcPr marL="127000" anchor="ctr">
                    <a:solidFill>
                      <a:srgbClr val="F4F7FA"/>
                    </a:solidFill>
                  </a:tcPr>
                </a:tc>
                <a:tc>
                  <a:txBody>
                    <a:bodyPr/>
                    <a:lstStyle/>
                    <a:p>
                      <a:r>
                        <a:rPr lang="en-IN" sz="1300" b="0">
                          <a:solidFill>
                            <a:srgbClr val="0B1F33"/>
                          </a:solidFill>
                          <a:latin typeface="Calibri" panose="020F0502020204030204" pitchFamily="34" charset="0"/>
                        </a:rPr>
                        <a:t>No</a:t>
                      </a:r>
                    </a:p>
                  </a:txBody>
                  <a:tcPr marL="127000" anchor="ctr">
                    <a:solidFill>
                      <a:srgbClr val="F4F7FA"/>
                    </a:solidFill>
                  </a:tcPr>
                </a:tc>
                <a:tc>
                  <a:txBody>
                    <a:bodyPr/>
                    <a:lstStyle/>
                    <a:p>
                      <a:r>
                        <a:rPr lang="en-IN" sz="1300" b="0">
                          <a:solidFill>
                            <a:srgbClr val="0B1F33"/>
                          </a:solidFill>
                          <a:latin typeface="Calibri" panose="020F0502020204030204" pitchFamily="34" charset="0"/>
                        </a:rPr>
                        <a:t>No</a:t>
                      </a:r>
                    </a:p>
                  </a:txBody>
                  <a:tcPr marL="127000" anchor="ctr">
                    <a:solidFill>
                      <a:srgbClr val="F4F7FA"/>
                    </a:solidFill>
                  </a:tcPr>
                </a:tc>
                <a:tc>
                  <a:txBody>
                    <a:bodyPr/>
                    <a:lstStyle/>
                    <a:p>
                      <a:r>
                        <a:rPr lang="en-IN" sz="1300" b="0">
                          <a:solidFill>
                            <a:srgbClr val="0B1F33"/>
                          </a:solidFill>
                          <a:latin typeface="Calibri" panose="020F0502020204030204" pitchFamily="34" charset="0"/>
                        </a:rPr>
                        <a:t>Survey</a:t>
                      </a:r>
                    </a:p>
                  </a:txBody>
                  <a:tcPr marL="127000" anchor="ctr">
                    <a:solidFill>
                      <a:srgbClr val="F4F7FA"/>
                    </a:solidFill>
                  </a:tcPr>
                </a:tc>
                <a:tc>
                  <a:txBody>
                    <a:bodyPr/>
                    <a:lstStyle/>
                    <a:p>
                      <a:r>
                        <a:rPr lang="en-IN" sz="1300" b="0">
                          <a:solidFill>
                            <a:srgbClr val="0B1F33"/>
                          </a:solidFill>
                          <a:latin typeface="Calibri" panose="020F0502020204030204" pitchFamily="34" charset="0"/>
                        </a:rPr>
                        <a:t>No</a:t>
                      </a:r>
                    </a:p>
                  </a:txBody>
                  <a:tcPr marL="127000" anchor="ctr">
                    <a:solidFill>
                      <a:srgbClr val="F4F7FA"/>
                    </a:solidFill>
                  </a:tcPr>
                </a:tc>
                <a:extLst>
                  <a:ext uri="{0D108BD9-81ED-4DB2-BD59-A6C34878D82A}">
                    <a16:rowId xmlns:a16="http://schemas.microsoft.com/office/drawing/2014/main" val="2066939360"/>
                  </a:ext>
                </a:extLst>
              </a:tr>
              <a:tr h="381000">
                <a:tc>
                  <a:txBody>
                    <a:bodyPr/>
                    <a:lstStyle/>
                    <a:p>
                      <a:r>
                        <a:rPr lang="en-IN" sz="1300" b="0">
                          <a:solidFill>
                            <a:srgbClr val="0B1F33"/>
                          </a:solidFill>
                          <a:latin typeface="Calibri" panose="020F0502020204030204" pitchFamily="34" charset="0"/>
                        </a:rPr>
                        <a:t>Dai et al. (2025)</a:t>
                      </a:r>
                    </a:p>
                  </a:txBody>
                  <a:tcPr marL="127000" anchor="ctr">
                    <a:solidFill>
                      <a:srgbClr val="FFFFFF"/>
                    </a:solidFill>
                  </a:tcPr>
                </a:tc>
                <a:tc>
                  <a:txBody>
                    <a:bodyPr/>
                    <a:lstStyle/>
                    <a:p>
                      <a:r>
                        <a:rPr lang="en-IN" sz="1300" b="0">
                          <a:solidFill>
                            <a:srgbClr val="0B1F33"/>
                          </a:solidFill>
                          <a:latin typeface="Calibri" panose="020F0502020204030204" pitchFamily="34" charset="0"/>
                        </a:rPr>
                        <a:t>Yes</a:t>
                      </a:r>
                    </a:p>
                  </a:txBody>
                  <a:tcPr marL="127000" anchor="ctr">
                    <a:solidFill>
                      <a:srgbClr val="FFFFFF"/>
                    </a:solidFill>
                  </a:tcPr>
                </a:tc>
                <a:tc>
                  <a:txBody>
                    <a:bodyPr/>
                    <a:lstStyle/>
                    <a:p>
                      <a:r>
                        <a:rPr lang="en-IN" sz="1300" b="0">
                          <a:solidFill>
                            <a:srgbClr val="0B1F33"/>
                          </a:solidFill>
                          <a:latin typeface="Calibri" panose="020F0502020204030204" pitchFamily="34" charset="0"/>
                        </a:rPr>
                        <a:t>No</a:t>
                      </a:r>
                    </a:p>
                  </a:txBody>
                  <a:tcPr marL="127000" anchor="ctr">
                    <a:solidFill>
                      <a:srgbClr val="FFFFFF"/>
                    </a:solidFill>
                  </a:tcPr>
                </a:tc>
                <a:tc>
                  <a:txBody>
                    <a:bodyPr/>
                    <a:lstStyle/>
                    <a:p>
                      <a:r>
                        <a:rPr lang="en-IN" sz="1300" b="0">
                          <a:solidFill>
                            <a:srgbClr val="0B1F33"/>
                          </a:solidFill>
                          <a:latin typeface="Calibri" panose="020F0502020204030204" pitchFamily="34" charset="0"/>
                        </a:rPr>
                        <a:t>No</a:t>
                      </a:r>
                    </a:p>
                  </a:txBody>
                  <a:tcPr marL="127000" anchor="ctr">
                    <a:solidFill>
                      <a:srgbClr val="FFFFFF"/>
                    </a:solidFill>
                  </a:tcPr>
                </a:tc>
                <a:tc>
                  <a:txBody>
                    <a:bodyPr/>
                    <a:lstStyle/>
                    <a:p>
                      <a:r>
                        <a:rPr lang="en-IN" sz="1300" b="0">
                          <a:solidFill>
                            <a:srgbClr val="0B1F33"/>
                          </a:solidFill>
                          <a:latin typeface="Calibri" panose="020F0502020204030204" pitchFamily="34" charset="0"/>
                        </a:rPr>
                        <a:t>Yes</a:t>
                      </a:r>
                    </a:p>
                  </a:txBody>
                  <a:tcPr marL="127000" anchor="ctr">
                    <a:solidFill>
                      <a:srgbClr val="FFFFFF"/>
                    </a:solidFill>
                  </a:tcPr>
                </a:tc>
                <a:tc>
                  <a:txBody>
                    <a:bodyPr/>
                    <a:lstStyle/>
                    <a:p>
                      <a:r>
                        <a:rPr lang="en-IN" sz="1300" b="0">
                          <a:solidFill>
                            <a:srgbClr val="0B1F33"/>
                          </a:solidFill>
                          <a:latin typeface="Calibri" panose="020F0502020204030204" pitchFamily="34" charset="0"/>
                        </a:rPr>
                        <a:t>Partial</a:t>
                      </a:r>
                    </a:p>
                  </a:txBody>
                  <a:tcPr marL="127000" anchor="ctr">
                    <a:solidFill>
                      <a:srgbClr val="FFFFFF"/>
                    </a:solidFill>
                  </a:tcPr>
                </a:tc>
                <a:extLst>
                  <a:ext uri="{0D108BD9-81ED-4DB2-BD59-A6C34878D82A}">
                    <a16:rowId xmlns:a16="http://schemas.microsoft.com/office/drawing/2014/main" val="1021971787"/>
                  </a:ext>
                </a:extLst>
              </a:tr>
              <a:tr h="381000">
                <a:tc>
                  <a:txBody>
                    <a:bodyPr/>
                    <a:lstStyle/>
                    <a:p>
                      <a:r>
                        <a:rPr lang="en-IN" sz="1300" b="0">
                          <a:solidFill>
                            <a:srgbClr val="0B1F33"/>
                          </a:solidFill>
                          <a:latin typeface="Calibri" panose="020F0502020204030204" pitchFamily="34" charset="0"/>
                        </a:rPr>
                        <a:t>Vaezi et al. (2026)</a:t>
                      </a:r>
                    </a:p>
                  </a:txBody>
                  <a:tcPr marL="127000" anchor="ctr">
                    <a:solidFill>
                      <a:srgbClr val="F4F7FA"/>
                    </a:solidFill>
                  </a:tcPr>
                </a:tc>
                <a:tc>
                  <a:txBody>
                    <a:bodyPr/>
                    <a:lstStyle/>
                    <a:p>
                      <a:r>
                        <a:rPr lang="en-IN" sz="1300" b="0">
                          <a:solidFill>
                            <a:srgbClr val="0B1F33"/>
                          </a:solidFill>
                          <a:latin typeface="Calibri" panose="020F0502020204030204" pitchFamily="34" charset="0"/>
                        </a:rPr>
                        <a:t>Partial</a:t>
                      </a:r>
                    </a:p>
                  </a:txBody>
                  <a:tcPr marL="127000" anchor="ctr">
                    <a:solidFill>
                      <a:srgbClr val="F4F7FA"/>
                    </a:solidFill>
                  </a:tcPr>
                </a:tc>
                <a:tc>
                  <a:txBody>
                    <a:bodyPr/>
                    <a:lstStyle/>
                    <a:p>
                      <a:r>
                        <a:rPr lang="en-IN" sz="1300" b="0">
                          <a:solidFill>
                            <a:srgbClr val="0B1F33"/>
                          </a:solidFill>
                          <a:latin typeface="Calibri" panose="020F0502020204030204" pitchFamily="34" charset="0"/>
                        </a:rPr>
                        <a:t>No</a:t>
                      </a:r>
                    </a:p>
                  </a:txBody>
                  <a:tcPr marL="127000" anchor="ctr">
                    <a:solidFill>
                      <a:srgbClr val="F4F7FA"/>
                    </a:solidFill>
                  </a:tcPr>
                </a:tc>
                <a:tc>
                  <a:txBody>
                    <a:bodyPr/>
                    <a:lstStyle/>
                    <a:p>
                      <a:r>
                        <a:rPr lang="en-IN" sz="1300" b="0">
                          <a:solidFill>
                            <a:srgbClr val="0B1F33"/>
                          </a:solidFill>
                          <a:latin typeface="Calibri" panose="020F0502020204030204" pitchFamily="34" charset="0"/>
                        </a:rPr>
                        <a:t>No</a:t>
                      </a:r>
                    </a:p>
                  </a:txBody>
                  <a:tcPr marL="127000" anchor="ctr">
                    <a:solidFill>
                      <a:srgbClr val="F4F7FA"/>
                    </a:solidFill>
                  </a:tcPr>
                </a:tc>
                <a:tc>
                  <a:txBody>
                    <a:bodyPr/>
                    <a:lstStyle/>
                    <a:p>
                      <a:r>
                        <a:rPr lang="en-IN" sz="1300" b="0">
                          <a:solidFill>
                            <a:srgbClr val="0B1F33"/>
                          </a:solidFill>
                          <a:latin typeface="Calibri" panose="020F0502020204030204" pitchFamily="34" charset="0"/>
                        </a:rPr>
                        <a:t>Partial</a:t>
                      </a:r>
                    </a:p>
                  </a:txBody>
                  <a:tcPr marL="127000" anchor="ctr">
                    <a:solidFill>
                      <a:srgbClr val="F4F7FA"/>
                    </a:solidFill>
                  </a:tcPr>
                </a:tc>
                <a:tc>
                  <a:txBody>
                    <a:bodyPr/>
                    <a:lstStyle/>
                    <a:p>
                      <a:r>
                        <a:rPr lang="en-IN" sz="1300" b="0">
                          <a:solidFill>
                            <a:srgbClr val="0B1F33"/>
                          </a:solidFill>
                          <a:latin typeface="Calibri" panose="020F0502020204030204" pitchFamily="34" charset="0"/>
                        </a:rPr>
                        <a:t>Partial</a:t>
                      </a:r>
                    </a:p>
                  </a:txBody>
                  <a:tcPr marL="127000" anchor="ctr">
                    <a:solidFill>
                      <a:srgbClr val="F4F7FA"/>
                    </a:solidFill>
                  </a:tcPr>
                </a:tc>
                <a:extLst>
                  <a:ext uri="{0D108BD9-81ED-4DB2-BD59-A6C34878D82A}">
                    <a16:rowId xmlns:a16="http://schemas.microsoft.com/office/drawing/2014/main" val="3616346875"/>
                  </a:ext>
                </a:extLst>
              </a:tr>
              <a:tr h="381000">
                <a:tc>
                  <a:txBody>
                    <a:bodyPr/>
                    <a:lstStyle/>
                    <a:p>
                      <a:r>
                        <a:rPr lang="en-IN" sz="1300" b="0">
                          <a:solidFill>
                            <a:srgbClr val="0B1F33"/>
                          </a:solidFill>
                          <a:latin typeface="Calibri" panose="020F0502020204030204" pitchFamily="34" charset="0"/>
                        </a:rPr>
                        <a:t>Qaisar et al. (2026)</a:t>
                      </a:r>
                    </a:p>
                  </a:txBody>
                  <a:tcPr marL="127000" anchor="ctr">
                    <a:solidFill>
                      <a:srgbClr val="FFFFFF"/>
                    </a:solidFill>
                  </a:tcPr>
                </a:tc>
                <a:tc>
                  <a:txBody>
                    <a:bodyPr/>
                    <a:lstStyle/>
                    <a:p>
                      <a:r>
                        <a:rPr lang="en-IN" sz="1300" b="0">
                          <a:solidFill>
                            <a:srgbClr val="0B1F33"/>
                          </a:solidFill>
                          <a:latin typeface="Calibri" panose="020F0502020204030204" pitchFamily="34" charset="0"/>
                        </a:rPr>
                        <a:t>No</a:t>
                      </a:r>
                    </a:p>
                  </a:txBody>
                  <a:tcPr marL="127000" anchor="ctr">
                    <a:solidFill>
                      <a:srgbClr val="FFFFFF"/>
                    </a:solidFill>
                  </a:tcPr>
                </a:tc>
                <a:tc>
                  <a:txBody>
                    <a:bodyPr/>
                    <a:lstStyle/>
                    <a:p>
                      <a:r>
                        <a:rPr lang="en-IN" sz="1300" b="0">
                          <a:solidFill>
                            <a:srgbClr val="0B1F33"/>
                          </a:solidFill>
                          <a:latin typeface="Calibri" panose="020F0502020204030204" pitchFamily="34" charset="0"/>
                        </a:rPr>
                        <a:t>No</a:t>
                      </a:r>
                    </a:p>
                  </a:txBody>
                  <a:tcPr marL="127000" anchor="ctr">
                    <a:solidFill>
                      <a:srgbClr val="FFFFFF"/>
                    </a:solidFill>
                  </a:tcPr>
                </a:tc>
                <a:tc>
                  <a:txBody>
                    <a:bodyPr/>
                    <a:lstStyle/>
                    <a:p>
                      <a:r>
                        <a:rPr lang="en-IN" sz="1300" b="0">
                          <a:solidFill>
                            <a:srgbClr val="0B1F33"/>
                          </a:solidFill>
                          <a:latin typeface="Calibri" panose="020F0502020204030204" pitchFamily="34" charset="0"/>
                        </a:rPr>
                        <a:t>No</a:t>
                      </a:r>
                    </a:p>
                  </a:txBody>
                  <a:tcPr marL="127000" anchor="ctr">
                    <a:solidFill>
                      <a:srgbClr val="FFFFFF"/>
                    </a:solidFill>
                  </a:tcPr>
                </a:tc>
                <a:tc>
                  <a:txBody>
                    <a:bodyPr/>
                    <a:lstStyle/>
                    <a:p>
                      <a:r>
                        <a:rPr lang="en-IN" sz="1300" b="0">
                          <a:solidFill>
                            <a:srgbClr val="0B1F33"/>
                          </a:solidFill>
                          <a:latin typeface="Calibri" panose="020F0502020204030204" pitchFamily="34" charset="0"/>
                        </a:rPr>
                        <a:t>No</a:t>
                      </a:r>
                    </a:p>
                  </a:txBody>
                  <a:tcPr marL="127000" anchor="ctr">
                    <a:solidFill>
                      <a:srgbClr val="FFFFFF"/>
                    </a:solidFill>
                  </a:tcPr>
                </a:tc>
                <a:tc>
                  <a:txBody>
                    <a:bodyPr/>
                    <a:lstStyle/>
                    <a:p>
                      <a:r>
                        <a:rPr lang="en-IN" sz="1300" b="0">
                          <a:solidFill>
                            <a:srgbClr val="0B1F33"/>
                          </a:solidFill>
                          <a:latin typeface="Calibri" panose="020F0502020204030204" pitchFamily="34" charset="0"/>
                        </a:rPr>
                        <a:t>No</a:t>
                      </a:r>
                    </a:p>
                  </a:txBody>
                  <a:tcPr marL="127000" anchor="ctr">
                    <a:solidFill>
                      <a:srgbClr val="FFFFFF"/>
                    </a:solidFill>
                  </a:tcPr>
                </a:tc>
                <a:extLst>
                  <a:ext uri="{0D108BD9-81ED-4DB2-BD59-A6C34878D82A}">
                    <a16:rowId xmlns:a16="http://schemas.microsoft.com/office/drawing/2014/main" val="1700100136"/>
                  </a:ext>
                </a:extLst>
              </a:tr>
              <a:tr h="381000">
                <a:tc>
                  <a:txBody>
                    <a:bodyPr/>
                    <a:lstStyle/>
                    <a:p>
                      <a:r>
                        <a:rPr lang="en-IN" sz="1300" b="0">
                          <a:solidFill>
                            <a:srgbClr val="0B1F33"/>
                          </a:solidFill>
                          <a:latin typeface="Calibri" panose="020F0502020204030204" pitchFamily="34" charset="0"/>
                        </a:rPr>
                        <a:t>Doly et al. (2023)</a:t>
                      </a:r>
                    </a:p>
                  </a:txBody>
                  <a:tcPr marL="127000" anchor="ctr">
                    <a:solidFill>
                      <a:srgbClr val="F4F7FA"/>
                    </a:solidFill>
                  </a:tcPr>
                </a:tc>
                <a:tc>
                  <a:txBody>
                    <a:bodyPr/>
                    <a:lstStyle/>
                    <a:p>
                      <a:r>
                        <a:rPr lang="en-IN" sz="1300" b="0">
                          <a:solidFill>
                            <a:srgbClr val="0B1F33"/>
                          </a:solidFill>
                          <a:latin typeface="Calibri" panose="020F0502020204030204" pitchFamily="34" charset="0"/>
                        </a:rPr>
                        <a:t>Yes</a:t>
                      </a:r>
                    </a:p>
                  </a:txBody>
                  <a:tcPr marL="127000" anchor="ctr">
                    <a:solidFill>
                      <a:srgbClr val="F4F7FA"/>
                    </a:solidFill>
                  </a:tcPr>
                </a:tc>
                <a:tc>
                  <a:txBody>
                    <a:bodyPr/>
                    <a:lstStyle/>
                    <a:p>
                      <a:r>
                        <a:rPr lang="en-IN" sz="1300" b="0">
                          <a:solidFill>
                            <a:srgbClr val="0B1F33"/>
                          </a:solidFill>
                          <a:latin typeface="Calibri" panose="020F0502020204030204" pitchFamily="34" charset="0"/>
                        </a:rPr>
                        <a:t>Yes</a:t>
                      </a:r>
                    </a:p>
                  </a:txBody>
                  <a:tcPr marL="127000" anchor="ctr">
                    <a:solidFill>
                      <a:srgbClr val="F4F7FA"/>
                    </a:solidFill>
                  </a:tcPr>
                </a:tc>
                <a:tc>
                  <a:txBody>
                    <a:bodyPr/>
                    <a:lstStyle/>
                    <a:p>
                      <a:r>
                        <a:rPr lang="en-IN" sz="1300" b="0">
                          <a:solidFill>
                            <a:srgbClr val="0B1F33"/>
                          </a:solidFill>
                          <a:latin typeface="Calibri" panose="020F0502020204030204" pitchFamily="34" charset="0"/>
                        </a:rPr>
                        <a:t>No</a:t>
                      </a:r>
                    </a:p>
                  </a:txBody>
                  <a:tcPr marL="127000" anchor="ctr">
                    <a:solidFill>
                      <a:srgbClr val="F4F7FA"/>
                    </a:solidFill>
                  </a:tcPr>
                </a:tc>
                <a:tc>
                  <a:txBody>
                    <a:bodyPr/>
                    <a:lstStyle/>
                    <a:p>
                      <a:r>
                        <a:rPr lang="en-IN" sz="1300" b="0">
                          <a:solidFill>
                            <a:srgbClr val="0B1F33"/>
                          </a:solidFill>
                          <a:latin typeface="Calibri" panose="020F0502020204030204" pitchFamily="34" charset="0"/>
                        </a:rPr>
                        <a:t>Yes</a:t>
                      </a:r>
                    </a:p>
                  </a:txBody>
                  <a:tcPr marL="127000" anchor="ctr">
                    <a:solidFill>
                      <a:srgbClr val="F4F7FA"/>
                    </a:solidFill>
                  </a:tcPr>
                </a:tc>
                <a:tc>
                  <a:txBody>
                    <a:bodyPr/>
                    <a:lstStyle/>
                    <a:p>
                      <a:r>
                        <a:rPr lang="en-IN" sz="1300" b="0">
                          <a:solidFill>
                            <a:srgbClr val="0B1F33"/>
                          </a:solidFill>
                          <a:latin typeface="Calibri" panose="020F0502020204030204" pitchFamily="34" charset="0"/>
                        </a:rPr>
                        <a:t>Partial</a:t>
                      </a:r>
                    </a:p>
                  </a:txBody>
                  <a:tcPr marL="127000" anchor="ctr">
                    <a:solidFill>
                      <a:srgbClr val="F4F7FA"/>
                    </a:solidFill>
                  </a:tcPr>
                </a:tc>
                <a:extLst>
                  <a:ext uri="{0D108BD9-81ED-4DB2-BD59-A6C34878D82A}">
                    <a16:rowId xmlns:a16="http://schemas.microsoft.com/office/drawing/2014/main" val="2024211167"/>
                  </a:ext>
                </a:extLst>
              </a:tr>
              <a:tr h="381000">
                <a:tc>
                  <a:txBody>
                    <a:bodyPr/>
                    <a:lstStyle/>
                    <a:p>
                      <a:r>
                        <a:rPr lang="en-IN" sz="1300" b="0">
                          <a:solidFill>
                            <a:srgbClr val="0B1F33"/>
                          </a:solidFill>
                          <a:latin typeface="Calibri" panose="020F0502020204030204" pitchFamily="34" charset="0"/>
                        </a:rPr>
                        <a:t>KIT-CEL gr-radar</a:t>
                      </a:r>
                    </a:p>
                  </a:txBody>
                  <a:tcPr marL="127000" anchor="ctr">
                    <a:solidFill>
                      <a:srgbClr val="FFFFFF"/>
                    </a:solidFill>
                  </a:tcPr>
                </a:tc>
                <a:tc>
                  <a:txBody>
                    <a:bodyPr/>
                    <a:lstStyle/>
                    <a:p>
                      <a:r>
                        <a:rPr lang="en-IN" sz="1300" b="0">
                          <a:solidFill>
                            <a:srgbClr val="0B1F33"/>
                          </a:solidFill>
                          <a:latin typeface="Calibri" panose="020F0502020204030204" pitchFamily="34" charset="0"/>
                        </a:rPr>
                        <a:t>Yes</a:t>
                      </a:r>
                    </a:p>
                  </a:txBody>
                  <a:tcPr marL="127000" anchor="ctr">
                    <a:solidFill>
                      <a:srgbClr val="FFFFFF"/>
                    </a:solidFill>
                  </a:tcPr>
                </a:tc>
                <a:tc>
                  <a:txBody>
                    <a:bodyPr/>
                    <a:lstStyle/>
                    <a:p>
                      <a:r>
                        <a:rPr lang="en-IN" sz="1300" b="0">
                          <a:solidFill>
                            <a:srgbClr val="0B1F33"/>
                          </a:solidFill>
                          <a:latin typeface="Calibri" panose="020F0502020204030204" pitchFamily="34" charset="0"/>
                        </a:rPr>
                        <a:t>Yes</a:t>
                      </a:r>
                    </a:p>
                  </a:txBody>
                  <a:tcPr marL="127000" anchor="ctr">
                    <a:solidFill>
                      <a:srgbClr val="FFFFFF"/>
                    </a:solidFill>
                  </a:tcPr>
                </a:tc>
                <a:tc>
                  <a:txBody>
                    <a:bodyPr/>
                    <a:lstStyle/>
                    <a:p>
                      <a:r>
                        <a:rPr lang="en-IN" sz="1300" b="0">
                          <a:solidFill>
                            <a:srgbClr val="0B1F33"/>
                          </a:solidFill>
                          <a:latin typeface="Calibri" panose="020F0502020204030204" pitchFamily="34" charset="0"/>
                        </a:rPr>
                        <a:t>No</a:t>
                      </a:r>
                    </a:p>
                  </a:txBody>
                  <a:tcPr marL="127000" anchor="ctr">
                    <a:solidFill>
                      <a:srgbClr val="FFFFFF"/>
                    </a:solidFill>
                  </a:tcPr>
                </a:tc>
                <a:tc>
                  <a:txBody>
                    <a:bodyPr/>
                    <a:lstStyle/>
                    <a:p>
                      <a:r>
                        <a:rPr lang="en-IN" sz="1300" b="0">
                          <a:solidFill>
                            <a:srgbClr val="0B1F33"/>
                          </a:solidFill>
                          <a:latin typeface="Calibri" panose="020F0502020204030204" pitchFamily="34" charset="0"/>
                        </a:rPr>
                        <a:t>Yes</a:t>
                      </a:r>
                    </a:p>
                  </a:txBody>
                  <a:tcPr marL="127000" anchor="ctr">
                    <a:solidFill>
                      <a:srgbClr val="FFFFFF"/>
                    </a:solidFill>
                  </a:tcPr>
                </a:tc>
                <a:tc>
                  <a:txBody>
                    <a:bodyPr/>
                    <a:lstStyle/>
                    <a:p>
                      <a:r>
                        <a:rPr lang="en-IN" sz="1300" b="0">
                          <a:solidFill>
                            <a:srgbClr val="0B1F33"/>
                          </a:solidFill>
                          <a:latin typeface="Calibri" panose="020F0502020204030204" pitchFamily="34" charset="0"/>
                        </a:rPr>
                        <a:t>No</a:t>
                      </a:r>
                    </a:p>
                  </a:txBody>
                  <a:tcPr marL="127000" anchor="ctr">
                    <a:solidFill>
                      <a:srgbClr val="FFFFFF"/>
                    </a:solidFill>
                  </a:tcPr>
                </a:tc>
                <a:extLst>
                  <a:ext uri="{0D108BD9-81ED-4DB2-BD59-A6C34878D82A}">
                    <a16:rowId xmlns:a16="http://schemas.microsoft.com/office/drawing/2014/main" val="954704967"/>
                  </a:ext>
                </a:extLst>
              </a:tr>
              <a:tr h="381000">
                <a:tc>
                  <a:txBody>
                    <a:bodyPr/>
                    <a:lstStyle/>
                    <a:p>
                      <a:r>
                        <a:rPr lang="en-IN" sz="1300" b="1">
                          <a:solidFill>
                            <a:srgbClr val="11693A"/>
                          </a:solidFill>
                          <a:latin typeface="Calibri" panose="020F0502020204030204" pitchFamily="34" charset="0"/>
                        </a:rPr>
                        <a:t>Proposed project</a:t>
                      </a:r>
                    </a:p>
                  </a:txBody>
                  <a:tcPr marL="127000" anchor="ctr">
                    <a:solidFill>
                      <a:srgbClr val="D7F3E3"/>
                    </a:solidFill>
                  </a:tcPr>
                </a:tc>
                <a:tc>
                  <a:txBody>
                    <a:bodyPr/>
                    <a:lstStyle/>
                    <a:p>
                      <a:r>
                        <a:rPr lang="en-IN" sz="1300" b="1">
                          <a:solidFill>
                            <a:srgbClr val="11693A"/>
                          </a:solidFill>
                          <a:latin typeface="Calibri" panose="020F0502020204030204" pitchFamily="34" charset="0"/>
                        </a:rPr>
                        <a:t>Yes</a:t>
                      </a:r>
                    </a:p>
                  </a:txBody>
                  <a:tcPr marL="127000" anchor="ctr">
                    <a:solidFill>
                      <a:srgbClr val="D7F3E3"/>
                    </a:solidFill>
                  </a:tcPr>
                </a:tc>
                <a:tc>
                  <a:txBody>
                    <a:bodyPr/>
                    <a:lstStyle/>
                    <a:p>
                      <a:r>
                        <a:rPr lang="en-IN" sz="1300" b="1">
                          <a:solidFill>
                            <a:srgbClr val="11693A"/>
                          </a:solidFill>
                          <a:latin typeface="Calibri" panose="020F0502020204030204" pitchFamily="34" charset="0"/>
                        </a:rPr>
                        <a:t>Yes</a:t>
                      </a:r>
                    </a:p>
                  </a:txBody>
                  <a:tcPr marL="127000" anchor="ctr">
                    <a:solidFill>
                      <a:srgbClr val="D7F3E3"/>
                    </a:solidFill>
                  </a:tcPr>
                </a:tc>
                <a:tc>
                  <a:txBody>
                    <a:bodyPr/>
                    <a:lstStyle/>
                    <a:p>
                      <a:r>
                        <a:rPr lang="en-IN" sz="1300" b="1">
                          <a:solidFill>
                            <a:srgbClr val="11693A"/>
                          </a:solidFill>
                          <a:latin typeface="Calibri" panose="020F0502020204030204" pitchFamily="34" charset="0"/>
                        </a:rPr>
                        <a:t>Yes</a:t>
                      </a:r>
                    </a:p>
                  </a:txBody>
                  <a:tcPr marL="127000" anchor="ctr">
                    <a:solidFill>
                      <a:srgbClr val="D7F3E3"/>
                    </a:solidFill>
                  </a:tcPr>
                </a:tc>
                <a:tc>
                  <a:txBody>
                    <a:bodyPr/>
                    <a:lstStyle/>
                    <a:p>
                      <a:r>
                        <a:rPr lang="en-IN" sz="1300" b="1">
                          <a:solidFill>
                            <a:srgbClr val="11693A"/>
                          </a:solidFill>
                          <a:latin typeface="Calibri" panose="020F0502020204030204" pitchFamily="34" charset="0"/>
                        </a:rPr>
                        <a:t>Yes</a:t>
                      </a:r>
                    </a:p>
                  </a:txBody>
                  <a:tcPr marL="127000" anchor="ctr">
                    <a:solidFill>
                      <a:srgbClr val="D7F3E3"/>
                    </a:solidFill>
                  </a:tcPr>
                </a:tc>
                <a:tc>
                  <a:txBody>
                    <a:bodyPr/>
                    <a:lstStyle/>
                    <a:p>
                      <a:r>
                        <a:rPr lang="en-IN" sz="1300" b="1">
                          <a:solidFill>
                            <a:srgbClr val="11693A"/>
                          </a:solidFill>
                          <a:latin typeface="Calibri" panose="020F0502020204030204" pitchFamily="34" charset="0"/>
                        </a:rPr>
                        <a:t>Yes</a:t>
                      </a:r>
                    </a:p>
                  </a:txBody>
                  <a:tcPr marL="127000" anchor="ctr">
                    <a:solidFill>
                      <a:srgbClr val="D7F3E3"/>
                    </a:solidFill>
                  </a:tcPr>
                </a:tc>
                <a:extLst>
                  <a:ext uri="{0D108BD9-81ED-4DB2-BD59-A6C34878D82A}">
                    <a16:rowId xmlns:a16="http://schemas.microsoft.com/office/drawing/2014/main" val="1167425689"/>
                  </a:ext>
                </a:extLst>
              </a:tr>
            </a:tbl>
          </a:graphicData>
        </a:graphic>
      </p:graphicFrame>
      <p:sp>
        <p:nvSpPr>
          <p:cNvPr id="4" name="TextBox 3">
            <a:extLst>
              <a:ext uri="{FF2B5EF4-FFF2-40B4-BE49-F238E27FC236}">
                <a16:creationId xmlns:a16="http://schemas.microsoft.com/office/drawing/2014/main" id="{D46252EE-6621-0901-E451-F24552D0BCF8}"/>
              </a:ext>
            </a:extLst>
          </p:cNvPr>
          <p:cNvSpPr txBox="1"/>
          <p:nvPr/>
        </p:nvSpPr>
        <p:spPr>
          <a:xfrm>
            <a:off x="609600" y="5232400"/>
            <a:ext cx="10972800" cy="1066800"/>
          </a:xfrm>
          <a:prstGeom prst="rect">
            <a:avLst/>
          </a:prstGeom>
          <a:noFill/>
        </p:spPr>
        <p:txBody>
          <a:bodyPr vert="horz" wrap="square" lIns="0" tIns="0" rIns="0" bIns="0" rtlCol="0" anchor="t">
            <a:noAutofit/>
          </a:bodyPr>
          <a:lstStyle/>
          <a:p>
            <a:r>
              <a:rPr lang="en-US" sz="1500">
                <a:solidFill>
                  <a:srgbClr val="0B1F33"/>
                </a:solidFill>
                <a:latin typeface="Calibri" panose="020F0502020204030204" pitchFamily="34" charset="0"/>
              </a:rPr>
              <a:t>No reviewed work measures communication and radar performance together under one shared frame-timing and channel estimate. The M2 pull request changes GRC code generation, a different layer from that gap. It gave me the full contribution workflow (branch, DCO, pull request) that the gr-digital and gr-radar work in M3 will follow.</a:t>
            </a:r>
            <a:endParaRPr lang="en-IN" sz="1500">
              <a:solidFill>
                <a:srgbClr val="0B1F33"/>
              </a:solidFill>
              <a:latin typeface="Calibri" panose="020F0502020204030204" pitchFamily="34" charset="0"/>
            </a:endParaRPr>
          </a:p>
        </p:txBody>
      </p:sp>
      <p:sp>
        <p:nvSpPr>
          <p:cNvPr id="5" name="TextBox 4">
            <a:extLst>
              <a:ext uri="{FF2B5EF4-FFF2-40B4-BE49-F238E27FC236}">
                <a16:creationId xmlns:a16="http://schemas.microsoft.com/office/drawing/2014/main" id="{FA93A2A8-7EB2-B986-9ECA-CFF7F9567CE2}"/>
              </a:ext>
            </a:extLst>
          </p:cNvPr>
          <p:cNvSpPr txBox="1"/>
          <p:nvPr/>
        </p:nvSpPr>
        <p:spPr>
          <a:xfrm>
            <a:off x="609600" y="6451600"/>
            <a:ext cx="7620000" cy="203200"/>
          </a:xfrm>
          <a:prstGeom prst="rect">
            <a:avLst/>
          </a:prstGeom>
          <a:noFill/>
        </p:spPr>
        <p:txBody>
          <a:bodyPr vert="horz" wrap="square" lIns="0" tIns="0" rIns="0" bIns="0" rtlCol="0" anchor="t">
            <a:noAutofit/>
          </a:bodyPr>
          <a:lstStyle/>
          <a:p>
            <a:r>
              <a:rPr lang="en-IN" sz="1100">
                <a:solidFill>
                  <a:srgbClr val="5B6B7B"/>
                </a:solidFill>
                <a:latin typeface="Calibri" panose="020F0502020204030204" pitchFamily="34" charset="0"/>
              </a:rPr>
              <a:t>Project g16  |  M2 report  |  GNU Radio Companion contribution</a:t>
            </a:r>
          </a:p>
        </p:txBody>
      </p:sp>
      <p:sp>
        <p:nvSpPr>
          <p:cNvPr id="6" name="TextBox 5">
            <a:extLst>
              <a:ext uri="{FF2B5EF4-FFF2-40B4-BE49-F238E27FC236}">
                <a16:creationId xmlns:a16="http://schemas.microsoft.com/office/drawing/2014/main" id="{B2DA7435-2B3A-5921-A0D0-E2CB50EAA3D9}"/>
              </a:ext>
            </a:extLst>
          </p:cNvPr>
          <p:cNvSpPr txBox="1"/>
          <p:nvPr/>
        </p:nvSpPr>
        <p:spPr>
          <a:xfrm>
            <a:off x="10820400" y="6451600"/>
            <a:ext cx="762000" cy="203200"/>
          </a:xfrm>
          <a:prstGeom prst="rect">
            <a:avLst/>
          </a:prstGeom>
          <a:noFill/>
        </p:spPr>
        <p:txBody>
          <a:bodyPr vert="horz" wrap="square" lIns="0" tIns="0" rIns="0" bIns="0" rtlCol="0" anchor="t">
            <a:noAutofit/>
          </a:bodyPr>
          <a:lstStyle/>
          <a:p>
            <a:pPr algn="r"/>
            <a:r>
              <a:rPr lang="en-IN" sz="1100">
                <a:solidFill>
                  <a:srgbClr val="5B6B7B"/>
                </a:solidFill>
                <a:latin typeface="Calibri" panose="020F0502020204030204" pitchFamily="34" charset="0"/>
              </a:rPr>
              <a:t>15</a:t>
            </a:r>
          </a:p>
        </p:txBody>
      </p:sp>
    </p:spTree>
    <p:extLst>
      <p:ext uri="{BB962C8B-B14F-4D97-AF65-F5344CB8AC3E}">
        <p14:creationId xmlns:p14="http://schemas.microsoft.com/office/powerpoint/2010/main" val="17819946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8F6A0-6E8E-44D1-E01D-7B2D9483B0C4}"/>
              </a:ext>
            </a:extLst>
          </p:cNvPr>
          <p:cNvSpPr>
            <a:spLocks noGrp="1"/>
          </p:cNvSpPr>
          <p:nvPr>
            <p:ph type="title"/>
          </p:nvPr>
        </p:nvSpPr>
        <p:spPr>
          <a:xfrm>
            <a:off x="609600" y="330200"/>
            <a:ext cx="10972800" cy="787400"/>
          </a:xfrm>
        </p:spPr>
        <p:txBody>
          <a:bodyPr lIns="0" anchor="ctr">
            <a:normAutofit/>
          </a:bodyPr>
          <a:lstStyle/>
          <a:p>
            <a:r>
              <a:rPr lang="en-IN" sz="3400" b="1">
                <a:solidFill>
                  <a:srgbClr val="0B1F33"/>
                </a:solidFill>
                <a:latin typeface="Cambria" panose="02040503050406030204" pitchFamily="18" charset="0"/>
              </a:rPr>
              <a:t>Next planned contributions</a:t>
            </a:r>
          </a:p>
        </p:txBody>
      </p:sp>
      <p:sp>
        <p:nvSpPr>
          <p:cNvPr id="3" name="Rectangle: Rounded Corners 2">
            <a:extLst>
              <a:ext uri="{FF2B5EF4-FFF2-40B4-BE49-F238E27FC236}">
                <a16:creationId xmlns:a16="http://schemas.microsoft.com/office/drawing/2014/main" id="{EA3CB4BF-4203-8BED-C440-054EB09A91DA}"/>
              </a:ext>
            </a:extLst>
          </p:cNvPr>
          <p:cNvSpPr/>
          <p:nvPr/>
        </p:nvSpPr>
        <p:spPr>
          <a:xfrm>
            <a:off x="609600" y="1270000"/>
            <a:ext cx="5080000" cy="4826000"/>
          </a:xfrm>
          <a:prstGeom prst="roundRect">
            <a:avLst>
              <a:gd name="adj" fmla="val 6000"/>
            </a:avLst>
          </a:prstGeom>
          <a:solidFill>
            <a:srgbClr val="F4F7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5982C412-7253-A4B2-B3D4-E2EDD30C5900}"/>
              </a:ext>
            </a:extLst>
          </p:cNvPr>
          <p:cNvSpPr txBox="1"/>
          <p:nvPr/>
        </p:nvSpPr>
        <p:spPr>
          <a:xfrm>
            <a:off x="889000" y="1447800"/>
            <a:ext cx="4572000" cy="330200"/>
          </a:xfrm>
          <a:prstGeom prst="rect">
            <a:avLst/>
          </a:prstGeom>
          <a:noFill/>
        </p:spPr>
        <p:txBody>
          <a:bodyPr vert="horz" wrap="square" lIns="0" tIns="0" rIns="0" bIns="0" rtlCol="0" anchor="t">
            <a:noAutofit/>
          </a:bodyPr>
          <a:lstStyle/>
          <a:p>
            <a:r>
              <a:rPr lang="en-IN" sz="2000" b="1">
                <a:solidFill>
                  <a:srgbClr val="0B1F33"/>
                </a:solidFill>
                <a:latin typeface="Cambria" panose="02040503050406030204" pitchFamily="18" charset="0"/>
              </a:rPr>
              <a:t>Pull request #8233</a:t>
            </a:r>
          </a:p>
        </p:txBody>
      </p:sp>
      <p:sp>
        <p:nvSpPr>
          <p:cNvPr id="5" name="TextBox 4">
            <a:extLst>
              <a:ext uri="{FF2B5EF4-FFF2-40B4-BE49-F238E27FC236}">
                <a16:creationId xmlns:a16="http://schemas.microsoft.com/office/drawing/2014/main" id="{80FDCF5E-4F60-AB57-E64C-0586C9932A61}"/>
              </a:ext>
            </a:extLst>
          </p:cNvPr>
          <p:cNvSpPr txBox="1"/>
          <p:nvPr/>
        </p:nvSpPr>
        <p:spPr>
          <a:xfrm>
            <a:off x="889000" y="1930400"/>
            <a:ext cx="4572000" cy="4064000"/>
          </a:xfrm>
          <a:prstGeom prst="rect">
            <a:avLst/>
          </a:prstGeom>
          <a:noFill/>
        </p:spPr>
        <p:txBody>
          <a:bodyPr vert="horz" wrap="square" lIns="0" tIns="0" rIns="0" bIns="0" rtlCol="0" anchor="t">
            <a:noAutofit/>
          </a:bodyPr>
          <a:lstStyle/>
          <a:p>
            <a:pPr marL="203200" indent="-203200">
              <a:spcAft>
                <a:spcPts val="800"/>
              </a:spcAft>
              <a:buClr>
                <a:srgbClr val="0E7C70"/>
              </a:buClr>
              <a:buFont typeface="+mj-lt"/>
              <a:buChar char="•"/>
            </a:pPr>
            <a:r>
              <a:rPr lang="en-US" sz="1500">
                <a:solidFill>
                  <a:srgbClr val="0B1F33"/>
                </a:solidFill>
                <a:latin typeface="Calibri" panose="020F0502020204030204" pitchFamily="34" charset="0"/>
              </a:rPr>
              <a:t>Check CI and read reviewer comments</a:t>
            </a:r>
          </a:p>
          <a:p>
            <a:pPr marL="203200" indent="-203200">
              <a:spcAft>
                <a:spcPts val="800"/>
              </a:spcAft>
              <a:buClr>
                <a:srgbClr val="0E7C70"/>
              </a:buClr>
              <a:buFont typeface="+mj-lt"/>
              <a:buChar char="•"/>
            </a:pPr>
            <a:r>
              <a:rPr lang="en-US" sz="1500">
                <a:solidFill>
                  <a:srgbClr val="0B1F33"/>
                </a:solidFill>
                <a:latin typeface="Calibri" panose="020F0502020204030204" pitchFamily="34" charset="0"/>
              </a:rPr>
              <a:t>Generate Qt GUI and Bokeh GUI test flowgraphs</a:t>
            </a:r>
          </a:p>
          <a:p>
            <a:pPr marL="203200" indent="-203200">
              <a:spcAft>
                <a:spcPts val="800"/>
              </a:spcAft>
              <a:buClr>
                <a:srgbClr val="0E7C70"/>
              </a:buClr>
              <a:buFont typeface="+mj-lt"/>
              <a:buChar char="•"/>
            </a:pPr>
            <a:r>
              <a:rPr lang="en-US" sz="1500">
                <a:solidFill>
                  <a:srgbClr val="0B1F33"/>
                </a:solidFill>
                <a:latin typeface="Calibri" panose="020F0502020204030204" pitchFamily="34" charset="0"/>
              </a:rPr>
              <a:t>Install pytest and run the GRC tests</a:t>
            </a:r>
          </a:p>
          <a:p>
            <a:pPr marL="203200" indent="-203200">
              <a:spcAft>
                <a:spcPts val="800"/>
              </a:spcAft>
              <a:buClr>
                <a:srgbClr val="0E7C70"/>
              </a:buClr>
              <a:buFont typeface="+mj-lt"/>
              <a:buChar char="•"/>
            </a:pPr>
            <a:r>
              <a:rPr lang="en-US" sz="1500">
                <a:solidFill>
                  <a:srgbClr val="0B1F33"/>
                </a:solidFill>
                <a:latin typeface="Calibri" panose="020F0502020204030204" pitchFamily="34" charset="0"/>
              </a:rPr>
              <a:t>Add a test that loads an older flowgraph without the field</a:t>
            </a:r>
          </a:p>
          <a:p>
            <a:pPr marL="203200" indent="-203200">
              <a:spcAft>
                <a:spcPts val="800"/>
              </a:spcAft>
              <a:buClr>
                <a:srgbClr val="0E7C70"/>
              </a:buClr>
              <a:buFont typeface="+mj-lt"/>
              <a:buChar char="•"/>
            </a:pPr>
            <a:r>
              <a:rPr lang="en-US" sz="1500">
                <a:solidFill>
                  <a:srgbClr val="0B1F33"/>
                </a:solidFill>
                <a:latin typeface="Calibri" panose="020F0502020204030204" pitchFamily="34" charset="0"/>
              </a:rPr>
              <a:t>Push fixes to the same branch</a:t>
            </a:r>
            <a:endParaRPr lang="en-IN" sz="1500">
              <a:solidFill>
                <a:srgbClr val="0B1F33"/>
              </a:solidFill>
              <a:latin typeface="Calibri" panose="020F0502020204030204" pitchFamily="34" charset="0"/>
            </a:endParaRPr>
          </a:p>
        </p:txBody>
      </p:sp>
      <p:sp>
        <p:nvSpPr>
          <p:cNvPr id="6" name="Rectangle: Rounded Corners 5">
            <a:extLst>
              <a:ext uri="{FF2B5EF4-FFF2-40B4-BE49-F238E27FC236}">
                <a16:creationId xmlns:a16="http://schemas.microsoft.com/office/drawing/2014/main" id="{0A9D575E-2FD9-755C-1AB9-A748E10F0CA4}"/>
              </a:ext>
            </a:extLst>
          </p:cNvPr>
          <p:cNvSpPr/>
          <p:nvPr/>
        </p:nvSpPr>
        <p:spPr>
          <a:xfrm>
            <a:off x="5943600" y="1270000"/>
            <a:ext cx="5638800" cy="1498600"/>
          </a:xfrm>
          <a:prstGeom prst="roundRect">
            <a:avLst>
              <a:gd name="adj" fmla="val 6000"/>
            </a:avLst>
          </a:prstGeom>
          <a:solidFill>
            <a:srgbClr val="12304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id="{358971FB-C08D-E0FE-7D3D-7D233014B523}"/>
              </a:ext>
            </a:extLst>
          </p:cNvPr>
          <p:cNvSpPr/>
          <p:nvPr/>
        </p:nvSpPr>
        <p:spPr>
          <a:xfrm>
            <a:off x="6172200" y="1447800"/>
            <a:ext cx="660400" cy="330200"/>
          </a:xfrm>
          <a:prstGeom prst="roundRect">
            <a:avLst>
              <a:gd name="adj" fmla="val 50000"/>
            </a:avLst>
          </a:prstGeom>
          <a:solidFill>
            <a:srgbClr val="14B8A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0" rIns="50800" bIns="0" rtlCol="0" anchor="ctr"/>
          <a:lstStyle/>
          <a:p>
            <a:pPr algn="ctr"/>
            <a:r>
              <a:rPr lang="en-IN" sz="1300" b="1">
                <a:solidFill>
                  <a:srgbClr val="0B1F33"/>
                </a:solidFill>
                <a:latin typeface="Calibri" panose="020F0502020204030204" pitchFamily="34" charset="0"/>
              </a:rPr>
              <a:t>M3</a:t>
            </a:r>
          </a:p>
        </p:txBody>
      </p:sp>
      <p:sp>
        <p:nvSpPr>
          <p:cNvPr id="8" name="TextBox 7">
            <a:extLst>
              <a:ext uri="{FF2B5EF4-FFF2-40B4-BE49-F238E27FC236}">
                <a16:creationId xmlns:a16="http://schemas.microsoft.com/office/drawing/2014/main" id="{6641C95F-B6CF-599E-5457-422626F1EC40}"/>
              </a:ext>
            </a:extLst>
          </p:cNvPr>
          <p:cNvSpPr txBox="1"/>
          <p:nvPr/>
        </p:nvSpPr>
        <p:spPr>
          <a:xfrm>
            <a:off x="6985000" y="1473200"/>
            <a:ext cx="4318000" cy="279400"/>
          </a:xfrm>
          <a:prstGeom prst="rect">
            <a:avLst/>
          </a:prstGeom>
          <a:noFill/>
        </p:spPr>
        <p:txBody>
          <a:bodyPr vert="horz" wrap="square" lIns="0" tIns="0" rIns="0" bIns="0" rtlCol="0" anchor="t">
            <a:noAutofit/>
          </a:bodyPr>
          <a:lstStyle/>
          <a:p>
            <a:r>
              <a:rPr lang="en-US" sz="1600" b="1">
                <a:solidFill>
                  <a:srgbClr val="FFFFFF"/>
                </a:solidFill>
                <a:latin typeface="Cambria" panose="02040503050406030204" pitchFamily="18" charset="0"/>
              </a:rPr>
              <a:t>Oct 12 to Oct 25</a:t>
            </a:r>
            <a:endParaRPr lang="en-IN" sz="1600" b="1">
              <a:solidFill>
                <a:srgbClr val="FFFFFF"/>
              </a:solidFill>
              <a:latin typeface="Cambria" panose="02040503050406030204" pitchFamily="18" charset="0"/>
            </a:endParaRPr>
          </a:p>
        </p:txBody>
      </p:sp>
      <p:sp>
        <p:nvSpPr>
          <p:cNvPr id="9" name="TextBox 8">
            <a:extLst>
              <a:ext uri="{FF2B5EF4-FFF2-40B4-BE49-F238E27FC236}">
                <a16:creationId xmlns:a16="http://schemas.microsoft.com/office/drawing/2014/main" id="{CD2F9232-9C3D-2763-6058-E6DB6677CEA6}"/>
              </a:ext>
            </a:extLst>
          </p:cNvPr>
          <p:cNvSpPr txBox="1"/>
          <p:nvPr/>
        </p:nvSpPr>
        <p:spPr>
          <a:xfrm>
            <a:off x="6172200" y="1905000"/>
            <a:ext cx="5181600" cy="812800"/>
          </a:xfrm>
          <a:prstGeom prst="rect">
            <a:avLst/>
          </a:prstGeom>
          <a:noFill/>
        </p:spPr>
        <p:txBody>
          <a:bodyPr vert="horz" wrap="square" lIns="0" tIns="0" rIns="0" bIns="0" rtlCol="0" anchor="t">
            <a:noAutofit/>
          </a:bodyPr>
          <a:lstStyle/>
          <a:p>
            <a:r>
              <a:rPr lang="en-US" sz="1300">
                <a:solidFill>
                  <a:srgbClr val="E2E8F0"/>
                </a:solidFill>
                <a:latin typeface="Calibri" panose="020F0502020204030204" pitchFamily="34" charset="0"/>
              </a:rPr>
              <a:t>Implement the ISAC contribution in a GNU Radio flowgraph. Unit and integration tests under the contribution guidelines.</a:t>
            </a:r>
            <a:endParaRPr lang="en-IN" sz="1300">
              <a:solidFill>
                <a:srgbClr val="E2E8F0"/>
              </a:solidFill>
              <a:latin typeface="Calibri" panose="020F0502020204030204" pitchFamily="34" charset="0"/>
            </a:endParaRPr>
          </a:p>
        </p:txBody>
      </p:sp>
      <p:sp>
        <p:nvSpPr>
          <p:cNvPr id="10" name="Rectangle: Rounded Corners 9">
            <a:extLst>
              <a:ext uri="{FF2B5EF4-FFF2-40B4-BE49-F238E27FC236}">
                <a16:creationId xmlns:a16="http://schemas.microsoft.com/office/drawing/2014/main" id="{705A4569-5BB4-F499-5D21-3723A6A4B03A}"/>
              </a:ext>
            </a:extLst>
          </p:cNvPr>
          <p:cNvSpPr/>
          <p:nvPr/>
        </p:nvSpPr>
        <p:spPr>
          <a:xfrm>
            <a:off x="5943600" y="2921000"/>
            <a:ext cx="5638800" cy="1498600"/>
          </a:xfrm>
          <a:prstGeom prst="roundRect">
            <a:avLst>
              <a:gd name="adj" fmla="val 6000"/>
            </a:avLst>
          </a:prstGeom>
          <a:solidFill>
            <a:srgbClr val="12304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Rounded Corners 10">
            <a:extLst>
              <a:ext uri="{FF2B5EF4-FFF2-40B4-BE49-F238E27FC236}">
                <a16:creationId xmlns:a16="http://schemas.microsoft.com/office/drawing/2014/main" id="{B7484D2D-C73F-0E65-342F-3523EFEB3DA7}"/>
              </a:ext>
            </a:extLst>
          </p:cNvPr>
          <p:cNvSpPr/>
          <p:nvPr/>
        </p:nvSpPr>
        <p:spPr>
          <a:xfrm>
            <a:off x="6172200" y="3098800"/>
            <a:ext cx="660400" cy="330200"/>
          </a:xfrm>
          <a:prstGeom prst="roundRect">
            <a:avLst>
              <a:gd name="adj" fmla="val 50000"/>
            </a:avLst>
          </a:prstGeom>
          <a:solidFill>
            <a:srgbClr val="14B8A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0" rIns="50800" bIns="0" rtlCol="0" anchor="ctr"/>
          <a:lstStyle/>
          <a:p>
            <a:pPr algn="ctr"/>
            <a:r>
              <a:rPr lang="en-IN" sz="1300" b="1">
                <a:solidFill>
                  <a:srgbClr val="0B1F33"/>
                </a:solidFill>
                <a:latin typeface="Calibri" panose="020F0502020204030204" pitchFamily="34" charset="0"/>
              </a:rPr>
              <a:t>M4</a:t>
            </a:r>
          </a:p>
        </p:txBody>
      </p:sp>
      <p:sp>
        <p:nvSpPr>
          <p:cNvPr id="12" name="TextBox 11">
            <a:extLst>
              <a:ext uri="{FF2B5EF4-FFF2-40B4-BE49-F238E27FC236}">
                <a16:creationId xmlns:a16="http://schemas.microsoft.com/office/drawing/2014/main" id="{BB050A1E-424E-67D0-28AA-7F02C5EC32FD}"/>
              </a:ext>
            </a:extLst>
          </p:cNvPr>
          <p:cNvSpPr txBox="1"/>
          <p:nvPr/>
        </p:nvSpPr>
        <p:spPr>
          <a:xfrm>
            <a:off x="6985000" y="3124200"/>
            <a:ext cx="4318000" cy="279400"/>
          </a:xfrm>
          <a:prstGeom prst="rect">
            <a:avLst/>
          </a:prstGeom>
          <a:noFill/>
        </p:spPr>
        <p:txBody>
          <a:bodyPr vert="horz" wrap="square" lIns="0" tIns="0" rIns="0" bIns="0" rtlCol="0" anchor="t">
            <a:noAutofit/>
          </a:bodyPr>
          <a:lstStyle/>
          <a:p>
            <a:r>
              <a:rPr lang="en-US" sz="1600" b="1">
                <a:solidFill>
                  <a:srgbClr val="FFFFFF"/>
                </a:solidFill>
                <a:latin typeface="Cambria" panose="02040503050406030204" pitchFamily="18" charset="0"/>
              </a:rPr>
              <a:t>Oct 26 to Nov 8</a:t>
            </a:r>
            <a:endParaRPr lang="en-IN" sz="1600" b="1">
              <a:solidFill>
                <a:srgbClr val="FFFFFF"/>
              </a:solidFill>
              <a:latin typeface="Cambria" panose="02040503050406030204" pitchFamily="18" charset="0"/>
            </a:endParaRPr>
          </a:p>
        </p:txBody>
      </p:sp>
      <p:sp>
        <p:nvSpPr>
          <p:cNvPr id="13" name="TextBox 12">
            <a:extLst>
              <a:ext uri="{FF2B5EF4-FFF2-40B4-BE49-F238E27FC236}">
                <a16:creationId xmlns:a16="http://schemas.microsoft.com/office/drawing/2014/main" id="{07F10B07-C4B4-BA8A-3A13-A8F5FA205F06}"/>
              </a:ext>
            </a:extLst>
          </p:cNvPr>
          <p:cNvSpPr txBox="1"/>
          <p:nvPr/>
        </p:nvSpPr>
        <p:spPr>
          <a:xfrm>
            <a:off x="6172200" y="3556000"/>
            <a:ext cx="5181600" cy="812800"/>
          </a:xfrm>
          <a:prstGeom prst="rect">
            <a:avLst/>
          </a:prstGeom>
          <a:noFill/>
        </p:spPr>
        <p:txBody>
          <a:bodyPr vert="horz" wrap="square" lIns="0" tIns="0" rIns="0" bIns="0" rtlCol="0" anchor="t">
            <a:noAutofit/>
          </a:bodyPr>
          <a:lstStyle/>
          <a:p>
            <a:r>
              <a:rPr lang="en-US" sz="1300">
                <a:solidFill>
                  <a:srgbClr val="E2E8F0"/>
                </a:solidFill>
                <a:latin typeface="Calibri" panose="020F0502020204030204" pitchFamily="34" charset="0"/>
              </a:rPr>
              <a:t>Evaluate sync error, channel-estimation error, BER and range error across SNR and delay. Compare with current behaviour and Doly et al.</a:t>
            </a:r>
            <a:endParaRPr lang="en-IN" sz="1300">
              <a:solidFill>
                <a:srgbClr val="E2E8F0"/>
              </a:solidFill>
              <a:latin typeface="Calibri" panose="020F0502020204030204" pitchFamily="34" charset="0"/>
            </a:endParaRPr>
          </a:p>
        </p:txBody>
      </p:sp>
      <p:sp>
        <p:nvSpPr>
          <p:cNvPr id="14" name="Rectangle: Rounded Corners 13">
            <a:extLst>
              <a:ext uri="{FF2B5EF4-FFF2-40B4-BE49-F238E27FC236}">
                <a16:creationId xmlns:a16="http://schemas.microsoft.com/office/drawing/2014/main" id="{CCA8B323-D149-49F6-51F0-AC09BF34BF37}"/>
              </a:ext>
            </a:extLst>
          </p:cNvPr>
          <p:cNvSpPr/>
          <p:nvPr/>
        </p:nvSpPr>
        <p:spPr>
          <a:xfrm>
            <a:off x="5943600" y="4572000"/>
            <a:ext cx="5638800" cy="1498600"/>
          </a:xfrm>
          <a:prstGeom prst="roundRect">
            <a:avLst>
              <a:gd name="adj" fmla="val 6000"/>
            </a:avLst>
          </a:prstGeom>
          <a:solidFill>
            <a:srgbClr val="12304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Rounded Corners 14">
            <a:extLst>
              <a:ext uri="{FF2B5EF4-FFF2-40B4-BE49-F238E27FC236}">
                <a16:creationId xmlns:a16="http://schemas.microsoft.com/office/drawing/2014/main" id="{1616DB2E-D99D-0BE0-32CE-15BEA1011581}"/>
              </a:ext>
            </a:extLst>
          </p:cNvPr>
          <p:cNvSpPr/>
          <p:nvPr/>
        </p:nvSpPr>
        <p:spPr>
          <a:xfrm>
            <a:off x="6172200" y="4749800"/>
            <a:ext cx="660400" cy="330200"/>
          </a:xfrm>
          <a:prstGeom prst="roundRect">
            <a:avLst>
              <a:gd name="adj" fmla="val 50000"/>
            </a:avLst>
          </a:prstGeom>
          <a:solidFill>
            <a:srgbClr val="14B8A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0" rIns="50800" bIns="0" rtlCol="0" anchor="ctr"/>
          <a:lstStyle/>
          <a:p>
            <a:pPr algn="ctr"/>
            <a:r>
              <a:rPr lang="en-IN" sz="1300" b="1">
                <a:solidFill>
                  <a:srgbClr val="0B1F33"/>
                </a:solidFill>
                <a:latin typeface="Calibri" panose="020F0502020204030204" pitchFamily="34" charset="0"/>
              </a:rPr>
              <a:t>M5</a:t>
            </a:r>
          </a:p>
        </p:txBody>
      </p:sp>
      <p:sp>
        <p:nvSpPr>
          <p:cNvPr id="16" name="TextBox 15">
            <a:extLst>
              <a:ext uri="{FF2B5EF4-FFF2-40B4-BE49-F238E27FC236}">
                <a16:creationId xmlns:a16="http://schemas.microsoft.com/office/drawing/2014/main" id="{52603100-13E9-7B5D-CB0A-459C144A60FD}"/>
              </a:ext>
            </a:extLst>
          </p:cNvPr>
          <p:cNvSpPr txBox="1"/>
          <p:nvPr/>
        </p:nvSpPr>
        <p:spPr>
          <a:xfrm>
            <a:off x="6985000" y="4775200"/>
            <a:ext cx="4318000" cy="279400"/>
          </a:xfrm>
          <a:prstGeom prst="rect">
            <a:avLst/>
          </a:prstGeom>
          <a:noFill/>
        </p:spPr>
        <p:txBody>
          <a:bodyPr vert="horz" wrap="square" lIns="0" tIns="0" rIns="0" bIns="0" rtlCol="0" anchor="t">
            <a:noAutofit/>
          </a:bodyPr>
          <a:lstStyle/>
          <a:p>
            <a:r>
              <a:rPr lang="en-IN" sz="1600" b="1">
                <a:solidFill>
                  <a:srgbClr val="FFFFFF"/>
                </a:solidFill>
                <a:latin typeface="Cambria" panose="02040503050406030204" pitchFamily="18" charset="0"/>
              </a:rPr>
              <a:t>Nov 9 to Nov 30</a:t>
            </a:r>
          </a:p>
        </p:txBody>
      </p:sp>
      <p:sp>
        <p:nvSpPr>
          <p:cNvPr id="17" name="TextBox 16">
            <a:extLst>
              <a:ext uri="{FF2B5EF4-FFF2-40B4-BE49-F238E27FC236}">
                <a16:creationId xmlns:a16="http://schemas.microsoft.com/office/drawing/2014/main" id="{6AC232AF-FC72-D84D-48CD-B4EE065674F7}"/>
              </a:ext>
            </a:extLst>
          </p:cNvPr>
          <p:cNvSpPr txBox="1"/>
          <p:nvPr/>
        </p:nvSpPr>
        <p:spPr>
          <a:xfrm>
            <a:off x="6172200" y="5207000"/>
            <a:ext cx="5181600" cy="812800"/>
          </a:xfrm>
          <a:prstGeom prst="rect">
            <a:avLst/>
          </a:prstGeom>
          <a:noFill/>
        </p:spPr>
        <p:txBody>
          <a:bodyPr vert="horz" wrap="square" lIns="0" tIns="0" rIns="0" bIns="0" rtlCol="0" anchor="t">
            <a:noAutofit/>
          </a:bodyPr>
          <a:lstStyle/>
          <a:p>
            <a:r>
              <a:rPr lang="en-US" sz="1300">
                <a:solidFill>
                  <a:srgbClr val="E2E8F0"/>
                </a:solidFill>
                <a:latin typeface="Calibri" panose="020F0502020204030204" pitchFamily="34" charset="0"/>
              </a:rPr>
              <a:t>Analysis, documentation, repository cleanup, pull request submission, final report and video.</a:t>
            </a:r>
            <a:endParaRPr lang="en-IN" sz="1300">
              <a:solidFill>
                <a:srgbClr val="E2E8F0"/>
              </a:solidFill>
              <a:latin typeface="Calibri" panose="020F0502020204030204" pitchFamily="34" charset="0"/>
            </a:endParaRPr>
          </a:p>
        </p:txBody>
      </p:sp>
      <p:sp>
        <p:nvSpPr>
          <p:cNvPr id="18" name="TextBox 17">
            <a:extLst>
              <a:ext uri="{FF2B5EF4-FFF2-40B4-BE49-F238E27FC236}">
                <a16:creationId xmlns:a16="http://schemas.microsoft.com/office/drawing/2014/main" id="{5EB04F5F-1D9C-7055-ABCC-B4769B9BDC60}"/>
              </a:ext>
            </a:extLst>
          </p:cNvPr>
          <p:cNvSpPr txBox="1"/>
          <p:nvPr/>
        </p:nvSpPr>
        <p:spPr>
          <a:xfrm>
            <a:off x="609600" y="6451600"/>
            <a:ext cx="7620000" cy="203200"/>
          </a:xfrm>
          <a:prstGeom prst="rect">
            <a:avLst/>
          </a:prstGeom>
          <a:noFill/>
        </p:spPr>
        <p:txBody>
          <a:bodyPr vert="horz" wrap="square" lIns="0" tIns="0" rIns="0" bIns="0" rtlCol="0" anchor="t">
            <a:noAutofit/>
          </a:bodyPr>
          <a:lstStyle/>
          <a:p>
            <a:r>
              <a:rPr lang="en-IN" sz="1100">
                <a:solidFill>
                  <a:srgbClr val="5B6B7B"/>
                </a:solidFill>
                <a:latin typeface="Calibri" panose="020F0502020204030204" pitchFamily="34" charset="0"/>
              </a:rPr>
              <a:t>Project g16  |  M2 report  |  GNU Radio Companion contribution</a:t>
            </a:r>
          </a:p>
        </p:txBody>
      </p:sp>
      <p:sp>
        <p:nvSpPr>
          <p:cNvPr id="19" name="TextBox 18">
            <a:extLst>
              <a:ext uri="{FF2B5EF4-FFF2-40B4-BE49-F238E27FC236}">
                <a16:creationId xmlns:a16="http://schemas.microsoft.com/office/drawing/2014/main" id="{17C79036-7399-8531-F01A-44396D9E44F9}"/>
              </a:ext>
            </a:extLst>
          </p:cNvPr>
          <p:cNvSpPr txBox="1"/>
          <p:nvPr/>
        </p:nvSpPr>
        <p:spPr>
          <a:xfrm>
            <a:off x="10820400" y="6451600"/>
            <a:ext cx="762000" cy="203200"/>
          </a:xfrm>
          <a:prstGeom prst="rect">
            <a:avLst/>
          </a:prstGeom>
          <a:noFill/>
        </p:spPr>
        <p:txBody>
          <a:bodyPr vert="horz" wrap="square" lIns="0" tIns="0" rIns="0" bIns="0" rtlCol="0" anchor="t">
            <a:noAutofit/>
          </a:bodyPr>
          <a:lstStyle/>
          <a:p>
            <a:pPr algn="r"/>
            <a:r>
              <a:rPr lang="en-IN" sz="1100">
                <a:solidFill>
                  <a:srgbClr val="5B6B7B"/>
                </a:solidFill>
                <a:latin typeface="Calibri" panose="020F0502020204030204" pitchFamily="34" charset="0"/>
              </a:rPr>
              <a:t>16</a:t>
            </a:r>
          </a:p>
        </p:txBody>
      </p:sp>
    </p:spTree>
    <p:extLst>
      <p:ext uri="{BB962C8B-B14F-4D97-AF65-F5344CB8AC3E}">
        <p14:creationId xmlns:p14="http://schemas.microsoft.com/office/powerpoint/2010/main" val="3664363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B1F3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065AB-23D7-A9F3-66E9-AA23F6B8F6A1}"/>
              </a:ext>
            </a:extLst>
          </p:cNvPr>
          <p:cNvSpPr>
            <a:spLocks noGrp="1"/>
          </p:cNvSpPr>
          <p:nvPr>
            <p:ph type="title"/>
          </p:nvPr>
        </p:nvSpPr>
        <p:spPr>
          <a:xfrm>
            <a:off x="609600" y="330200"/>
            <a:ext cx="10972800" cy="787400"/>
          </a:xfrm>
        </p:spPr>
        <p:txBody>
          <a:bodyPr lIns="0" anchor="ctr">
            <a:normAutofit/>
          </a:bodyPr>
          <a:lstStyle/>
          <a:p>
            <a:r>
              <a:rPr lang="en-IN" sz="3400" b="1">
                <a:solidFill>
                  <a:srgbClr val="FFFFFF"/>
                </a:solidFill>
                <a:latin typeface="Cambria" panose="02040503050406030204" pitchFamily="18" charset="0"/>
              </a:rPr>
              <a:t>Links and references</a:t>
            </a:r>
          </a:p>
        </p:txBody>
      </p:sp>
      <p:sp>
        <p:nvSpPr>
          <p:cNvPr id="3" name="TextBox 2">
            <a:extLst>
              <a:ext uri="{FF2B5EF4-FFF2-40B4-BE49-F238E27FC236}">
                <a16:creationId xmlns:a16="http://schemas.microsoft.com/office/drawing/2014/main" id="{9826CED2-2092-E2F9-4173-779049FFAD1A}"/>
              </a:ext>
            </a:extLst>
          </p:cNvPr>
          <p:cNvSpPr txBox="1"/>
          <p:nvPr/>
        </p:nvSpPr>
        <p:spPr>
          <a:xfrm>
            <a:off x="609600" y="1320800"/>
            <a:ext cx="5080000" cy="304800"/>
          </a:xfrm>
          <a:prstGeom prst="rect">
            <a:avLst/>
          </a:prstGeom>
          <a:noFill/>
        </p:spPr>
        <p:txBody>
          <a:bodyPr vert="horz" wrap="square" lIns="0" tIns="0" rIns="0" bIns="0" rtlCol="0" anchor="t">
            <a:noAutofit/>
          </a:bodyPr>
          <a:lstStyle/>
          <a:p>
            <a:r>
              <a:rPr lang="en-IN" sz="2000" b="1">
                <a:solidFill>
                  <a:srgbClr val="14B8A6"/>
                </a:solidFill>
                <a:latin typeface="Cambria" panose="02040503050406030204" pitchFamily="18" charset="0"/>
              </a:rPr>
              <a:t>Contribution</a:t>
            </a:r>
          </a:p>
        </p:txBody>
      </p:sp>
      <p:sp>
        <p:nvSpPr>
          <p:cNvPr id="4" name="TextBox 3">
            <a:extLst>
              <a:ext uri="{FF2B5EF4-FFF2-40B4-BE49-F238E27FC236}">
                <a16:creationId xmlns:a16="http://schemas.microsoft.com/office/drawing/2014/main" id="{BCED826C-7593-1D6A-1D07-11C6BAB68528}"/>
              </a:ext>
            </a:extLst>
          </p:cNvPr>
          <p:cNvSpPr txBox="1"/>
          <p:nvPr/>
        </p:nvSpPr>
        <p:spPr>
          <a:xfrm>
            <a:off x="609600" y="1778000"/>
            <a:ext cx="5588000" cy="2794000"/>
          </a:xfrm>
          <a:prstGeom prst="rect">
            <a:avLst/>
          </a:prstGeom>
          <a:noFill/>
        </p:spPr>
        <p:txBody>
          <a:bodyPr vert="horz" wrap="square" lIns="0" tIns="0" rIns="0" bIns="0" rtlCol="0" anchor="t">
            <a:noAutofit/>
          </a:bodyPr>
          <a:lstStyle/>
          <a:p>
            <a:pPr>
              <a:spcAft>
                <a:spcPts val="1000"/>
              </a:spcAft>
            </a:pPr>
            <a:r>
              <a:rPr lang="en-IN" sz="1400">
                <a:solidFill>
                  <a:srgbClr val="E2E8F0"/>
                </a:solidFill>
                <a:latin typeface="Calibri" panose="020F0502020204030204" pitchFamily="34" charset="0"/>
              </a:rPr>
              <a:t>Pull request: github.com/gnuradio/gnuradio/pull/8233</a:t>
            </a:r>
          </a:p>
          <a:p>
            <a:pPr>
              <a:spcAft>
                <a:spcPts val="1000"/>
              </a:spcAft>
            </a:pPr>
            <a:r>
              <a:rPr lang="en-IN" sz="1400">
                <a:solidFill>
                  <a:srgbClr val="E2E8F0"/>
                </a:solidFill>
                <a:latin typeface="Calibri" panose="020F0502020204030204" pitchFamily="34" charset="0"/>
              </a:rPr>
              <a:t>Issue: github.com/gnuradio/gnuradio/issues/5096</a:t>
            </a:r>
          </a:p>
          <a:p>
            <a:pPr>
              <a:spcAft>
                <a:spcPts val="1000"/>
              </a:spcAft>
            </a:pPr>
            <a:r>
              <a:rPr lang="en-IN" sz="1400">
                <a:solidFill>
                  <a:srgbClr val="E2E8F0"/>
                </a:solidFill>
                <a:latin typeface="Calibri" panose="020F0502020204030204" pitchFamily="34" charset="0"/>
              </a:rPr>
              <a:t>Fork: github.com/MuchhalAkshita/gnuradio</a:t>
            </a:r>
          </a:p>
          <a:p>
            <a:pPr>
              <a:spcAft>
                <a:spcPts val="1000"/>
              </a:spcAft>
            </a:pPr>
            <a:r>
              <a:rPr lang="en-IN" sz="1400">
                <a:solidFill>
                  <a:srgbClr val="E2E8F0"/>
                </a:solidFill>
                <a:latin typeface="Calibri" panose="020F0502020204030204" pitchFamily="34" charset="0"/>
              </a:rPr>
              <a:t>Branch: grc-required-parameters</a:t>
            </a:r>
          </a:p>
          <a:p>
            <a:pPr>
              <a:spcAft>
                <a:spcPts val="1000"/>
              </a:spcAft>
            </a:pPr>
            <a:r>
              <a:rPr lang="en-IN" sz="1400">
                <a:solidFill>
                  <a:srgbClr val="E2E8F0"/>
                </a:solidFill>
                <a:latin typeface="Calibri" panose="020F0502020204030204" pitchFamily="34" charset="0"/>
              </a:rPr>
              <a:t>Commit: f7afafee6ccdba2ea8bd281dc6063b2f0744f136</a:t>
            </a:r>
          </a:p>
        </p:txBody>
      </p:sp>
      <p:sp>
        <p:nvSpPr>
          <p:cNvPr id="5" name="TextBox 4">
            <a:extLst>
              <a:ext uri="{FF2B5EF4-FFF2-40B4-BE49-F238E27FC236}">
                <a16:creationId xmlns:a16="http://schemas.microsoft.com/office/drawing/2014/main" id="{658CB69D-A784-BB56-867D-44C38AFE6BE1}"/>
              </a:ext>
            </a:extLst>
          </p:cNvPr>
          <p:cNvSpPr txBox="1"/>
          <p:nvPr/>
        </p:nvSpPr>
        <p:spPr>
          <a:xfrm>
            <a:off x="6451600" y="1320800"/>
            <a:ext cx="5130800" cy="304800"/>
          </a:xfrm>
          <a:prstGeom prst="rect">
            <a:avLst/>
          </a:prstGeom>
          <a:noFill/>
        </p:spPr>
        <p:txBody>
          <a:bodyPr vert="horz" wrap="square" lIns="0" tIns="0" rIns="0" bIns="0" rtlCol="0" anchor="t">
            <a:noAutofit/>
          </a:bodyPr>
          <a:lstStyle/>
          <a:p>
            <a:r>
              <a:rPr lang="en-IN" sz="2000" b="1">
                <a:solidFill>
                  <a:srgbClr val="14B8A6"/>
                </a:solidFill>
                <a:latin typeface="Cambria" panose="02040503050406030204" pitchFamily="18" charset="0"/>
              </a:rPr>
              <a:t>References from M1</a:t>
            </a:r>
          </a:p>
        </p:txBody>
      </p:sp>
      <p:sp>
        <p:nvSpPr>
          <p:cNvPr id="6" name="TextBox 5">
            <a:extLst>
              <a:ext uri="{FF2B5EF4-FFF2-40B4-BE49-F238E27FC236}">
                <a16:creationId xmlns:a16="http://schemas.microsoft.com/office/drawing/2014/main" id="{B3AF3626-CE58-813B-4F57-7F68BDC376BD}"/>
              </a:ext>
            </a:extLst>
          </p:cNvPr>
          <p:cNvSpPr txBox="1"/>
          <p:nvPr/>
        </p:nvSpPr>
        <p:spPr>
          <a:xfrm>
            <a:off x="6451600" y="1778000"/>
            <a:ext cx="5130800" cy="3810000"/>
          </a:xfrm>
          <a:prstGeom prst="rect">
            <a:avLst/>
          </a:prstGeom>
          <a:noFill/>
        </p:spPr>
        <p:txBody>
          <a:bodyPr vert="horz" wrap="square" lIns="0" tIns="0" rIns="0" bIns="0" rtlCol="0" anchor="t">
            <a:noAutofit/>
          </a:bodyPr>
          <a:lstStyle/>
          <a:p>
            <a:pPr>
              <a:spcAft>
                <a:spcPts val="800"/>
              </a:spcAft>
            </a:pPr>
            <a:r>
              <a:rPr lang="en-IN" sz="1400">
                <a:solidFill>
                  <a:srgbClr val="E2E8F0"/>
                </a:solidFill>
                <a:latin typeface="Calibri" panose="020F0502020204030204" pitchFamily="34" charset="0"/>
              </a:rPr>
              <a:t>Sturm and Wiesbeck, Proc. IEEE 99(7), 2011</a:t>
            </a:r>
          </a:p>
          <a:p>
            <a:pPr>
              <a:spcAft>
                <a:spcPts val="800"/>
              </a:spcAft>
            </a:pPr>
            <a:r>
              <a:rPr lang="en-IN" sz="1400">
                <a:solidFill>
                  <a:srgbClr val="E2E8F0"/>
                </a:solidFill>
                <a:latin typeface="Calibri" panose="020F0502020204030204" pitchFamily="34" charset="0"/>
              </a:rPr>
              <a:t>Liu et al., IEEE Trans. Commun. 68(6), 2020</a:t>
            </a:r>
          </a:p>
          <a:p>
            <a:pPr>
              <a:spcAft>
                <a:spcPts val="800"/>
              </a:spcAft>
            </a:pPr>
            <a:r>
              <a:rPr lang="en-IN" sz="1400">
                <a:solidFill>
                  <a:srgbClr val="E2E8F0"/>
                </a:solidFill>
                <a:latin typeface="Calibri" panose="020F0502020204030204" pitchFamily="34" charset="0"/>
              </a:rPr>
              <a:t>Liu et al., IEEE JSAC 40(6), 2022</a:t>
            </a:r>
          </a:p>
          <a:p>
            <a:pPr>
              <a:spcAft>
                <a:spcPts val="800"/>
              </a:spcAft>
            </a:pPr>
            <a:r>
              <a:rPr lang="en-IN" sz="1400">
                <a:solidFill>
                  <a:srgbClr val="E2E8F0"/>
                </a:solidFill>
                <a:latin typeface="Calibri" panose="020F0502020204030204" pitchFamily="34" charset="0"/>
              </a:rPr>
              <a:t>Doly et al., Proc. GNU Radio Conference 8(1), 2023</a:t>
            </a:r>
          </a:p>
          <a:p>
            <a:pPr>
              <a:spcAft>
                <a:spcPts val="800"/>
              </a:spcAft>
            </a:pPr>
            <a:r>
              <a:rPr lang="en-IN" sz="1400">
                <a:solidFill>
                  <a:srgbClr val="E2E8F0"/>
                </a:solidFill>
                <a:latin typeface="Calibri" panose="020F0502020204030204" pitchFamily="34" charset="0"/>
              </a:rPr>
              <a:t>KIT-CEL, gr-radar (GitHub)</a:t>
            </a:r>
          </a:p>
          <a:p>
            <a:pPr>
              <a:spcAft>
                <a:spcPts val="800"/>
              </a:spcAft>
            </a:pPr>
            <a:r>
              <a:rPr lang="en-IN" sz="1400">
                <a:solidFill>
                  <a:srgbClr val="E2E8F0"/>
                </a:solidFill>
                <a:latin typeface="Calibri" panose="020F0502020204030204" pitchFamily="34" charset="0"/>
              </a:rPr>
              <a:t>Dai et al., arXiv:2504.19091, 2025</a:t>
            </a:r>
          </a:p>
          <a:p>
            <a:pPr>
              <a:spcAft>
                <a:spcPts val="800"/>
              </a:spcAft>
            </a:pPr>
            <a:r>
              <a:rPr lang="en-IN" sz="1400">
                <a:solidFill>
                  <a:srgbClr val="E2E8F0"/>
                </a:solidFill>
                <a:latin typeface="Calibri" panose="020F0502020204030204" pitchFamily="34" charset="0"/>
              </a:rPr>
              <a:t>Vaezi et al., IEEE Commun. Surveys Tuts. 28, 2026</a:t>
            </a:r>
          </a:p>
          <a:p>
            <a:pPr>
              <a:spcAft>
                <a:spcPts val="800"/>
              </a:spcAft>
            </a:pPr>
            <a:r>
              <a:rPr lang="en-IN" sz="1400">
                <a:solidFill>
                  <a:srgbClr val="E2E8F0"/>
                </a:solidFill>
                <a:latin typeface="Calibri" panose="020F0502020204030204" pitchFamily="34" charset="0"/>
              </a:rPr>
              <a:t>Qaisar et al., IEEE TNSE 13, 2026</a:t>
            </a:r>
          </a:p>
        </p:txBody>
      </p:sp>
      <p:sp>
        <p:nvSpPr>
          <p:cNvPr id="7" name="TextBox 6">
            <a:extLst>
              <a:ext uri="{FF2B5EF4-FFF2-40B4-BE49-F238E27FC236}">
                <a16:creationId xmlns:a16="http://schemas.microsoft.com/office/drawing/2014/main" id="{C4A3EA81-8065-127E-3CAC-07AB9DE1DEF5}"/>
              </a:ext>
            </a:extLst>
          </p:cNvPr>
          <p:cNvSpPr txBox="1"/>
          <p:nvPr/>
        </p:nvSpPr>
        <p:spPr>
          <a:xfrm>
            <a:off x="609600" y="6451600"/>
            <a:ext cx="7620000" cy="203200"/>
          </a:xfrm>
          <a:prstGeom prst="rect">
            <a:avLst/>
          </a:prstGeom>
          <a:noFill/>
        </p:spPr>
        <p:txBody>
          <a:bodyPr vert="horz" wrap="square" lIns="0" tIns="0" rIns="0" bIns="0" rtlCol="0" anchor="t">
            <a:noAutofit/>
          </a:bodyPr>
          <a:lstStyle/>
          <a:p>
            <a:r>
              <a:rPr lang="en-IN" sz="1100">
                <a:solidFill>
                  <a:srgbClr val="9FB3C8"/>
                </a:solidFill>
                <a:latin typeface="Calibri" panose="020F0502020204030204" pitchFamily="34" charset="0"/>
              </a:rPr>
              <a:t>Project g16  |  M2 report  |  GNU Radio Companion contribution</a:t>
            </a:r>
          </a:p>
        </p:txBody>
      </p:sp>
      <p:sp>
        <p:nvSpPr>
          <p:cNvPr id="8" name="TextBox 7">
            <a:extLst>
              <a:ext uri="{FF2B5EF4-FFF2-40B4-BE49-F238E27FC236}">
                <a16:creationId xmlns:a16="http://schemas.microsoft.com/office/drawing/2014/main" id="{677105E2-C664-8C98-6247-270831DA308F}"/>
              </a:ext>
            </a:extLst>
          </p:cNvPr>
          <p:cNvSpPr txBox="1"/>
          <p:nvPr/>
        </p:nvSpPr>
        <p:spPr>
          <a:xfrm>
            <a:off x="10820400" y="6451600"/>
            <a:ext cx="762000" cy="203200"/>
          </a:xfrm>
          <a:prstGeom prst="rect">
            <a:avLst/>
          </a:prstGeom>
          <a:noFill/>
        </p:spPr>
        <p:txBody>
          <a:bodyPr vert="horz" wrap="square" lIns="0" tIns="0" rIns="0" bIns="0" rtlCol="0" anchor="t">
            <a:noAutofit/>
          </a:bodyPr>
          <a:lstStyle/>
          <a:p>
            <a:pPr algn="r"/>
            <a:r>
              <a:rPr lang="en-IN" sz="1100">
                <a:solidFill>
                  <a:srgbClr val="9FB3C8"/>
                </a:solidFill>
                <a:latin typeface="Calibri" panose="020F0502020204030204" pitchFamily="34" charset="0"/>
              </a:rPr>
              <a:t>17</a:t>
            </a:r>
          </a:p>
        </p:txBody>
      </p:sp>
    </p:spTree>
    <p:extLst>
      <p:ext uri="{BB962C8B-B14F-4D97-AF65-F5344CB8AC3E}">
        <p14:creationId xmlns:p14="http://schemas.microsoft.com/office/powerpoint/2010/main" val="10537978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3060</Words>
  <Application>Microsoft Office PowerPoint</Application>
  <PresentationFormat>Widescreen</PresentationFormat>
  <Paragraphs>419</Paragraphs>
  <Slides>17</Slides>
  <Notes>17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Aptos</vt:lpstr>
      <vt:lpstr>Aptos Display</vt:lpstr>
      <vt:lpstr>Arial</vt:lpstr>
      <vt:lpstr>Calibri</vt:lpstr>
      <vt:lpstr>Cambria</vt:lpstr>
      <vt:lpstr>Consolas</vt:lpstr>
      <vt:lpstr>Office Theme</vt:lpstr>
      <vt:lpstr>A required option for the GRC Parameter block</vt:lpstr>
      <vt:lpstr>Where M2 stands</vt:lpstr>
      <vt:lpstr>The problem: every parameter was optional</vt:lpstr>
      <vt:lpstr>How a GRC setting becomes a command-line rule</vt:lpstr>
      <vt:lpstr>Code 1: the block definition</vt:lpstr>
      <vt:lpstr>Code 2: the no-GUI template</vt:lpstr>
      <vt:lpstr>Files changed and what was tested</vt:lpstr>
      <vt:lpstr>Testing: a small flowgraph and five commands</vt:lpstr>
      <vt:lpstr>Generated code and parser behaviour</vt:lpstr>
      <vt:lpstr>Results: what passed and what did not run</vt:lpstr>
      <vt:lpstr>Older flowgraphs should still load</vt:lpstr>
      <vt:lpstr>From local branch to pull request</vt:lpstr>
      <vt:lpstr>What got in the way</vt:lpstr>
      <vt:lpstr>Why the change matters, and the response so far</vt:lpstr>
      <vt:lpstr>SOTA positioning: the ISAC gap is still open</vt:lpstr>
      <vt:lpstr>Next planned contributions</vt:lpstr>
      <vt:lpstr>Links and 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muchhalakshita@gmail.com</dc:creator>
  <cp:lastModifiedBy>muchhalakshita@gmail.com</cp:lastModifiedBy>
  <cp:revision>2</cp:revision>
  <dcterms:created xsi:type="dcterms:W3CDTF">2026-10-11T08:08:06Z</dcterms:created>
  <dcterms:modified xsi:type="dcterms:W3CDTF">2026-10-11T08:09:31Z</dcterms:modified>
</cp:coreProperties>
</file>